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9" r:id="rId4"/>
    <p:sldId id="260" r:id="rId5"/>
    <p:sldId id="261" r:id="rId6"/>
    <p:sldId id="262" r:id="rId7"/>
    <p:sldId id="263" r:id="rId8"/>
    <p:sldId id="266" r:id="rId9"/>
    <p:sldId id="270" r:id="rId10"/>
    <p:sldId id="268" r:id="rId11"/>
    <p:sldId id="265" r:id="rId12"/>
    <p:sldId id="267" r:id="rId13"/>
    <p:sldId id="264" r:id="rId14"/>
    <p:sldId id="274" r:id="rId15"/>
    <p:sldId id="272" r:id="rId16"/>
    <p:sldId id="271" r:id="rId17"/>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2" d="100"/>
          <a:sy n="62" d="100"/>
        </p:scale>
        <p:origin x="72" y="1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C:\Daymler\7.%20Miscell&#225;neos\20.Cepal\Prod\Datos\export_CHL_MEX_divisiones_mal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sgo-win19-fs-p3\Disco_DEPE\DAT\APPL\ESTADIST\Cuentas_Nacionales\BADECON_Encuestas%20Industriales\12%20Productividad%20laboral\productividad_manufactura.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glopez2\Downloads\sector.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glopez2\Downloads\export_CHL_MEX_divisione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glopez2\Downloads\export_CHL_MEX_divisione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Daymler\7.%20Miscell&#225;neos\20.Cepal\Prod\Datos\export_CHL_MEX_divisiones_mala.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Daymler\7.%20Miscell&#225;neos\20.Cepal\Prod\Datos\export_CHL_MEX_divisiones_mala.xlsx"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Prod!$A$13</c:f>
              <c:strCache>
                <c:ptCount val="1"/>
                <c:pt idx="0">
                  <c:v>Chile</c:v>
                </c:pt>
              </c:strCache>
            </c:strRef>
          </c:tx>
          <c:spPr>
            <a:ln w="50800" cap="rnd">
              <a:solidFill>
                <a:schemeClr val="accent1"/>
              </a:solidFill>
              <a:round/>
            </a:ln>
            <a:effectLst/>
          </c:spPr>
          <c:marker>
            <c:symbol val="none"/>
          </c:marker>
          <c:trendline>
            <c:spPr>
              <a:ln w="19050" cap="rnd">
                <a:solidFill>
                  <a:schemeClr val="accent1"/>
                </a:solidFill>
                <a:prstDash val="sysDot"/>
              </a:ln>
              <a:effectLst/>
            </c:spPr>
            <c:trendlineType val="linear"/>
            <c:dispRSqr val="0"/>
            <c:dispEq val="0"/>
          </c:trendline>
          <c:cat>
            <c:numRef>
              <c:f>Prod!$B$5:$I$5</c:f>
              <c:numCache>
                <c:formatCode>General</c:formatCode>
                <c:ptCount val="8"/>
                <c:pt idx="0">
                  <c:v>2016</c:v>
                </c:pt>
                <c:pt idx="1">
                  <c:v>2017</c:v>
                </c:pt>
                <c:pt idx="2">
                  <c:v>2018</c:v>
                </c:pt>
                <c:pt idx="3">
                  <c:v>2019</c:v>
                </c:pt>
                <c:pt idx="4">
                  <c:v>2020</c:v>
                </c:pt>
                <c:pt idx="5">
                  <c:v>2021</c:v>
                </c:pt>
                <c:pt idx="6">
                  <c:v>2022</c:v>
                </c:pt>
                <c:pt idx="7">
                  <c:v>2023</c:v>
                </c:pt>
              </c:numCache>
            </c:numRef>
          </c:cat>
          <c:val>
            <c:numRef>
              <c:f>Prod!$B$13:$I$13</c:f>
              <c:numCache>
                <c:formatCode>General</c:formatCode>
                <c:ptCount val="8"/>
                <c:pt idx="0">
                  <c:v>1.3474086174296749</c:v>
                </c:pt>
                <c:pt idx="1">
                  <c:v>1.1043431047729344</c:v>
                </c:pt>
                <c:pt idx="2">
                  <c:v>1</c:v>
                </c:pt>
                <c:pt idx="3">
                  <c:v>0.78192430085665909</c:v>
                </c:pt>
                <c:pt idx="4">
                  <c:v>0.37818527264005947</c:v>
                </c:pt>
                <c:pt idx="5">
                  <c:v>0.54388994943893543</c:v>
                </c:pt>
                <c:pt idx="6">
                  <c:v>0.57081510133193969</c:v>
                </c:pt>
              </c:numCache>
            </c:numRef>
          </c:val>
          <c:smooth val="1"/>
          <c:extLst>
            <c:ext xmlns:c16="http://schemas.microsoft.com/office/drawing/2014/chart" uri="{C3380CC4-5D6E-409C-BE32-E72D297353CC}">
              <c16:uniqueId val="{00000000-9E4C-47E7-A48A-5905ED75EE0E}"/>
            </c:ext>
          </c:extLst>
        </c:ser>
        <c:ser>
          <c:idx val="1"/>
          <c:order val="1"/>
          <c:tx>
            <c:strRef>
              <c:f>Prod!$A$14</c:f>
              <c:strCache>
                <c:ptCount val="1"/>
                <c:pt idx="0">
                  <c:v>México</c:v>
                </c:pt>
              </c:strCache>
            </c:strRef>
          </c:tx>
          <c:spPr>
            <a:ln w="50800" cap="rnd">
              <a:solidFill>
                <a:schemeClr val="accent2"/>
              </a:solidFill>
              <a:round/>
            </a:ln>
            <a:effectLst/>
          </c:spPr>
          <c:marker>
            <c:symbol val="none"/>
          </c:marker>
          <c:trendline>
            <c:spPr>
              <a:ln w="19050" cap="rnd">
                <a:solidFill>
                  <a:schemeClr val="accent2"/>
                </a:solidFill>
                <a:prstDash val="sysDot"/>
              </a:ln>
              <a:effectLst/>
            </c:spPr>
            <c:trendlineType val="linear"/>
            <c:dispRSqr val="0"/>
            <c:dispEq val="0"/>
          </c:trendline>
          <c:cat>
            <c:numRef>
              <c:f>Prod!$B$5:$I$5</c:f>
              <c:numCache>
                <c:formatCode>General</c:formatCode>
                <c:ptCount val="8"/>
                <c:pt idx="0">
                  <c:v>2016</c:v>
                </c:pt>
                <c:pt idx="1">
                  <c:v>2017</c:v>
                </c:pt>
                <c:pt idx="2">
                  <c:v>2018</c:v>
                </c:pt>
                <c:pt idx="3">
                  <c:v>2019</c:v>
                </c:pt>
                <c:pt idx="4">
                  <c:v>2020</c:v>
                </c:pt>
                <c:pt idx="5">
                  <c:v>2021</c:v>
                </c:pt>
                <c:pt idx="6">
                  <c:v>2022</c:v>
                </c:pt>
                <c:pt idx="7">
                  <c:v>2023</c:v>
                </c:pt>
              </c:numCache>
            </c:numRef>
          </c:cat>
          <c:val>
            <c:numRef>
              <c:f>Prod!$B$14:$I$14</c:f>
              <c:numCache>
                <c:formatCode>General</c:formatCode>
                <c:ptCount val="8"/>
                <c:pt idx="0">
                  <c:v>1.9276225131766049</c:v>
                </c:pt>
                <c:pt idx="1">
                  <c:v>1.7322597766914252</c:v>
                </c:pt>
                <c:pt idx="2">
                  <c:v>1</c:v>
                </c:pt>
                <c:pt idx="3">
                  <c:v>0.86002983596151217</c:v>
                </c:pt>
                <c:pt idx="4">
                  <c:v>0.8265170071501271</c:v>
                </c:pt>
                <c:pt idx="5">
                  <c:v>0.33376569009908713</c:v>
                </c:pt>
                <c:pt idx="6">
                  <c:v>0.47253762479549161</c:v>
                </c:pt>
                <c:pt idx="7">
                  <c:v>0.61396247180617436</c:v>
                </c:pt>
              </c:numCache>
            </c:numRef>
          </c:val>
          <c:smooth val="1"/>
          <c:extLst>
            <c:ext xmlns:c16="http://schemas.microsoft.com/office/drawing/2014/chart" uri="{C3380CC4-5D6E-409C-BE32-E72D297353CC}">
              <c16:uniqueId val="{00000001-9E4C-47E7-A48A-5905ED75EE0E}"/>
            </c:ext>
          </c:extLst>
        </c:ser>
        <c:dLbls>
          <c:showLegendKey val="0"/>
          <c:showVal val="0"/>
          <c:showCatName val="0"/>
          <c:showSerName val="0"/>
          <c:showPercent val="0"/>
          <c:showBubbleSize val="0"/>
        </c:dLbls>
        <c:smooth val="0"/>
        <c:axId val="1210976896"/>
        <c:axId val="1210975456"/>
      </c:lineChart>
      <c:catAx>
        <c:axId val="1210976896"/>
        <c:scaling>
          <c:orientation val="minMax"/>
        </c:scaling>
        <c:delete val="0"/>
        <c:axPos val="b"/>
        <c:numFmt formatCode="General" sourceLinked="1"/>
        <c:majorTickMark val="none"/>
        <c:minorTickMark val="none"/>
        <c:tickLblPos val="low"/>
        <c:spPr>
          <a:noFill/>
          <a:ln w="9525" cap="flat" cmpd="sng" algn="ctr">
            <a:noFill/>
            <a:round/>
          </a:ln>
          <a:effectLst/>
        </c:spPr>
        <c:txPr>
          <a:bodyPr rot="-5400000" spcFirstLastPara="1" vertOverflow="ellipsis"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crossAx val="1210975456"/>
        <c:crossesAt val="1"/>
        <c:auto val="1"/>
        <c:lblAlgn val="ctr"/>
        <c:lblOffset val="100"/>
        <c:noMultiLvlLbl val="0"/>
      </c:catAx>
      <c:valAx>
        <c:axId val="1210975456"/>
        <c:scaling>
          <c:orientation val="minMax"/>
        </c:scaling>
        <c:delete val="0"/>
        <c:axPos val="l"/>
        <c:majorGridlines>
          <c:spPr>
            <a:ln w="9525" cap="flat" cmpd="sng" algn="ctr">
              <a:no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crossAx val="12109768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100"/>
      </a:pPr>
      <a:endParaRPr lang="es-C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496364371390395"/>
          <c:y val="5.0057442633025966E-2"/>
          <c:w val="0.80656511581027535"/>
          <c:h val="0.69455563729313086"/>
        </c:manualLayout>
      </c:layout>
      <c:lineChart>
        <c:grouping val="standard"/>
        <c:varyColors val="0"/>
        <c:ser>
          <c:idx val="0"/>
          <c:order val="0"/>
          <c:tx>
            <c:strRef>
              <c:f>Prod!$B$14</c:f>
              <c:strCache>
                <c:ptCount val="1"/>
                <c:pt idx="0">
                  <c:v>Chile</c:v>
                </c:pt>
              </c:strCache>
            </c:strRef>
          </c:tx>
          <c:spPr>
            <a:ln w="50800" cap="rnd">
              <a:solidFill>
                <a:schemeClr val="accent1"/>
              </a:solidFill>
              <a:round/>
            </a:ln>
            <a:effectLst/>
          </c:spPr>
          <c:marker>
            <c:symbol val="none"/>
          </c:marker>
          <c:trendline>
            <c:spPr>
              <a:ln w="19050" cap="rnd">
                <a:solidFill>
                  <a:schemeClr val="accent1"/>
                </a:solidFill>
                <a:prstDash val="sysDot"/>
              </a:ln>
              <a:effectLst/>
            </c:spPr>
            <c:trendlineType val="linear"/>
            <c:dispRSqr val="0"/>
            <c:dispEq val="0"/>
          </c:trendline>
          <c:cat>
            <c:numRef>
              <c:f>Prod!$C$5:$K$5</c:f>
              <c:numCache>
                <c:formatCode>General</c:formatCode>
                <c:ptCount val="9"/>
                <c:pt idx="0">
                  <c:v>2015</c:v>
                </c:pt>
                <c:pt idx="1">
                  <c:v>2016</c:v>
                </c:pt>
                <c:pt idx="2">
                  <c:v>2017</c:v>
                </c:pt>
                <c:pt idx="3">
                  <c:v>2018</c:v>
                </c:pt>
                <c:pt idx="4">
                  <c:v>2019</c:v>
                </c:pt>
                <c:pt idx="5">
                  <c:v>2020</c:v>
                </c:pt>
                <c:pt idx="6">
                  <c:v>2021</c:v>
                </c:pt>
                <c:pt idx="7">
                  <c:v>2022</c:v>
                </c:pt>
                <c:pt idx="8">
                  <c:v>2023</c:v>
                </c:pt>
              </c:numCache>
            </c:numRef>
          </c:cat>
          <c:val>
            <c:numRef>
              <c:f>Prod!$C$14:$K$14</c:f>
              <c:numCache>
                <c:formatCode>0.00</c:formatCode>
                <c:ptCount val="9"/>
                <c:pt idx="0">
                  <c:v>0.75712752877891121</c:v>
                </c:pt>
                <c:pt idx="1">
                  <c:v>0.71107262866589682</c:v>
                </c:pt>
                <c:pt idx="2">
                  <c:v>0.9591510727600191</c:v>
                </c:pt>
                <c:pt idx="3">
                  <c:v>1</c:v>
                </c:pt>
                <c:pt idx="4">
                  <c:v>0.80061177241140324</c:v>
                </c:pt>
                <c:pt idx="5">
                  <c:v>0.72538839119176834</c:v>
                </c:pt>
                <c:pt idx="6">
                  <c:v>0.8622215547614156</c:v>
                </c:pt>
                <c:pt idx="7">
                  <c:v>0.52983043391934204</c:v>
                </c:pt>
              </c:numCache>
            </c:numRef>
          </c:val>
          <c:smooth val="1"/>
          <c:extLst>
            <c:ext xmlns:c16="http://schemas.microsoft.com/office/drawing/2014/chart" uri="{C3380CC4-5D6E-409C-BE32-E72D297353CC}">
              <c16:uniqueId val="{00000001-BC8F-4E4A-B947-CB856B0E606B}"/>
            </c:ext>
          </c:extLst>
        </c:ser>
        <c:ser>
          <c:idx val="1"/>
          <c:order val="1"/>
          <c:tx>
            <c:strRef>
              <c:f>Prod!$B$15</c:f>
              <c:strCache>
                <c:ptCount val="1"/>
                <c:pt idx="0">
                  <c:v>México</c:v>
                </c:pt>
              </c:strCache>
            </c:strRef>
          </c:tx>
          <c:spPr>
            <a:ln w="50800" cap="rnd">
              <a:solidFill>
                <a:schemeClr val="accent2"/>
              </a:solidFill>
              <a:round/>
            </a:ln>
            <a:effectLst/>
          </c:spPr>
          <c:marker>
            <c:symbol val="none"/>
          </c:marker>
          <c:trendline>
            <c:spPr>
              <a:ln w="19050" cap="rnd">
                <a:solidFill>
                  <a:schemeClr val="accent2"/>
                </a:solidFill>
                <a:prstDash val="sysDot"/>
              </a:ln>
              <a:effectLst/>
            </c:spPr>
            <c:trendlineType val="linear"/>
            <c:dispRSqr val="0"/>
            <c:dispEq val="0"/>
          </c:trendline>
          <c:cat>
            <c:numRef>
              <c:f>Prod!$C$5:$K$5</c:f>
              <c:numCache>
                <c:formatCode>General</c:formatCode>
                <c:ptCount val="9"/>
                <c:pt idx="0">
                  <c:v>2015</c:v>
                </c:pt>
                <c:pt idx="1">
                  <c:v>2016</c:v>
                </c:pt>
                <c:pt idx="2">
                  <c:v>2017</c:v>
                </c:pt>
                <c:pt idx="3">
                  <c:v>2018</c:v>
                </c:pt>
                <c:pt idx="4">
                  <c:v>2019</c:v>
                </c:pt>
                <c:pt idx="5">
                  <c:v>2020</c:v>
                </c:pt>
                <c:pt idx="6">
                  <c:v>2021</c:v>
                </c:pt>
                <c:pt idx="7">
                  <c:v>2022</c:v>
                </c:pt>
                <c:pt idx="8">
                  <c:v>2023</c:v>
                </c:pt>
              </c:numCache>
            </c:numRef>
          </c:cat>
          <c:val>
            <c:numRef>
              <c:f>Prod!$C$15:$K$15</c:f>
              <c:numCache>
                <c:formatCode>0.00</c:formatCode>
                <c:ptCount val="9"/>
                <c:pt idx="0">
                  <c:v>1.3675560613004007</c:v>
                </c:pt>
                <c:pt idx="1">
                  <c:v>1.4528280962490034</c:v>
                </c:pt>
                <c:pt idx="2">
                  <c:v>1.0684388246747247</c:v>
                </c:pt>
                <c:pt idx="3">
                  <c:v>1</c:v>
                </c:pt>
                <c:pt idx="4">
                  <c:v>0.98077826622875863</c:v>
                </c:pt>
                <c:pt idx="5">
                  <c:v>0.80987411748281968</c:v>
                </c:pt>
                <c:pt idx="6">
                  <c:v>0.87837202798904634</c:v>
                </c:pt>
                <c:pt idx="7">
                  <c:v>0.96712989036513697</c:v>
                </c:pt>
                <c:pt idx="8">
                  <c:v>1.0852957603641904</c:v>
                </c:pt>
              </c:numCache>
            </c:numRef>
          </c:val>
          <c:smooth val="1"/>
          <c:extLst>
            <c:ext xmlns:c16="http://schemas.microsoft.com/office/drawing/2014/chart" uri="{C3380CC4-5D6E-409C-BE32-E72D297353CC}">
              <c16:uniqueId val="{00000003-BC8F-4E4A-B947-CB856B0E606B}"/>
            </c:ext>
          </c:extLst>
        </c:ser>
        <c:dLbls>
          <c:showLegendKey val="0"/>
          <c:showVal val="0"/>
          <c:showCatName val="0"/>
          <c:showSerName val="0"/>
          <c:showPercent val="0"/>
          <c:showBubbleSize val="0"/>
        </c:dLbls>
        <c:smooth val="0"/>
        <c:axId val="1211026936"/>
        <c:axId val="1211019016"/>
      </c:lineChart>
      <c:catAx>
        <c:axId val="1211026936"/>
        <c:scaling>
          <c:orientation val="minMax"/>
        </c:scaling>
        <c:delete val="0"/>
        <c:axPos val="b"/>
        <c:numFmt formatCode="General" sourceLinked="1"/>
        <c:majorTickMark val="none"/>
        <c:minorTickMark val="none"/>
        <c:tickLblPos val="low"/>
        <c:spPr>
          <a:noFill/>
          <a:ln w="9525" cap="flat" cmpd="sng" algn="ctr">
            <a:noFill/>
            <a:round/>
          </a:ln>
          <a:effectLst/>
        </c:spPr>
        <c:txPr>
          <a:bodyPr rot="-5400000" spcFirstLastPara="1" vertOverflow="ellipsis"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crossAx val="1211019016"/>
        <c:crossesAt val="1"/>
        <c:auto val="1"/>
        <c:lblAlgn val="ctr"/>
        <c:lblOffset val="100"/>
        <c:noMultiLvlLbl val="0"/>
      </c:catAx>
      <c:valAx>
        <c:axId val="1211019016"/>
        <c:scaling>
          <c:orientation val="minMax"/>
          <c:max val="2.5"/>
        </c:scaling>
        <c:delete val="0"/>
        <c:axPos val="l"/>
        <c:majorGridlines>
          <c:spPr>
            <a:ln w="9525" cap="flat" cmpd="sng" algn="ctr">
              <a:no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crossAx val="12110269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100"/>
      </a:pPr>
      <a:endParaRPr lang="es-C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VA!$A$11</c:f>
              <c:strCache>
                <c:ptCount val="1"/>
                <c:pt idx="0">
                  <c:v>Chile</c:v>
                </c:pt>
              </c:strCache>
            </c:strRef>
          </c:tx>
          <c:spPr>
            <a:ln w="50800" cap="rnd">
              <a:solidFill>
                <a:schemeClr val="accent1"/>
              </a:solidFill>
              <a:round/>
            </a:ln>
            <a:effectLst/>
          </c:spPr>
          <c:marker>
            <c:symbol val="none"/>
          </c:marker>
          <c:trendline>
            <c:spPr>
              <a:ln w="19050" cap="rnd">
                <a:solidFill>
                  <a:schemeClr val="accent1"/>
                </a:solidFill>
                <a:prstDash val="sysDot"/>
              </a:ln>
              <a:effectLst/>
            </c:spPr>
            <c:trendlineType val="linear"/>
            <c:dispRSqr val="0"/>
            <c:dispEq val="0"/>
          </c:trendline>
          <c:cat>
            <c:numRef>
              <c:f>VA!$B$4:$I$4</c:f>
              <c:numCache>
                <c:formatCode>General</c:formatCode>
                <c:ptCount val="8"/>
                <c:pt idx="0">
                  <c:v>2016</c:v>
                </c:pt>
                <c:pt idx="1">
                  <c:v>2017</c:v>
                </c:pt>
                <c:pt idx="2">
                  <c:v>2018</c:v>
                </c:pt>
                <c:pt idx="3">
                  <c:v>2019</c:v>
                </c:pt>
                <c:pt idx="4">
                  <c:v>2020</c:v>
                </c:pt>
                <c:pt idx="5">
                  <c:v>2021</c:v>
                </c:pt>
                <c:pt idx="6">
                  <c:v>2022</c:v>
                </c:pt>
                <c:pt idx="7">
                  <c:v>2023</c:v>
                </c:pt>
              </c:numCache>
            </c:numRef>
          </c:cat>
          <c:val>
            <c:numRef>
              <c:f>VA!$B$11:$I$11</c:f>
              <c:numCache>
                <c:formatCode>General</c:formatCode>
                <c:ptCount val="8"/>
                <c:pt idx="0">
                  <c:v>1.0025244798362676</c:v>
                </c:pt>
                <c:pt idx="1">
                  <c:v>1.1182319698725618</c:v>
                </c:pt>
                <c:pt idx="2">
                  <c:v>1</c:v>
                </c:pt>
                <c:pt idx="3">
                  <c:v>1.1399169360370387</c:v>
                </c:pt>
                <c:pt idx="4">
                  <c:v>1.0152639525128258</c:v>
                </c:pt>
                <c:pt idx="5">
                  <c:v>0.85977158781751728</c:v>
                </c:pt>
                <c:pt idx="6">
                  <c:v>0.66608325907146693</c:v>
                </c:pt>
              </c:numCache>
            </c:numRef>
          </c:val>
          <c:smooth val="1"/>
          <c:extLst>
            <c:ext xmlns:c16="http://schemas.microsoft.com/office/drawing/2014/chart" uri="{C3380CC4-5D6E-409C-BE32-E72D297353CC}">
              <c16:uniqueId val="{00000001-DDB9-401A-B538-CBD1B0EA8824}"/>
            </c:ext>
          </c:extLst>
        </c:ser>
        <c:ser>
          <c:idx val="1"/>
          <c:order val="1"/>
          <c:tx>
            <c:strRef>
              <c:f>VA!$A$12</c:f>
              <c:strCache>
                <c:ptCount val="1"/>
                <c:pt idx="0">
                  <c:v>México</c:v>
                </c:pt>
              </c:strCache>
            </c:strRef>
          </c:tx>
          <c:spPr>
            <a:ln w="50800" cap="rnd">
              <a:solidFill>
                <a:schemeClr val="accent2"/>
              </a:solidFill>
              <a:round/>
            </a:ln>
            <a:effectLst/>
          </c:spPr>
          <c:marker>
            <c:symbol val="none"/>
          </c:marker>
          <c:trendline>
            <c:spPr>
              <a:ln w="19050" cap="rnd">
                <a:solidFill>
                  <a:schemeClr val="accent2"/>
                </a:solidFill>
                <a:prstDash val="sysDot"/>
              </a:ln>
              <a:effectLst/>
            </c:spPr>
            <c:trendlineType val="linear"/>
            <c:dispRSqr val="0"/>
            <c:dispEq val="0"/>
          </c:trendline>
          <c:cat>
            <c:numRef>
              <c:f>VA!$B$4:$I$4</c:f>
              <c:numCache>
                <c:formatCode>General</c:formatCode>
                <c:ptCount val="8"/>
                <c:pt idx="0">
                  <c:v>2016</c:v>
                </c:pt>
                <c:pt idx="1">
                  <c:v>2017</c:v>
                </c:pt>
                <c:pt idx="2">
                  <c:v>2018</c:v>
                </c:pt>
                <c:pt idx="3">
                  <c:v>2019</c:v>
                </c:pt>
                <c:pt idx="4">
                  <c:v>2020</c:v>
                </c:pt>
                <c:pt idx="5">
                  <c:v>2021</c:v>
                </c:pt>
                <c:pt idx="6">
                  <c:v>2022</c:v>
                </c:pt>
                <c:pt idx="7">
                  <c:v>2023</c:v>
                </c:pt>
              </c:numCache>
            </c:numRef>
          </c:cat>
          <c:val>
            <c:numRef>
              <c:f>VA!$B$12:$I$12</c:f>
              <c:numCache>
                <c:formatCode>General</c:formatCode>
                <c:ptCount val="8"/>
                <c:pt idx="0">
                  <c:v>0.59494723666971716</c:v>
                </c:pt>
                <c:pt idx="1">
                  <c:v>0.601606023119444</c:v>
                </c:pt>
                <c:pt idx="2">
                  <c:v>1</c:v>
                </c:pt>
                <c:pt idx="3">
                  <c:v>0.99789681048239609</c:v>
                </c:pt>
                <c:pt idx="4">
                  <c:v>0.85320762283057994</c:v>
                </c:pt>
                <c:pt idx="5">
                  <c:v>1.0771546584854566</c:v>
                </c:pt>
                <c:pt idx="6">
                  <c:v>1.1624264799350381</c:v>
                </c:pt>
                <c:pt idx="7">
                  <c:v>1.4767708291839339</c:v>
                </c:pt>
              </c:numCache>
            </c:numRef>
          </c:val>
          <c:smooth val="1"/>
          <c:extLst>
            <c:ext xmlns:c16="http://schemas.microsoft.com/office/drawing/2014/chart" uri="{C3380CC4-5D6E-409C-BE32-E72D297353CC}">
              <c16:uniqueId val="{00000003-DDB9-401A-B538-CBD1B0EA8824}"/>
            </c:ext>
          </c:extLst>
        </c:ser>
        <c:dLbls>
          <c:showLegendKey val="0"/>
          <c:showVal val="0"/>
          <c:showCatName val="0"/>
          <c:showSerName val="0"/>
          <c:showPercent val="0"/>
          <c:showBubbleSize val="0"/>
        </c:dLbls>
        <c:smooth val="0"/>
        <c:axId val="1210986976"/>
        <c:axId val="1210987696"/>
      </c:lineChart>
      <c:catAx>
        <c:axId val="1210986976"/>
        <c:scaling>
          <c:orientation val="minMax"/>
        </c:scaling>
        <c:delete val="0"/>
        <c:axPos val="b"/>
        <c:numFmt formatCode="General" sourceLinked="1"/>
        <c:majorTickMark val="none"/>
        <c:minorTickMark val="none"/>
        <c:tickLblPos val="low"/>
        <c:spPr>
          <a:noFill/>
          <a:ln w="9525" cap="flat" cmpd="sng" algn="ctr">
            <a:noFill/>
            <a:round/>
          </a:ln>
          <a:effectLst/>
        </c:spPr>
        <c:txPr>
          <a:bodyPr rot="-5400000" spcFirstLastPara="1" vertOverflow="ellipsis"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crossAx val="1210987696"/>
        <c:crossesAt val="1"/>
        <c:auto val="1"/>
        <c:lblAlgn val="ctr"/>
        <c:lblOffset val="100"/>
        <c:noMultiLvlLbl val="0"/>
      </c:catAx>
      <c:valAx>
        <c:axId val="1210987696"/>
        <c:scaling>
          <c:orientation val="minMax"/>
          <c:max val="2.5"/>
        </c:scaling>
        <c:delete val="0"/>
        <c:axPos val="l"/>
        <c:majorGridlines>
          <c:spPr>
            <a:ln w="9525" cap="flat" cmpd="sng" algn="ctr">
              <a:no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crossAx val="12109869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100"/>
      </a:pPr>
      <a:endParaRPr lang="es-C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Prod!$A$13</c:f>
              <c:strCache>
                <c:ptCount val="1"/>
                <c:pt idx="0">
                  <c:v>Chile</c:v>
                </c:pt>
              </c:strCache>
            </c:strRef>
          </c:tx>
          <c:spPr>
            <a:ln w="50800" cap="rnd">
              <a:solidFill>
                <a:schemeClr val="accent1"/>
              </a:solidFill>
              <a:round/>
            </a:ln>
            <a:effectLst/>
          </c:spPr>
          <c:marker>
            <c:symbol val="none"/>
          </c:marker>
          <c:trendline>
            <c:spPr>
              <a:ln w="19050" cap="rnd">
                <a:solidFill>
                  <a:schemeClr val="accent1"/>
                </a:solidFill>
                <a:prstDash val="sysDot"/>
              </a:ln>
              <a:effectLst/>
            </c:spPr>
            <c:trendlineType val="linear"/>
            <c:dispRSqr val="0"/>
            <c:dispEq val="0"/>
          </c:trendline>
          <c:cat>
            <c:numRef>
              <c:f>Prod!$B$5:$I$5</c:f>
              <c:numCache>
                <c:formatCode>General</c:formatCode>
                <c:ptCount val="8"/>
                <c:pt idx="0">
                  <c:v>2016</c:v>
                </c:pt>
                <c:pt idx="1">
                  <c:v>2017</c:v>
                </c:pt>
                <c:pt idx="2">
                  <c:v>2018</c:v>
                </c:pt>
                <c:pt idx="3">
                  <c:v>2019</c:v>
                </c:pt>
                <c:pt idx="4">
                  <c:v>2020</c:v>
                </c:pt>
                <c:pt idx="5">
                  <c:v>2021</c:v>
                </c:pt>
                <c:pt idx="6">
                  <c:v>2022</c:v>
                </c:pt>
                <c:pt idx="7">
                  <c:v>2023</c:v>
                </c:pt>
              </c:numCache>
            </c:numRef>
          </c:cat>
          <c:val>
            <c:numRef>
              <c:f>Prod!$B$13:$I$13</c:f>
              <c:numCache>
                <c:formatCode>General</c:formatCode>
                <c:ptCount val="8"/>
                <c:pt idx="0">
                  <c:v>1.3662080174692359</c:v>
                </c:pt>
                <c:pt idx="1">
                  <c:v>1.1102074045663797</c:v>
                </c:pt>
                <c:pt idx="2">
                  <c:v>1</c:v>
                </c:pt>
                <c:pt idx="3">
                  <c:v>1.0173827833485964</c:v>
                </c:pt>
                <c:pt idx="4">
                  <c:v>0.92183044943826675</c:v>
                </c:pt>
                <c:pt idx="5">
                  <c:v>1.2844370939918519</c:v>
                </c:pt>
                <c:pt idx="6">
                  <c:v>1.2056620498670469</c:v>
                </c:pt>
              </c:numCache>
            </c:numRef>
          </c:val>
          <c:smooth val="1"/>
          <c:extLst>
            <c:ext xmlns:c16="http://schemas.microsoft.com/office/drawing/2014/chart" uri="{C3380CC4-5D6E-409C-BE32-E72D297353CC}">
              <c16:uniqueId val="{00000001-8C62-4076-9356-01C69EE9BDEF}"/>
            </c:ext>
          </c:extLst>
        </c:ser>
        <c:ser>
          <c:idx val="1"/>
          <c:order val="1"/>
          <c:tx>
            <c:strRef>
              <c:f>Prod!$A$14</c:f>
              <c:strCache>
                <c:ptCount val="1"/>
                <c:pt idx="0">
                  <c:v>México</c:v>
                </c:pt>
              </c:strCache>
            </c:strRef>
          </c:tx>
          <c:spPr>
            <a:ln w="50800" cap="rnd">
              <a:solidFill>
                <a:schemeClr val="accent2"/>
              </a:solidFill>
              <a:round/>
            </a:ln>
            <a:effectLst/>
          </c:spPr>
          <c:marker>
            <c:symbol val="none"/>
          </c:marker>
          <c:trendline>
            <c:spPr>
              <a:ln w="19050" cap="rnd">
                <a:solidFill>
                  <a:schemeClr val="accent2"/>
                </a:solidFill>
                <a:prstDash val="sysDot"/>
              </a:ln>
              <a:effectLst/>
            </c:spPr>
            <c:trendlineType val="linear"/>
            <c:dispRSqr val="0"/>
            <c:dispEq val="0"/>
          </c:trendline>
          <c:cat>
            <c:numRef>
              <c:f>Prod!$B$5:$I$5</c:f>
              <c:numCache>
                <c:formatCode>General</c:formatCode>
                <c:ptCount val="8"/>
                <c:pt idx="0">
                  <c:v>2016</c:v>
                </c:pt>
                <c:pt idx="1">
                  <c:v>2017</c:v>
                </c:pt>
                <c:pt idx="2">
                  <c:v>2018</c:v>
                </c:pt>
                <c:pt idx="3">
                  <c:v>2019</c:v>
                </c:pt>
                <c:pt idx="4">
                  <c:v>2020</c:v>
                </c:pt>
                <c:pt idx="5">
                  <c:v>2021</c:v>
                </c:pt>
                <c:pt idx="6">
                  <c:v>2022</c:v>
                </c:pt>
                <c:pt idx="7">
                  <c:v>2023</c:v>
                </c:pt>
              </c:numCache>
            </c:numRef>
          </c:cat>
          <c:val>
            <c:numRef>
              <c:f>Prod!$B$14:$I$14</c:f>
              <c:numCache>
                <c:formatCode>General</c:formatCode>
                <c:ptCount val="8"/>
                <c:pt idx="0">
                  <c:v>0.57698042805307848</c:v>
                </c:pt>
                <c:pt idx="1">
                  <c:v>0.51547415522488471</c:v>
                </c:pt>
                <c:pt idx="2">
                  <c:v>1</c:v>
                </c:pt>
                <c:pt idx="3">
                  <c:v>0.99734707703627712</c:v>
                </c:pt>
                <c:pt idx="4">
                  <c:v>0.85469701466263892</c:v>
                </c:pt>
                <c:pt idx="5">
                  <c:v>1.2142031489051113</c:v>
                </c:pt>
                <c:pt idx="6">
                  <c:v>1.2381712235143383</c:v>
                </c:pt>
                <c:pt idx="7">
                  <c:v>1.5154349451715654</c:v>
                </c:pt>
              </c:numCache>
            </c:numRef>
          </c:val>
          <c:smooth val="1"/>
          <c:extLst>
            <c:ext xmlns:c16="http://schemas.microsoft.com/office/drawing/2014/chart" uri="{C3380CC4-5D6E-409C-BE32-E72D297353CC}">
              <c16:uniqueId val="{00000003-8C62-4076-9356-01C69EE9BDEF}"/>
            </c:ext>
          </c:extLst>
        </c:ser>
        <c:dLbls>
          <c:showLegendKey val="0"/>
          <c:showVal val="0"/>
          <c:showCatName val="0"/>
          <c:showSerName val="0"/>
          <c:showPercent val="0"/>
          <c:showBubbleSize val="0"/>
        </c:dLbls>
        <c:smooth val="0"/>
        <c:axId val="1210976896"/>
        <c:axId val="1210975456"/>
      </c:lineChart>
      <c:catAx>
        <c:axId val="1210976896"/>
        <c:scaling>
          <c:orientation val="minMax"/>
        </c:scaling>
        <c:delete val="0"/>
        <c:axPos val="b"/>
        <c:numFmt formatCode="General" sourceLinked="1"/>
        <c:majorTickMark val="none"/>
        <c:minorTickMark val="none"/>
        <c:tickLblPos val="low"/>
        <c:spPr>
          <a:noFill/>
          <a:ln w="9525" cap="flat" cmpd="sng" algn="ctr">
            <a:no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crossAx val="1210975456"/>
        <c:crossesAt val="1"/>
        <c:auto val="1"/>
        <c:lblAlgn val="ctr"/>
        <c:lblOffset val="100"/>
        <c:noMultiLvlLbl val="0"/>
      </c:catAx>
      <c:valAx>
        <c:axId val="1210975456"/>
        <c:scaling>
          <c:orientation val="minMax"/>
        </c:scaling>
        <c:delete val="0"/>
        <c:axPos val="l"/>
        <c:majorGridlines>
          <c:spPr>
            <a:ln w="9525" cap="flat" cmpd="sng" algn="ctr">
              <a:no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crossAx val="12109768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100"/>
      </a:pPr>
      <a:endParaRPr lang="es-C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rem_emp!$B$9</c:f>
              <c:strCache>
                <c:ptCount val="1"/>
                <c:pt idx="0">
                  <c:v>Chile</c:v>
                </c:pt>
              </c:strCache>
            </c:strRef>
          </c:tx>
          <c:spPr>
            <a:ln w="57150" cap="rnd">
              <a:solidFill>
                <a:schemeClr val="accent1"/>
              </a:solidFill>
              <a:round/>
            </a:ln>
            <a:effectLst/>
          </c:spPr>
          <c:marker>
            <c:symbol val="none"/>
          </c:marker>
          <c:cat>
            <c:numRef>
              <c:f>rem_emp!$B$4:$I$4</c:f>
              <c:numCache>
                <c:formatCode>General</c:formatCode>
                <c:ptCount val="8"/>
                <c:pt idx="0">
                  <c:v>2016</c:v>
                </c:pt>
                <c:pt idx="1">
                  <c:v>2017</c:v>
                </c:pt>
                <c:pt idx="2">
                  <c:v>2018</c:v>
                </c:pt>
                <c:pt idx="3">
                  <c:v>2019</c:v>
                </c:pt>
                <c:pt idx="4">
                  <c:v>2020</c:v>
                </c:pt>
                <c:pt idx="5">
                  <c:v>2021</c:v>
                </c:pt>
                <c:pt idx="6">
                  <c:v>2022</c:v>
                </c:pt>
                <c:pt idx="7">
                  <c:v>2023</c:v>
                </c:pt>
              </c:numCache>
            </c:numRef>
          </c:cat>
          <c:val>
            <c:numRef>
              <c:f>rem_emp!$B$15:$I$15</c:f>
              <c:numCache>
                <c:formatCode>General</c:formatCode>
                <c:ptCount val="8"/>
                <c:pt idx="0">
                  <c:v>1.1450032434256212</c:v>
                </c:pt>
                <c:pt idx="1">
                  <c:v>1.0070243451833711</c:v>
                </c:pt>
                <c:pt idx="2">
                  <c:v>1</c:v>
                </c:pt>
                <c:pt idx="3">
                  <c:v>1.0600566519582681</c:v>
                </c:pt>
                <c:pt idx="4">
                  <c:v>0.93197767395677122</c:v>
                </c:pt>
                <c:pt idx="5">
                  <c:v>1.0553490269433838</c:v>
                </c:pt>
                <c:pt idx="6">
                  <c:v>1.0517980290498032</c:v>
                </c:pt>
              </c:numCache>
            </c:numRef>
          </c:val>
          <c:smooth val="1"/>
          <c:extLst>
            <c:ext xmlns:c16="http://schemas.microsoft.com/office/drawing/2014/chart" uri="{C3380CC4-5D6E-409C-BE32-E72D297353CC}">
              <c16:uniqueId val="{00000000-1073-4761-85F6-BF7831CCFD4F}"/>
            </c:ext>
          </c:extLst>
        </c:ser>
        <c:ser>
          <c:idx val="1"/>
          <c:order val="1"/>
          <c:tx>
            <c:strRef>
              <c:f>rem_emp!$B$10</c:f>
              <c:strCache>
                <c:ptCount val="1"/>
                <c:pt idx="0">
                  <c:v>México</c:v>
                </c:pt>
              </c:strCache>
            </c:strRef>
          </c:tx>
          <c:spPr>
            <a:ln w="57150" cap="rnd">
              <a:solidFill>
                <a:schemeClr val="accent2"/>
              </a:solidFill>
              <a:round/>
            </a:ln>
            <a:effectLst/>
          </c:spPr>
          <c:marker>
            <c:symbol val="none"/>
          </c:marker>
          <c:cat>
            <c:numRef>
              <c:f>rem_emp!$B$4:$I$4</c:f>
              <c:numCache>
                <c:formatCode>General</c:formatCode>
                <c:ptCount val="8"/>
                <c:pt idx="0">
                  <c:v>2016</c:v>
                </c:pt>
                <c:pt idx="1">
                  <c:v>2017</c:v>
                </c:pt>
                <c:pt idx="2">
                  <c:v>2018</c:v>
                </c:pt>
                <c:pt idx="3">
                  <c:v>2019</c:v>
                </c:pt>
                <c:pt idx="4">
                  <c:v>2020</c:v>
                </c:pt>
                <c:pt idx="5">
                  <c:v>2021</c:v>
                </c:pt>
                <c:pt idx="6">
                  <c:v>2022</c:v>
                </c:pt>
                <c:pt idx="7">
                  <c:v>2023</c:v>
                </c:pt>
              </c:numCache>
            </c:numRef>
          </c:cat>
          <c:val>
            <c:numRef>
              <c:f>rem_emp!$B$16:$I$16</c:f>
              <c:numCache>
                <c:formatCode>General</c:formatCode>
                <c:ptCount val="8"/>
                <c:pt idx="0">
                  <c:v>0.56312134795690238</c:v>
                </c:pt>
                <c:pt idx="1">
                  <c:v>0.56855019440957921</c:v>
                </c:pt>
                <c:pt idx="2">
                  <c:v>1</c:v>
                </c:pt>
                <c:pt idx="3">
                  <c:v>1.0232112609965338</c:v>
                </c:pt>
                <c:pt idx="4">
                  <c:v>0.90236260468425367</c:v>
                </c:pt>
                <c:pt idx="5">
                  <c:v>1.2080184946863499</c:v>
                </c:pt>
                <c:pt idx="6">
                  <c:v>1.4796424382926121</c:v>
                </c:pt>
                <c:pt idx="7">
                  <c:v>2.1076299987253941</c:v>
                </c:pt>
              </c:numCache>
            </c:numRef>
          </c:val>
          <c:smooth val="1"/>
          <c:extLst>
            <c:ext xmlns:c16="http://schemas.microsoft.com/office/drawing/2014/chart" uri="{C3380CC4-5D6E-409C-BE32-E72D297353CC}">
              <c16:uniqueId val="{00000001-1073-4761-85F6-BF7831CCFD4F}"/>
            </c:ext>
          </c:extLst>
        </c:ser>
        <c:dLbls>
          <c:showLegendKey val="0"/>
          <c:showVal val="0"/>
          <c:showCatName val="0"/>
          <c:showSerName val="0"/>
          <c:showPercent val="0"/>
          <c:showBubbleSize val="0"/>
        </c:dLbls>
        <c:smooth val="0"/>
        <c:axId val="1375657135"/>
        <c:axId val="1375709935"/>
      </c:lineChart>
      <c:catAx>
        <c:axId val="1375657135"/>
        <c:scaling>
          <c:orientation val="minMax"/>
        </c:scaling>
        <c:delete val="0"/>
        <c:axPos val="b"/>
        <c:numFmt formatCode="General" sourceLinked="1"/>
        <c:majorTickMark val="none"/>
        <c:minorTickMark val="none"/>
        <c:tickLblPos val="low"/>
        <c:spPr>
          <a:noFill/>
          <a:ln w="9525" cap="flat" cmpd="sng" algn="ctr">
            <a:no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crossAx val="1375709935"/>
        <c:crossesAt val="1"/>
        <c:auto val="1"/>
        <c:lblAlgn val="ctr"/>
        <c:lblOffset val="100"/>
        <c:noMultiLvlLbl val="0"/>
      </c:catAx>
      <c:valAx>
        <c:axId val="1375709935"/>
        <c:scaling>
          <c:orientation val="minMax"/>
        </c:scaling>
        <c:delete val="0"/>
        <c:axPos val="l"/>
        <c:majorGridlines>
          <c:spPr>
            <a:ln w="9525" cap="flat" cmpd="sng" algn="ctr">
              <a:noFill/>
              <a:round/>
            </a:ln>
            <a:effectLst/>
          </c:spPr>
        </c:majorGridlines>
        <c:numFmt formatCode="#,##0.0" sourceLinked="0"/>
        <c:majorTickMark val="none"/>
        <c:minorTickMark val="none"/>
        <c:tickLblPos val="low"/>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crossAx val="137565713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100"/>
      </a:pPr>
      <a:endParaRPr lang="es-CL"/>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Prod!$A$13</c:f>
              <c:strCache>
                <c:ptCount val="1"/>
                <c:pt idx="0">
                  <c:v>Chile</c:v>
                </c:pt>
              </c:strCache>
            </c:strRef>
          </c:tx>
          <c:spPr>
            <a:ln w="50800" cap="rnd">
              <a:solidFill>
                <a:schemeClr val="accent1"/>
              </a:solidFill>
              <a:round/>
            </a:ln>
            <a:effectLst/>
          </c:spPr>
          <c:marker>
            <c:symbol val="none"/>
          </c:marker>
          <c:trendline>
            <c:spPr>
              <a:ln w="19050" cap="rnd">
                <a:solidFill>
                  <a:schemeClr val="accent1"/>
                </a:solidFill>
                <a:prstDash val="sysDot"/>
              </a:ln>
              <a:effectLst/>
            </c:spPr>
            <c:trendlineType val="linear"/>
            <c:dispRSqr val="0"/>
            <c:dispEq val="0"/>
          </c:trendline>
          <c:cat>
            <c:numRef>
              <c:f>Prod!$B$5:$I$5</c:f>
              <c:numCache>
                <c:formatCode>General</c:formatCode>
                <c:ptCount val="8"/>
                <c:pt idx="0">
                  <c:v>2016</c:v>
                </c:pt>
                <c:pt idx="1">
                  <c:v>2017</c:v>
                </c:pt>
                <c:pt idx="2">
                  <c:v>2018</c:v>
                </c:pt>
                <c:pt idx="3">
                  <c:v>2019</c:v>
                </c:pt>
                <c:pt idx="4">
                  <c:v>2020</c:v>
                </c:pt>
                <c:pt idx="5">
                  <c:v>2021</c:v>
                </c:pt>
                <c:pt idx="6">
                  <c:v>2022</c:v>
                </c:pt>
                <c:pt idx="7">
                  <c:v>2023</c:v>
                </c:pt>
              </c:numCache>
            </c:numRef>
          </c:cat>
          <c:val>
            <c:numRef>
              <c:f>Prod!$B$13:$I$13</c:f>
              <c:numCache>
                <c:formatCode>General</c:formatCode>
                <c:ptCount val="8"/>
                <c:pt idx="0">
                  <c:v>1.3474086174296749</c:v>
                </c:pt>
                <c:pt idx="1">
                  <c:v>1.1043431047729344</c:v>
                </c:pt>
                <c:pt idx="2">
                  <c:v>1</c:v>
                </c:pt>
                <c:pt idx="3">
                  <c:v>0.78192430085665909</c:v>
                </c:pt>
                <c:pt idx="4">
                  <c:v>0.37818527264005947</c:v>
                </c:pt>
                <c:pt idx="5">
                  <c:v>0.54388994943893543</c:v>
                </c:pt>
                <c:pt idx="6">
                  <c:v>0.57081510133193969</c:v>
                </c:pt>
              </c:numCache>
            </c:numRef>
          </c:val>
          <c:smooth val="1"/>
          <c:extLst>
            <c:ext xmlns:c16="http://schemas.microsoft.com/office/drawing/2014/chart" uri="{C3380CC4-5D6E-409C-BE32-E72D297353CC}">
              <c16:uniqueId val="{00000001-DE5D-4598-8953-03BF7A5B19EC}"/>
            </c:ext>
          </c:extLst>
        </c:ser>
        <c:ser>
          <c:idx val="1"/>
          <c:order val="1"/>
          <c:tx>
            <c:strRef>
              <c:f>Prod!$A$14</c:f>
              <c:strCache>
                <c:ptCount val="1"/>
                <c:pt idx="0">
                  <c:v>México</c:v>
                </c:pt>
              </c:strCache>
            </c:strRef>
          </c:tx>
          <c:spPr>
            <a:ln w="50800" cap="rnd">
              <a:solidFill>
                <a:schemeClr val="accent2"/>
              </a:solidFill>
              <a:round/>
            </a:ln>
            <a:effectLst/>
          </c:spPr>
          <c:marker>
            <c:symbol val="none"/>
          </c:marker>
          <c:trendline>
            <c:spPr>
              <a:ln w="19050" cap="rnd">
                <a:solidFill>
                  <a:schemeClr val="accent2"/>
                </a:solidFill>
                <a:prstDash val="sysDot"/>
              </a:ln>
              <a:effectLst/>
            </c:spPr>
            <c:trendlineType val="linear"/>
            <c:dispRSqr val="0"/>
            <c:dispEq val="0"/>
          </c:trendline>
          <c:cat>
            <c:numRef>
              <c:f>Prod!$B$5:$I$5</c:f>
              <c:numCache>
                <c:formatCode>General</c:formatCode>
                <c:ptCount val="8"/>
                <c:pt idx="0">
                  <c:v>2016</c:v>
                </c:pt>
                <c:pt idx="1">
                  <c:v>2017</c:v>
                </c:pt>
                <c:pt idx="2">
                  <c:v>2018</c:v>
                </c:pt>
                <c:pt idx="3">
                  <c:v>2019</c:v>
                </c:pt>
                <c:pt idx="4">
                  <c:v>2020</c:v>
                </c:pt>
                <c:pt idx="5">
                  <c:v>2021</c:v>
                </c:pt>
                <c:pt idx="6">
                  <c:v>2022</c:v>
                </c:pt>
                <c:pt idx="7">
                  <c:v>2023</c:v>
                </c:pt>
              </c:numCache>
            </c:numRef>
          </c:cat>
          <c:val>
            <c:numRef>
              <c:f>Prod!$B$14:$I$14</c:f>
              <c:numCache>
                <c:formatCode>General</c:formatCode>
                <c:ptCount val="8"/>
                <c:pt idx="0">
                  <c:v>1.9276225131766049</c:v>
                </c:pt>
                <c:pt idx="1">
                  <c:v>1.7322597766914252</c:v>
                </c:pt>
                <c:pt idx="2">
                  <c:v>1</c:v>
                </c:pt>
                <c:pt idx="3">
                  <c:v>0.86002983596151217</c:v>
                </c:pt>
                <c:pt idx="4">
                  <c:v>0.8265170071501271</c:v>
                </c:pt>
                <c:pt idx="5">
                  <c:v>0.33376569009908713</c:v>
                </c:pt>
                <c:pt idx="6">
                  <c:v>0.47253762479549161</c:v>
                </c:pt>
                <c:pt idx="7">
                  <c:v>0.61396247180617436</c:v>
                </c:pt>
              </c:numCache>
            </c:numRef>
          </c:val>
          <c:smooth val="1"/>
          <c:extLst>
            <c:ext xmlns:c16="http://schemas.microsoft.com/office/drawing/2014/chart" uri="{C3380CC4-5D6E-409C-BE32-E72D297353CC}">
              <c16:uniqueId val="{00000003-DE5D-4598-8953-03BF7A5B19EC}"/>
            </c:ext>
          </c:extLst>
        </c:ser>
        <c:dLbls>
          <c:showLegendKey val="0"/>
          <c:showVal val="0"/>
          <c:showCatName val="0"/>
          <c:showSerName val="0"/>
          <c:showPercent val="0"/>
          <c:showBubbleSize val="0"/>
        </c:dLbls>
        <c:smooth val="0"/>
        <c:axId val="1210976896"/>
        <c:axId val="1210975456"/>
      </c:lineChart>
      <c:catAx>
        <c:axId val="1210976896"/>
        <c:scaling>
          <c:orientation val="minMax"/>
        </c:scaling>
        <c:delete val="0"/>
        <c:axPos val="b"/>
        <c:numFmt formatCode="General" sourceLinked="1"/>
        <c:majorTickMark val="none"/>
        <c:minorTickMark val="none"/>
        <c:tickLblPos val="low"/>
        <c:spPr>
          <a:noFill/>
          <a:ln w="9525" cap="flat" cmpd="sng" algn="ctr">
            <a:no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crossAx val="1210975456"/>
        <c:crossesAt val="1"/>
        <c:auto val="1"/>
        <c:lblAlgn val="ctr"/>
        <c:lblOffset val="100"/>
        <c:noMultiLvlLbl val="0"/>
      </c:catAx>
      <c:valAx>
        <c:axId val="1210975456"/>
        <c:scaling>
          <c:orientation val="minMax"/>
        </c:scaling>
        <c:delete val="0"/>
        <c:axPos val="l"/>
        <c:majorGridlines>
          <c:spPr>
            <a:ln w="9525" cap="flat" cmpd="sng" algn="ctr">
              <a:no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crossAx val="12109768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100"/>
      </a:pPr>
      <a:endParaRPr lang="es-C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rem_emp!$A$12</c:f>
              <c:strCache>
                <c:ptCount val="1"/>
                <c:pt idx="0">
                  <c:v>Chile</c:v>
                </c:pt>
              </c:strCache>
            </c:strRef>
          </c:tx>
          <c:spPr>
            <a:ln w="50800" cap="rnd">
              <a:solidFill>
                <a:schemeClr val="accent1"/>
              </a:solidFill>
              <a:round/>
            </a:ln>
            <a:effectLst/>
          </c:spPr>
          <c:marker>
            <c:symbol val="none"/>
          </c:marker>
          <c:cat>
            <c:numRef>
              <c:f>rem_emp!$B$4:$I$4</c:f>
              <c:numCache>
                <c:formatCode>General</c:formatCode>
                <c:ptCount val="8"/>
                <c:pt idx="0">
                  <c:v>2016</c:v>
                </c:pt>
                <c:pt idx="1">
                  <c:v>2017</c:v>
                </c:pt>
                <c:pt idx="2">
                  <c:v>2018</c:v>
                </c:pt>
                <c:pt idx="3">
                  <c:v>2019</c:v>
                </c:pt>
                <c:pt idx="4">
                  <c:v>2020</c:v>
                </c:pt>
                <c:pt idx="5">
                  <c:v>2021</c:v>
                </c:pt>
                <c:pt idx="6">
                  <c:v>2022</c:v>
                </c:pt>
                <c:pt idx="7">
                  <c:v>2023</c:v>
                </c:pt>
              </c:numCache>
            </c:numRef>
          </c:cat>
          <c:val>
            <c:numRef>
              <c:f>rem_emp!$B$12:$I$12</c:f>
              <c:numCache>
                <c:formatCode>General</c:formatCode>
                <c:ptCount val="8"/>
                <c:pt idx="0">
                  <c:v>1.1587276045548578</c:v>
                </c:pt>
                <c:pt idx="1">
                  <c:v>1.1280816754931842</c:v>
                </c:pt>
                <c:pt idx="2">
                  <c:v>1</c:v>
                </c:pt>
                <c:pt idx="3">
                  <c:v>1.1527836949518278</c:v>
                </c:pt>
                <c:pt idx="4">
                  <c:v>1.3004103310563793</c:v>
                </c:pt>
                <c:pt idx="5">
                  <c:v>0.97366757417941163</c:v>
                </c:pt>
                <c:pt idx="6">
                  <c:v>1.1506246609144786</c:v>
                </c:pt>
              </c:numCache>
            </c:numRef>
          </c:val>
          <c:smooth val="1"/>
          <c:extLst>
            <c:ext xmlns:c16="http://schemas.microsoft.com/office/drawing/2014/chart" uri="{C3380CC4-5D6E-409C-BE32-E72D297353CC}">
              <c16:uniqueId val="{00000000-165D-469E-8482-3C1D51196A4E}"/>
            </c:ext>
          </c:extLst>
        </c:ser>
        <c:ser>
          <c:idx val="1"/>
          <c:order val="1"/>
          <c:tx>
            <c:strRef>
              <c:f>rem_emp!$A$13</c:f>
              <c:strCache>
                <c:ptCount val="1"/>
                <c:pt idx="0">
                  <c:v>México</c:v>
                </c:pt>
              </c:strCache>
            </c:strRef>
          </c:tx>
          <c:spPr>
            <a:ln w="50800" cap="rnd">
              <a:solidFill>
                <a:schemeClr val="accent2"/>
              </a:solidFill>
              <a:round/>
            </a:ln>
            <a:effectLst/>
          </c:spPr>
          <c:marker>
            <c:symbol val="none"/>
          </c:marker>
          <c:cat>
            <c:numRef>
              <c:f>rem_emp!$B$4:$I$4</c:f>
              <c:numCache>
                <c:formatCode>General</c:formatCode>
                <c:ptCount val="8"/>
                <c:pt idx="0">
                  <c:v>2016</c:v>
                </c:pt>
                <c:pt idx="1">
                  <c:v>2017</c:v>
                </c:pt>
                <c:pt idx="2">
                  <c:v>2018</c:v>
                </c:pt>
                <c:pt idx="3">
                  <c:v>2019</c:v>
                </c:pt>
                <c:pt idx="4">
                  <c:v>2020</c:v>
                </c:pt>
                <c:pt idx="5">
                  <c:v>2021</c:v>
                </c:pt>
                <c:pt idx="6">
                  <c:v>2022</c:v>
                </c:pt>
                <c:pt idx="7">
                  <c:v>2023</c:v>
                </c:pt>
              </c:numCache>
            </c:numRef>
          </c:cat>
          <c:val>
            <c:numRef>
              <c:f>rem_emp!$B$13:$I$13</c:f>
              <c:numCache>
                <c:formatCode>General</c:formatCode>
                <c:ptCount val="8"/>
                <c:pt idx="0">
                  <c:v>0.92526194707308196</c:v>
                </c:pt>
                <c:pt idx="1">
                  <c:v>0.95549059864052432</c:v>
                </c:pt>
                <c:pt idx="2">
                  <c:v>1</c:v>
                </c:pt>
                <c:pt idx="3">
                  <c:v>1.0697026683312298</c:v>
                </c:pt>
                <c:pt idx="4">
                  <c:v>0.99674492282853</c:v>
                </c:pt>
                <c:pt idx="5">
                  <c:v>1.2307103851123797</c:v>
                </c:pt>
                <c:pt idx="6">
                  <c:v>1.533343923652863</c:v>
                </c:pt>
                <c:pt idx="7">
                  <c:v>1.8761244912747423</c:v>
                </c:pt>
              </c:numCache>
            </c:numRef>
          </c:val>
          <c:smooth val="1"/>
          <c:extLst>
            <c:ext xmlns:c16="http://schemas.microsoft.com/office/drawing/2014/chart" uri="{C3380CC4-5D6E-409C-BE32-E72D297353CC}">
              <c16:uniqueId val="{00000001-165D-469E-8482-3C1D51196A4E}"/>
            </c:ext>
          </c:extLst>
        </c:ser>
        <c:dLbls>
          <c:showLegendKey val="0"/>
          <c:showVal val="0"/>
          <c:showCatName val="0"/>
          <c:showSerName val="0"/>
          <c:showPercent val="0"/>
          <c:showBubbleSize val="0"/>
        </c:dLbls>
        <c:smooth val="0"/>
        <c:axId val="1211001376"/>
        <c:axId val="1210998136"/>
      </c:lineChart>
      <c:catAx>
        <c:axId val="1211001376"/>
        <c:scaling>
          <c:orientation val="minMax"/>
        </c:scaling>
        <c:delete val="0"/>
        <c:axPos val="b"/>
        <c:numFmt formatCode="General" sourceLinked="1"/>
        <c:majorTickMark val="none"/>
        <c:minorTickMark val="none"/>
        <c:tickLblPos val="low"/>
        <c:spPr>
          <a:noFill/>
          <a:ln w="9525" cap="flat" cmpd="sng" algn="ctr">
            <a:no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crossAx val="1210998136"/>
        <c:crossesAt val="1"/>
        <c:auto val="1"/>
        <c:lblAlgn val="ctr"/>
        <c:lblOffset val="100"/>
        <c:noMultiLvlLbl val="0"/>
      </c:catAx>
      <c:valAx>
        <c:axId val="1210998136"/>
        <c:scaling>
          <c:orientation val="minMax"/>
        </c:scaling>
        <c:delete val="0"/>
        <c:axPos val="l"/>
        <c:majorGridlines>
          <c:spPr>
            <a:ln w="9525" cap="flat" cmpd="sng" algn="ctr">
              <a:no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crossAx val="12110013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100"/>
      </a:pPr>
      <a:endParaRPr lang="es-C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E7936A-AD9B-4341-81CC-EBDCA3C240F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606CDDB7-3BD2-4522-81FF-CF44CD29AB17}">
      <dgm:prSet custT="1"/>
      <dgm:spPr/>
      <dgm:t>
        <a:bodyPr/>
        <a:lstStyle/>
        <a:p>
          <a:pPr>
            <a:lnSpc>
              <a:spcPct val="100000"/>
            </a:lnSpc>
          </a:pPr>
          <a:r>
            <a:rPr lang="es-ES" sz="1100" b="1" dirty="0"/>
            <a:t>Elaboración de alimentos</a:t>
          </a:r>
          <a:r>
            <a:rPr lang="es-ES" sz="1100" dirty="0"/>
            <a:t>: los salarios crecen más rápido que la productividad en ambos países (brecha &gt;0) </a:t>
          </a:r>
          <a:r>
            <a:rPr lang="es-ES" sz="1100" dirty="0">
              <a:sym typeface="Wingdings" panose="05000000000000000000" pitchFamily="2" charset="2"/>
            </a:rPr>
            <a:t></a:t>
          </a:r>
          <a:r>
            <a:rPr lang="es-ES" sz="1100" dirty="0"/>
            <a:t> presión sobre costos laborales unitarios</a:t>
          </a:r>
          <a:endParaRPr lang="en-US" sz="1100" dirty="0"/>
        </a:p>
      </dgm:t>
    </dgm:pt>
    <dgm:pt modelId="{D5F3BB23-1894-40B5-BD35-78538DEFAC60}" type="parTrans" cxnId="{4A86A776-B0A8-4EAC-B28E-CDEAFFDB4505}">
      <dgm:prSet/>
      <dgm:spPr/>
      <dgm:t>
        <a:bodyPr/>
        <a:lstStyle/>
        <a:p>
          <a:endParaRPr lang="en-US" sz="1100"/>
        </a:p>
      </dgm:t>
    </dgm:pt>
    <dgm:pt modelId="{A4119984-D655-4EBD-A806-40E480A7501C}" type="sibTrans" cxnId="{4A86A776-B0A8-4EAC-B28E-CDEAFFDB4505}">
      <dgm:prSet/>
      <dgm:spPr/>
      <dgm:t>
        <a:bodyPr/>
        <a:lstStyle/>
        <a:p>
          <a:endParaRPr lang="en-US" sz="1100"/>
        </a:p>
      </dgm:t>
    </dgm:pt>
    <dgm:pt modelId="{594313BD-0812-4BFA-942D-64EC2E357466}">
      <dgm:prSet custT="1"/>
      <dgm:spPr/>
      <dgm:t>
        <a:bodyPr/>
        <a:lstStyle/>
        <a:p>
          <a:pPr>
            <a:lnSpc>
              <a:spcPct val="100000"/>
            </a:lnSpc>
          </a:pPr>
          <a:r>
            <a:rPr lang="es-CL" sz="1100" b="1" dirty="0"/>
            <a:t>Comercio mayorista</a:t>
          </a:r>
          <a:r>
            <a:rPr lang="es-CL" sz="1100" dirty="0"/>
            <a:t>: En Chile la productividad crece apenas por encima de los salarios lo que implica una ganancia marginal de competitividad para el país. Si bien en México la brecha&gt;0, esta se mantiene moderada, con costos laborales creciendo más rápido pero sin gran desequilibrio</a:t>
          </a:r>
          <a:endParaRPr lang="en-US" sz="1100" dirty="0"/>
        </a:p>
      </dgm:t>
    </dgm:pt>
    <dgm:pt modelId="{C62DFA60-53F4-449A-BD15-17B0B4A82DD6}" type="parTrans" cxnId="{78752E78-7DA4-4B1E-ABC8-B7A737E7C9AF}">
      <dgm:prSet/>
      <dgm:spPr/>
      <dgm:t>
        <a:bodyPr/>
        <a:lstStyle/>
        <a:p>
          <a:endParaRPr lang="en-US" sz="1100"/>
        </a:p>
      </dgm:t>
    </dgm:pt>
    <dgm:pt modelId="{AF405E39-EE1F-48DE-BDC2-92249F7AAC03}" type="sibTrans" cxnId="{78752E78-7DA4-4B1E-ABC8-B7A737E7C9AF}">
      <dgm:prSet/>
      <dgm:spPr/>
      <dgm:t>
        <a:bodyPr/>
        <a:lstStyle/>
        <a:p>
          <a:endParaRPr lang="en-US" sz="1100"/>
        </a:p>
      </dgm:t>
    </dgm:pt>
    <dgm:pt modelId="{79E5C5BA-6866-4E6E-9DC2-B3C0B0DBCFDC}">
      <dgm:prSet custT="1"/>
      <dgm:spPr/>
      <dgm:t>
        <a:bodyPr/>
        <a:lstStyle/>
        <a:p>
          <a:pPr>
            <a:lnSpc>
              <a:spcPct val="100000"/>
            </a:lnSpc>
          </a:pPr>
          <a:r>
            <a:rPr lang="es-CL" sz="1100" b="1" dirty="0"/>
            <a:t>Producción audiovisual: </a:t>
          </a:r>
          <a:r>
            <a:rPr lang="es-CL" sz="1100" dirty="0"/>
            <a:t>Al igual que en la elaboración de alimentos ambos países muestran un incremento sobre la presión de los costos laborales unitarios y por tanto una posible pérdida de competitividad. </a:t>
          </a:r>
          <a:endParaRPr lang="en-US" sz="1100" dirty="0"/>
        </a:p>
      </dgm:t>
    </dgm:pt>
    <dgm:pt modelId="{9566BCC8-11BD-4AD0-8EA1-8F86BF042993}" type="parTrans" cxnId="{383A4C8E-A250-4CB3-9426-F07E23F2EE79}">
      <dgm:prSet/>
      <dgm:spPr/>
      <dgm:t>
        <a:bodyPr/>
        <a:lstStyle/>
        <a:p>
          <a:endParaRPr lang="en-US" sz="1100"/>
        </a:p>
      </dgm:t>
    </dgm:pt>
    <dgm:pt modelId="{E78EF030-3FB2-43A8-99C7-FDA03A438305}" type="sibTrans" cxnId="{383A4C8E-A250-4CB3-9426-F07E23F2EE79}">
      <dgm:prSet/>
      <dgm:spPr/>
      <dgm:t>
        <a:bodyPr/>
        <a:lstStyle/>
        <a:p>
          <a:endParaRPr lang="en-US" sz="1100"/>
        </a:p>
      </dgm:t>
    </dgm:pt>
    <dgm:pt modelId="{1C5514E8-ADC2-479C-85F4-F15EF5EFDADB}">
      <dgm:prSet custT="1"/>
      <dgm:spPr/>
      <dgm:t>
        <a:bodyPr/>
        <a:lstStyle/>
        <a:p>
          <a:pPr>
            <a:lnSpc>
              <a:spcPct val="100000"/>
            </a:lnSpc>
          </a:pPr>
          <a:r>
            <a:rPr lang="es-CL" sz="1100" dirty="0"/>
            <a:t>En general, lo que vemos en estas tres divisiones, las más importante dentro de cada uno de los sectores es un claro desacople: se pagas más por trabajador, pero se produce menos.</a:t>
          </a:r>
          <a:endParaRPr lang="en-US" sz="1100" dirty="0"/>
        </a:p>
      </dgm:t>
    </dgm:pt>
    <dgm:pt modelId="{D98B5F40-8A8E-441B-936B-75EB783E9C2D}" type="parTrans" cxnId="{C51DBA45-A80D-48B3-B821-31DDE01A2CB5}">
      <dgm:prSet/>
      <dgm:spPr/>
      <dgm:t>
        <a:bodyPr/>
        <a:lstStyle/>
        <a:p>
          <a:endParaRPr lang="en-US" sz="1100"/>
        </a:p>
      </dgm:t>
    </dgm:pt>
    <dgm:pt modelId="{9B57BCC9-2431-4749-9FDA-F319C4DE7BD8}" type="sibTrans" cxnId="{C51DBA45-A80D-48B3-B821-31DDE01A2CB5}">
      <dgm:prSet/>
      <dgm:spPr/>
      <dgm:t>
        <a:bodyPr/>
        <a:lstStyle/>
        <a:p>
          <a:endParaRPr lang="en-US" sz="1100"/>
        </a:p>
      </dgm:t>
    </dgm:pt>
    <dgm:pt modelId="{9EE4039A-28B8-457D-A1B5-41EDF782F9EB}" type="pres">
      <dgm:prSet presAssocID="{40E7936A-AD9B-4341-81CC-EBDCA3C240F4}" presName="root" presStyleCnt="0">
        <dgm:presLayoutVars>
          <dgm:dir/>
          <dgm:resizeHandles val="exact"/>
        </dgm:presLayoutVars>
      </dgm:prSet>
      <dgm:spPr/>
    </dgm:pt>
    <dgm:pt modelId="{74D09046-7255-41E6-B0E5-3BE83A8F5364}" type="pres">
      <dgm:prSet presAssocID="{606CDDB7-3BD2-4522-81FF-CF44CD29AB17}" presName="compNode" presStyleCnt="0"/>
      <dgm:spPr/>
    </dgm:pt>
    <dgm:pt modelId="{88824EBB-2B65-46DE-9D5B-C5C2301C80F9}" type="pres">
      <dgm:prSet presAssocID="{606CDDB7-3BD2-4522-81FF-CF44CD29AB17}" presName="bgRect" presStyleLbl="bgShp" presStyleIdx="0" presStyleCnt="4"/>
      <dgm:spPr/>
    </dgm:pt>
    <dgm:pt modelId="{45075B7E-2F71-4567-B66D-3A20311AAD42}" type="pres">
      <dgm:prSet presAssocID="{606CDDB7-3BD2-4522-81FF-CF44CD29AB1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urger and Drink"/>
        </a:ext>
      </dgm:extLst>
    </dgm:pt>
    <dgm:pt modelId="{6F557391-9321-4604-B328-32DDEE6B3340}" type="pres">
      <dgm:prSet presAssocID="{606CDDB7-3BD2-4522-81FF-CF44CD29AB17}" presName="spaceRect" presStyleCnt="0"/>
      <dgm:spPr/>
    </dgm:pt>
    <dgm:pt modelId="{1C5D148A-D48E-4487-AAAF-42917411A8C6}" type="pres">
      <dgm:prSet presAssocID="{606CDDB7-3BD2-4522-81FF-CF44CD29AB17}" presName="parTx" presStyleLbl="revTx" presStyleIdx="0" presStyleCnt="4">
        <dgm:presLayoutVars>
          <dgm:chMax val="0"/>
          <dgm:chPref val="0"/>
        </dgm:presLayoutVars>
      </dgm:prSet>
      <dgm:spPr/>
    </dgm:pt>
    <dgm:pt modelId="{AA099F26-95BF-46A2-AABD-C458872ED248}" type="pres">
      <dgm:prSet presAssocID="{A4119984-D655-4EBD-A806-40E480A7501C}" presName="sibTrans" presStyleCnt="0"/>
      <dgm:spPr/>
    </dgm:pt>
    <dgm:pt modelId="{BCF9DAF4-802B-4AF5-A299-064D6476F3DE}" type="pres">
      <dgm:prSet presAssocID="{594313BD-0812-4BFA-942D-64EC2E357466}" presName="compNode" presStyleCnt="0"/>
      <dgm:spPr/>
    </dgm:pt>
    <dgm:pt modelId="{7DE2D9A9-1CD7-4E26-9630-112E33D5AA76}" type="pres">
      <dgm:prSet presAssocID="{594313BD-0812-4BFA-942D-64EC2E357466}" presName="bgRect" presStyleLbl="bgShp" presStyleIdx="1" presStyleCnt="4"/>
      <dgm:spPr/>
    </dgm:pt>
    <dgm:pt modelId="{8CCC19BB-4953-4A3A-9998-A7CED0C3DF9F}" type="pres">
      <dgm:prSet presAssocID="{594313BD-0812-4BFA-942D-64EC2E35746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ienda"/>
        </a:ext>
      </dgm:extLst>
    </dgm:pt>
    <dgm:pt modelId="{9CFCB151-3693-4FC2-85FA-1150C74C90F5}" type="pres">
      <dgm:prSet presAssocID="{594313BD-0812-4BFA-942D-64EC2E357466}" presName="spaceRect" presStyleCnt="0"/>
      <dgm:spPr/>
    </dgm:pt>
    <dgm:pt modelId="{43A4BD57-3C8F-450D-AC2A-9CD39DF71AF9}" type="pres">
      <dgm:prSet presAssocID="{594313BD-0812-4BFA-942D-64EC2E357466}" presName="parTx" presStyleLbl="revTx" presStyleIdx="1" presStyleCnt="4">
        <dgm:presLayoutVars>
          <dgm:chMax val="0"/>
          <dgm:chPref val="0"/>
        </dgm:presLayoutVars>
      </dgm:prSet>
      <dgm:spPr/>
    </dgm:pt>
    <dgm:pt modelId="{66209564-E3FD-46F9-B2E2-23184529C41D}" type="pres">
      <dgm:prSet presAssocID="{AF405E39-EE1F-48DE-BDC2-92249F7AAC03}" presName="sibTrans" presStyleCnt="0"/>
      <dgm:spPr/>
    </dgm:pt>
    <dgm:pt modelId="{210AFCB8-F9A0-44DC-A4A3-FE9D57679F16}" type="pres">
      <dgm:prSet presAssocID="{79E5C5BA-6866-4E6E-9DC2-B3C0B0DBCFDC}" presName="compNode" presStyleCnt="0"/>
      <dgm:spPr/>
    </dgm:pt>
    <dgm:pt modelId="{2AB37EC4-35B2-44B8-B55E-4AAB085524BD}" type="pres">
      <dgm:prSet presAssocID="{79E5C5BA-6866-4E6E-9DC2-B3C0B0DBCFDC}" presName="bgRect" presStyleLbl="bgShp" presStyleIdx="2" presStyleCnt="4"/>
      <dgm:spPr/>
    </dgm:pt>
    <dgm:pt modelId="{AFC8B8DC-ECBD-442B-B29F-3D91320D253A}" type="pres">
      <dgm:prSet presAssocID="{79E5C5BA-6866-4E6E-9DC2-B3C0B0DBCFD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Video camera"/>
        </a:ext>
      </dgm:extLst>
    </dgm:pt>
    <dgm:pt modelId="{B92D6AF4-7D75-475B-B71F-9205A192B476}" type="pres">
      <dgm:prSet presAssocID="{79E5C5BA-6866-4E6E-9DC2-B3C0B0DBCFDC}" presName="spaceRect" presStyleCnt="0"/>
      <dgm:spPr/>
    </dgm:pt>
    <dgm:pt modelId="{6121C489-E15D-49B6-9411-BC114BA68F02}" type="pres">
      <dgm:prSet presAssocID="{79E5C5BA-6866-4E6E-9DC2-B3C0B0DBCFDC}" presName="parTx" presStyleLbl="revTx" presStyleIdx="2" presStyleCnt="4">
        <dgm:presLayoutVars>
          <dgm:chMax val="0"/>
          <dgm:chPref val="0"/>
        </dgm:presLayoutVars>
      </dgm:prSet>
      <dgm:spPr/>
    </dgm:pt>
    <dgm:pt modelId="{4FC0C45A-3363-4FA6-80D1-4C6104D717AF}" type="pres">
      <dgm:prSet presAssocID="{E78EF030-3FB2-43A8-99C7-FDA03A438305}" presName="sibTrans" presStyleCnt="0"/>
      <dgm:spPr/>
    </dgm:pt>
    <dgm:pt modelId="{BE0187D3-B5AC-4089-A162-7FA56C796946}" type="pres">
      <dgm:prSet presAssocID="{1C5514E8-ADC2-479C-85F4-F15EF5EFDADB}" presName="compNode" presStyleCnt="0"/>
      <dgm:spPr/>
    </dgm:pt>
    <dgm:pt modelId="{D5B5DA92-B7B7-42EE-A2B4-938BF3364762}" type="pres">
      <dgm:prSet presAssocID="{1C5514E8-ADC2-479C-85F4-F15EF5EFDADB}" presName="bgRect" presStyleLbl="bgShp" presStyleIdx="3" presStyleCnt="4"/>
      <dgm:spPr/>
    </dgm:pt>
    <dgm:pt modelId="{86B670F9-3CD5-4A7B-AD2A-4648906CE097}" type="pres">
      <dgm:prSet presAssocID="{1C5514E8-ADC2-479C-85F4-F15EF5EFDAD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ranching Diagram"/>
        </a:ext>
      </dgm:extLst>
    </dgm:pt>
    <dgm:pt modelId="{BFBE6FCA-1FE8-4A09-9709-0AA7CEA42043}" type="pres">
      <dgm:prSet presAssocID="{1C5514E8-ADC2-479C-85F4-F15EF5EFDADB}" presName="spaceRect" presStyleCnt="0"/>
      <dgm:spPr/>
    </dgm:pt>
    <dgm:pt modelId="{F7FD8413-E310-42D2-94F7-2A9A5708EDAA}" type="pres">
      <dgm:prSet presAssocID="{1C5514E8-ADC2-479C-85F4-F15EF5EFDADB}" presName="parTx" presStyleLbl="revTx" presStyleIdx="3" presStyleCnt="4">
        <dgm:presLayoutVars>
          <dgm:chMax val="0"/>
          <dgm:chPref val="0"/>
        </dgm:presLayoutVars>
      </dgm:prSet>
      <dgm:spPr/>
    </dgm:pt>
  </dgm:ptLst>
  <dgm:cxnLst>
    <dgm:cxn modelId="{F79E6A0D-0BCF-4A94-ACF5-EAE34B0C9681}" type="presOf" srcId="{1C5514E8-ADC2-479C-85F4-F15EF5EFDADB}" destId="{F7FD8413-E310-42D2-94F7-2A9A5708EDAA}" srcOrd="0" destOrd="0" presId="urn:microsoft.com/office/officeart/2018/2/layout/IconVerticalSolidList"/>
    <dgm:cxn modelId="{C51DBA45-A80D-48B3-B821-31DDE01A2CB5}" srcId="{40E7936A-AD9B-4341-81CC-EBDCA3C240F4}" destId="{1C5514E8-ADC2-479C-85F4-F15EF5EFDADB}" srcOrd="3" destOrd="0" parTransId="{D98B5F40-8A8E-441B-936B-75EB783E9C2D}" sibTransId="{9B57BCC9-2431-4749-9FDA-F319C4DE7BD8}"/>
    <dgm:cxn modelId="{D9D29076-3401-48EA-A519-B3563DB13A37}" type="presOf" srcId="{79E5C5BA-6866-4E6E-9DC2-B3C0B0DBCFDC}" destId="{6121C489-E15D-49B6-9411-BC114BA68F02}" srcOrd="0" destOrd="0" presId="urn:microsoft.com/office/officeart/2018/2/layout/IconVerticalSolidList"/>
    <dgm:cxn modelId="{4A86A776-B0A8-4EAC-B28E-CDEAFFDB4505}" srcId="{40E7936A-AD9B-4341-81CC-EBDCA3C240F4}" destId="{606CDDB7-3BD2-4522-81FF-CF44CD29AB17}" srcOrd="0" destOrd="0" parTransId="{D5F3BB23-1894-40B5-BD35-78538DEFAC60}" sibTransId="{A4119984-D655-4EBD-A806-40E480A7501C}"/>
    <dgm:cxn modelId="{78752E78-7DA4-4B1E-ABC8-B7A737E7C9AF}" srcId="{40E7936A-AD9B-4341-81CC-EBDCA3C240F4}" destId="{594313BD-0812-4BFA-942D-64EC2E357466}" srcOrd="1" destOrd="0" parTransId="{C62DFA60-53F4-449A-BD15-17B0B4A82DD6}" sibTransId="{AF405E39-EE1F-48DE-BDC2-92249F7AAC03}"/>
    <dgm:cxn modelId="{383A4C8E-A250-4CB3-9426-F07E23F2EE79}" srcId="{40E7936A-AD9B-4341-81CC-EBDCA3C240F4}" destId="{79E5C5BA-6866-4E6E-9DC2-B3C0B0DBCFDC}" srcOrd="2" destOrd="0" parTransId="{9566BCC8-11BD-4AD0-8EA1-8F86BF042993}" sibTransId="{E78EF030-3FB2-43A8-99C7-FDA03A438305}"/>
    <dgm:cxn modelId="{C9AF7692-A507-40A1-AC35-1B86C250565E}" type="presOf" srcId="{606CDDB7-3BD2-4522-81FF-CF44CD29AB17}" destId="{1C5D148A-D48E-4487-AAAF-42917411A8C6}" srcOrd="0" destOrd="0" presId="urn:microsoft.com/office/officeart/2018/2/layout/IconVerticalSolidList"/>
    <dgm:cxn modelId="{282F0BAC-316C-4F20-A690-842D29481C20}" type="presOf" srcId="{594313BD-0812-4BFA-942D-64EC2E357466}" destId="{43A4BD57-3C8F-450D-AC2A-9CD39DF71AF9}" srcOrd="0" destOrd="0" presId="urn:microsoft.com/office/officeart/2018/2/layout/IconVerticalSolidList"/>
    <dgm:cxn modelId="{01DA7CC2-5A56-40B7-8D6F-9A86376757F0}" type="presOf" srcId="{40E7936A-AD9B-4341-81CC-EBDCA3C240F4}" destId="{9EE4039A-28B8-457D-A1B5-41EDF782F9EB}" srcOrd="0" destOrd="0" presId="urn:microsoft.com/office/officeart/2018/2/layout/IconVerticalSolidList"/>
    <dgm:cxn modelId="{24C6A49D-122F-4792-855C-D6FC39447A7C}" type="presParOf" srcId="{9EE4039A-28B8-457D-A1B5-41EDF782F9EB}" destId="{74D09046-7255-41E6-B0E5-3BE83A8F5364}" srcOrd="0" destOrd="0" presId="urn:microsoft.com/office/officeart/2018/2/layout/IconVerticalSolidList"/>
    <dgm:cxn modelId="{9DCC91C6-86C5-4F28-8A13-9B0ABF2EC4FD}" type="presParOf" srcId="{74D09046-7255-41E6-B0E5-3BE83A8F5364}" destId="{88824EBB-2B65-46DE-9D5B-C5C2301C80F9}" srcOrd="0" destOrd="0" presId="urn:microsoft.com/office/officeart/2018/2/layout/IconVerticalSolidList"/>
    <dgm:cxn modelId="{F4125D68-E7BA-4727-B859-C5F8386BC030}" type="presParOf" srcId="{74D09046-7255-41E6-B0E5-3BE83A8F5364}" destId="{45075B7E-2F71-4567-B66D-3A20311AAD42}" srcOrd="1" destOrd="0" presId="urn:microsoft.com/office/officeart/2018/2/layout/IconVerticalSolidList"/>
    <dgm:cxn modelId="{54EDE561-2842-442D-9FC5-C05BBB544129}" type="presParOf" srcId="{74D09046-7255-41E6-B0E5-3BE83A8F5364}" destId="{6F557391-9321-4604-B328-32DDEE6B3340}" srcOrd="2" destOrd="0" presId="urn:microsoft.com/office/officeart/2018/2/layout/IconVerticalSolidList"/>
    <dgm:cxn modelId="{A202248E-BD8F-437B-ACB3-E23E63396E36}" type="presParOf" srcId="{74D09046-7255-41E6-B0E5-3BE83A8F5364}" destId="{1C5D148A-D48E-4487-AAAF-42917411A8C6}" srcOrd="3" destOrd="0" presId="urn:microsoft.com/office/officeart/2018/2/layout/IconVerticalSolidList"/>
    <dgm:cxn modelId="{348D00C0-2058-4490-BC42-2E8266E755D5}" type="presParOf" srcId="{9EE4039A-28B8-457D-A1B5-41EDF782F9EB}" destId="{AA099F26-95BF-46A2-AABD-C458872ED248}" srcOrd="1" destOrd="0" presId="urn:microsoft.com/office/officeart/2018/2/layout/IconVerticalSolidList"/>
    <dgm:cxn modelId="{159E4DF7-AE27-4172-8A72-81505AD73D45}" type="presParOf" srcId="{9EE4039A-28B8-457D-A1B5-41EDF782F9EB}" destId="{BCF9DAF4-802B-4AF5-A299-064D6476F3DE}" srcOrd="2" destOrd="0" presId="urn:microsoft.com/office/officeart/2018/2/layout/IconVerticalSolidList"/>
    <dgm:cxn modelId="{366E7D47-5500-4834-B551-A3922F418E2B}" type="presParOf" srcId="{BCF9DAF4-802B-4AF5-A299-064D6476F3DE}" destId="{7DE2D9A9-1CD7-4E26-9630-112E33D5AA76}" srcOrd="0" destOrd="0" presId="urn:microsoft.com/office/officeart/2018/2/layout/IconVerticalSolidList"/>
    <dgm:cxn modelId="{FA67CA8E-965D-4BD3-87F7-3BF4B9011940}" type="presParOf" srcId="{BCF9DAF4-802B-4AF5-A299-064D6476F3DE}" destId="{8CCC19BB-4953-4A3A-9998-A7CED0C3DF9F}" srcOrd="1" destOrd="0" presId="urn:microsoft.com/office/officeart/2018/2/layout/IconVerticalSolidList"/>
    <dgm:cxn modelId="{35F04646-73DF-4FEA-AAE3-17286756F872}" type="presParOf" srcId="{BCF9DAF4-802B-4AF5-A299-064D6476F3DE}" destId="{9CFCB151-3693-4FC2-85FA-1150C74C90F5}" srcOrd="2" destOrd="0" presId="urn:microsoft.com/office/officeart/2018/2/layout/IconVerticalSolidList"/>
    <dgm:cxn modelId="{85645D19-F559-4481-BF54-064C916AEB58}" type="presParOf" srcId="{BCF9DAF4-802B-4AF5-A299-064D6476F3DE}" destId="{43A4BD57-3C8F-450D-AC2A-9CD39DF71AF9}" srcOrd="3" destOrd="0" presId="urn:microsoft.com/office/officeart/2018/2/layout/IconVerticalSolidList"/>
    <dgm:cxn modelId="{2B6017BA-FD78-4ED3-8A6F-DE1A02F6A164}" type="presParOf" srcId="{9EE4039A-28B8-457D-A1B5-41EDF782F9EB}" destId="{66209564-E3FD-46F9-B2E2-23184529C41D}" srcOrd="3" destOrd="0" presId="urn:microsoft.com/office/officeart/2018/2/layout/IconVerticalSolidList"/>
    <dgm:cxn modelId="{53B24E7B-43EF-4C74-8E23-8FB36F1C5B6D}" type="presParOf" srcId="{9EE4039A-28B8-457D-A1B5-41EDF782F9EB}" destId="{210AFCB8-F9A0-44DC-A4A3-FE9D57679F16}" srcOrd="4" destOrd="0" presId="urn:microsoft.com/office/officeart/2018/2/layout/IconVerticalSolidList"/>
    <dgm:cxn modelId="{C2880544-4D75-4995-9E9E-700FB378652F}" type="presParOf" srcId="{210AFCB8-F9A0-44DC-A4A3-FE9D57679F16}" destId="{2AB37EC4-35B2-44B8-B55E-4AAB085524BD}" srcOrd="0" destOrd="0" presId="urn:microsoft.com/office/officeart/2018/2/layout/IconVerticalSolidList"/>
    <dgm:cxn modelId="{CF62B312-D459-4C9A-80C0-0AE287095C78}" type="presParOf" srcId="{210AFCB8-F9A0-44DC-A4A3-FE9D57679F16}" destId="{AFC8B8DC-ECBD-442B-B29F-3D91320D253A}" srcOrd="1" destOrd="0" presId="urn:microsoft.com/office/officeart/2018/2/layout/IconVerticalSolidList"/>
    <dgm:cxn modelId="{C1670D92-F567-40E0-9525-0AEA2428F554}" type="presParOf" srcId="{210AFCB8-F9A0-44DC-A4A3-FE9D57679F16}" destId="{B92D6AF4-7D75-475B-B71F-9205A192B476}" srcOrd="2" destOrd="0" presId="urn:microsoft.com/office/officeart/2018/2/layout/IconVerticalSolidList"/>
    <dgm:cxn modelId="{567154B5-46DA-489A-8357-C87E77F6F4D7}" type="presParOf" srcId="{210AFCB8-F9A0-44DC-A4A3-FE9D57679F16}" destId="{6121C489-E15D-49B6-9411-BC114BA68F02}" srcOrd="3" destOrd="0" presId="urn:microsoft.com/office/officeart/2018/2/layout/IconVerticalSolidList"/>
    <dgm:cxn modelId="{1634E0D0-5444-4DBE-A573-A2AC0357A1BB}" type="presParOf" srcId="{9EE4039A-28B8-457D-A1B5-41EDF782F9EB}" destId="{4FC0C45A-3363-4FA6-80D1-4C6104D717AF}" srcOrd="5" destOrd="0" presId="urn:microsoft.com/office/officeart/2018/2/layout/IconVerticalSolidList"/>
    <dgm:cxn modelId="{15196CC6-E010-40D3-A86B-AC2B94AECB9F}" type="presParOf" srcId="{9EE4039A-28B8-457D-A1B5-41EDF782F9EB}" destId="{BE0187D3-B5AC-4089-A162-7FA56C796946}" srcOrd="6" destOrd="0" presId="urn:microsoft.com/office/officeart/2018/2/layout/IconVerticalSolidList"/>
    <dgm:cxn modelId="{95662364-9EC4-4660-B78A-393E73E3C439}" type="presParOf" srcId="{BE0187D3-B5AC-4089-A162-7FA56C796946}" destId="{D5B5DA92-B7B7-42EE-A2B4-938BF3364762}" srcOrd="0" destOrd="0" presId="urn:microsoft.com/office/officeart/2018/2/layout/IconVerticalSolidList"/>
    <dgm:cxn modelId="{37914C67-17DB-448C-A8B2-19F47FE58B4B}" type="presParOf" srcId="{BE0187D3-B5AC-4089-A162-7FA56C796946}" destId="{86B670F9-3CD5-4A7B-AD2A-4648906CE097}" srcOrd="1" destOrd="0" presId="urn:microsoft.com/office/officeart/2018/2/layout/IconVerticalSolidList"/>
    <dgm:cxn modelId="{FF0005EA-A2E8-4FBC-98BC-E9514A41EBE8}" type="presParOf" srcId="{BE0187D3-B5AC-4089-A162-7FA56C796946}" destId="{BFBE6FCA-1FE8-4A09-9709-0AA7CEA42043}" srcOrd="2" destOrd="0" presId="urn:microsoft.com/office/officeart/2018/2/layout/IconVerticalSolidList"/>
    <dgm:cxn modelId="{B31CBD03-7303-4F0B-9D04-2D54F98ED9C1}" type="presParOf" srcId="{BE0187D3-B5AC-4089-A162-7FA56C796946}" destId="{F7FD8413-E310-42D2-94F7-2A9A5708EDA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824EBB-2B65-46DE-9D5B-C5C2301C80F9}">
      <dsp:nvSpPr>
        <dsp:cNvPr id="0" name=""/>
        <dsp:cNvSpPr/>
      </dsp:nvSpPr>
      <dsp:spPr>
        <a:xfrm>
          <a:off x="0" y="981"/>
          <a:ext cx="9713298" cy="4975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075B7E-2F71-4567-B66D-3A20311AAD42}">
      <dsp:nvSpPr>
        <dsp:cNvPr id="0" name=""/>
        <dsp:cNvSpPr/>
      </dsp:nvSpPr>
      <dsp:spPr>
        <a:xfrm>
          <a:off x="150507" y="112929"/>
          <a:ext cx="273649" cy="2736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5D148A-D48E-4487-AAAF-42917411A8C6}">
      <dsp:nvSpPr>
        <dsp:cNvPr id="0" name=""/>
        <dsp:cNvSpPr/>
      </dsp:nvSpPr>
      <dsp:spPr>
        <a:xfrm>
          <a:off x="574664" y="981"/>
          <a:ext cx="9138633" cy="497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657" tIns="52657" rIns="52657" bIns="52657" numCol="1" spcCol="1270" anchor="ctr" anchorCtr="0">
          <a:noAutofit/>
        </a:bodyPr>
        <a:lstStyle/>
        <a:p>
          <a:pPr marL="0" lvl="0" indent="0" algn="l" defTabSz="488950">
            <a:lnSpc>
              <a:spcPct val="100000"/>
            </a:lnSpc>
            <a:spcBef>
              <a:spcPct val="0"/>
            </a:spcBef>
            <a:spcAft>
              <a:spcPct val="35000"/>
            </a:spcAft>
            <a:buNone/>
          </a:pPr>
          <a:r>
            <a:rPr lang="es-ES" sz="1100" b="1" kern="1200" dirty="0"/>
            <a:t>Elaboración de alimentos</a:t>
          </a:r>
          <a:r>
            <a:rPr lang="es-ES" sz="1100" kern="1200" dirty="0"/>
            <a:t>: los salarios crecen más rápido que la productividad en ambos países (brecha &gt;0) </a:t>
          </a:r>
          <a:r>
            <a:rPr lang="es-ES" sz="1100" kern="1200" dirty="0">
              <a:sym typeface="Wingdings" panose="05000000000000000000" pitchFamily="2" charset="2"/>
            </a:rPr>
            <a:t></a:t>
          </a:r>
          <a:r>
            <a:rPr lang="es-ES" sz="1100" kern="1200" dirty="0"/>
            <a:t> presión sobre costos laborales unitarios</a:t>
          </a:r>
          <a:endParaRPr lang="en-US" sz="1100" kern="1200" dirty="0"/>
        </a:p>
      </dsp:txBody>
      <dsp:txXfrm>
        <a:off x="574664" y="981"/>
        <a:ext cx="9138633" cy="497545"/>
      </dsp:txXfrm>
    </dsp:sp>
    <dsp:sp modelId="{7DE2D9A9-1CD7-4E26-9630-112E33D5AA76}">
      <dsp:nvSpPr>
        <dsp:cNvPr id="0" name=""/>
        <dsp:cNvSpPr/>
      </dsp:nvSpPr>
      <dsp:spPr>
        <a:xfrm>
          <a:off x="0" y="622913"/>
          <a:ext cx="9713298" cy="4975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CC19BB-4953-4A3A-9998-A7CED0C3DF9F}">
      <dsp:nvSpPr>
        <dsp:cNvPr id="0" name=""/>
        <dsp:cNvSpPr/>
      </dsp:nvSpPr>
      <dsp:spPr>
        <a:xfrm>
          <a:off x="150507" y="734860"/>
          <a:ext cx="273649" cy="2736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A4BD57-3C8F-450D-AC2A-9CD39DF71AF9}">
      <dsp:nvSpPr>
        <dsp:cNvPr id="0" name=""/>
        <dsp:cNvSpPr/>
      </dsp:nvSpPr>
      <dsp:spPr>
        <a:xfrm>
          <a:off x="574664" y="622913"/>
          <a:ext cx="9138633" cy="497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657" tIns="52657" rIns="52657" bIns="52657" numCol="1" spcCol="1270" anchor="ctr" anchorCtr="0">
          <a:noAutofit/>
        </a:bodyPr>
        <a:lstStyle/>
        <a:p>
          <a:pPr marL="0" lvl="0" indent="0" algn="l" defTabSz="488950">
            <a:lnSpc>
              <a:spcPct val="100000"/>
            </a:lnSpc>
            <a:spcBef>
              <a:spcPct val="0"/>
            </a:spcBef>
            <a:spcAft>
              <a:spcPct val="35000"/>
            </a:spcAft>
            <a:buNone/>
          </a:pPr>
          <a:r>
            <a:rPr lang="es-CL" sz="1100" b="1" kern="1200" dirty="0"/>
            <a:t>Comercio mayorista</a:t>
          </a:r>
          <a:r>
            <a:rPr lang="es-CL" sz="1100" kern="1200" dirty="0"/>
            <a:t>: En Chile la productividad crece apenas por encima de los salarios lo que implica una ganancia marginal de competitividad para el país. Si bien en México la brecha&gt;0, esta se mantiene moderada, con costos laborales creciendo más rápido pero sin gran desequilibrio</a:t>
          </a:r>
          <a:endParaRPr lang="en-US" sz="1100" kern="1200" dirty="0"/>
        </a:p>
      </dsp:txBody>
      <dsp:txXfrm>
        <a:off x="574664" y="622913"/>
        <a:ext cx="9138633" cy="497545"/>
      </dsp:txXfrm>
    </dsp:sp>
    <dsp:sp modelId="{2AB37EC4-35B2-44B8-B55E-4AAB085524BD}">
      <dsp:nvSpPr>
        <dsp:cNvPr id="0" name=""/>
        <dsp:cNvSpPr/>
      </dsp:nvSpPr>
      <dsp:spPr>
        <a:xfrm>
          <a:off x="0" y="1244844"/>
          <a:ext cx="9713298" cy="4975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C8B8DC-ECBD-442B-B29F-3D91320D253A}">
      <dsp:nvSpPr>
        <dsp:cNvPr id="0" name=""/>
        <dsp:cNvSpPr/>
      </dsp:nvSpPr>
      <dsp:spPr>
        <a:xfrm>
          <a:off x="150507" y="1356792"/>
          <a:ext cx="273649" cy="2736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21C489-E15D-49B6-9411-BC114BA68F02}">
      <dsp:nvSpPr>
        <dsp:cNvPr id="0" name=""/>
        <dsp:cNvSpPr/>
      </dsp:nvSpPr>
      <dsp:spPr>
        <a:xfrm>
          <a:off x="574664" y="1244844"/>
          <a:ext cx="9138633" cy="497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657" tIns="52657" rIns="52657" bIns="52657" numCol="1" spcCol="1270" anchor="ctr" anchorCtr="0">
          <a:noAutofit/>
        </a:bodyPr>
        <a:lstStyle/>
        <a:p>
          <a:pPr marL="0" lvl="0" indent="0" algn="l" defTabSz="488950">
            <a:lnSpc>
              <a:spcPct val="100000"/>
            </a:lnSpc>
            <a:spcBef>
              <a:spcPct val="0"/>
            </a:spcBef>
            <a:spcAft>
              <a:spcPct val="35000"/>
            </a:spcAft>
            <a:buNone/>
          </a:pPr>
          <a:r>
            <a:rPr lang="es-CL" sz="1100" b="1" kern="1200" dirty="0"/>
            <a:t>Producción audiovisual: </a:t>
          </a:r>
          <a:r>
            <a:rPr lang="es-CL" sz="1100" kern="1200" dirty="0"/>
            <a:t>Al igual que en la elaboración de alimentos ambos países muestran un incremento sobre la presión de los costos laborales unitarios y por tanto una posible pérdida de competitividad. </a:t>
          </a:r>
          <a:endParaRPr lang="en-US" sz="1100" kern="1200" dirty="0"/>
        </a:p>
      </dsp:txBody>
      <dsp:txXfrm>
        <a:off x="574664" y="1244844"/>
        <a:ext cx="9138633" cy="497545"/>
      </dsp:txXfrm>
    </dsp:sp>
    <dsp:sp modelId="{D5B5DA92-B7B7-42EE-A2B4-938BF3364762}">
      <dsp:nvSpPr>
        <dsp:cNvPr id="0" name=""/>
        <dsp:cNvSpPr/>
      </dsp:nvSpPr>
      <dsp:spPr>
        <a:xfrm>
          <a:off x="0" y="1866776"/>
          <a:ext cx="9713298" cy="4975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B670F9-3CD5-4A7B-AD2A-4648906CE097}">
      <dsp:nvSpPr>
        <dsp:cNvPr id="0" name=""/>
        <dsp:cNvSpPr/>
      </dsp:nvSpPr>
      <dsp:spPr>
        <a:xfrm>
          <a:off x="150507" y="1978723"/>
          <a:ext cx="273649" cy="2736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FD8413-E310-42D2-94F7-2A9A5708EDAA}">
      <dsp:nvSpPr>
        <dsp:cNvPr id="0" name=""/>
        <dsp:cNvSpPr/>
      </dsp:nvSpPr>
      <dsp:spPr>
        <a:xfrm>
          <a:off x="574664" y="1866776"/>
          <a:ext cx="9138633" cy="497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657" tIns="52657" rIns="52657" bIns="52657" numCol="1" spcCol="1270" anchor="ctr" anchorCtr="0">
          <a:noAutofit/>
        </a:bodyPr>
        <a:lstStyle/>
        <a:p>
          <a:pPr marL="0" lvl="0" indent="0" algn="l" defTabSz="488950">
            <a:lnSpc>
              <a:spcPct val="100000"/>
            </a:lnSpc>
            <a:spcBef>
              <a:spcPct val="0"/>
            </a:spcBef>
            <a:spcAft>
              <a:spcPct val="35000"/>
            </a:spcAft>
            <a:buNone/>
          </a:pPr>
          <a:r>
            <a:rPr lang="es-CL" sz="1100" kern="1200" dirty="0"/>
            <a:t>En general, lo que vemos en estas tres divisiones, las más importante dentro de cada uno de los sectores es un claro desacople: se pagas más por trabajador, pero se produce menos.</a:t>
          </a:r>
          <a:endParaRPr lang="en-US" sz="1100" kern="1200" dirty="0"/>
        </a:p>
      </dsp:txBody>
      <dsp:txXfrm>
        <a:off x="574664" y="1866776"/>
        <a:ext cx="9138633" cy="49754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37317A-FEB5-8646-78CC-0AD93C67097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5AF50C5E-D543-BE55-2619-2DBCA74CC0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6ACADFA0-C5C0-2B85-9E10-1A88F111DF3C}"/>
              </a:ext>
            </a:extLst>
          </p:cNvPr>
          <p:cNvSpPr>
            <a:spLocks noGrp="1"/>
          </p:cNvSpPr>
          <p:nvPr>
            <p:ph type="dt" sz="half" idx="10"/>
          </p:nvPr>
        </p:nvSpPr>
        <p:spPr/>
        <p:txBody>
          <a:bodyPr/>
          <a:lstStyle/>
          <a:p>
            <a:fld id="{B45F80A1-2993-4A46-9F67-73A84C445976}" type="datetimeFigureOut">
              <a:rPr lang="es-CL" smtClean="0"/>
              <a:t>15-10-2025</a:t>
            </a:fld>
            <a:endParaRPr lang="es-CL"/>
          </a:p>
        </p:txBody>
      </p:sp>
      <p:sp>
        <p:nvSpPr>
          <p:cNvPr id="5" name="Marcador de pie de página 4">
            <a:extLst>
              <a:ext uri="{FF2B5EF4-FFF2-40B4-BE49-F238E27FC236}">
                <a16:creationId xmlns:a16="http://schemas.microsoft.com/office/drawing/2014/main" id="{53C02812-1DEF-D3B4-4537-A6BCC94FCCE2}"/>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8C46856-E032-D249-A6BF-FE426B05EA9C}"/>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081602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1B7A5E-4615-2DEB-6B70-68DC116CD6BD}"/>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9BC0F39F-63AD-7359-6F30-B2001CEBAD9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562EF99B-DC43-9FFE-3D1D-3EF834035665}"/>
              </a:ext>
            </a:extLst>
          </p:cNvPr>
          <p:cNvSpPr>
            <a:spLocks noGrp="1"/>
          </p:cNvSpPr>
          <p:nvPr>
            <p:ph type="dt" sz="half" idx="10"/>
          </p:nvPr>
        </p:nvSpPr>
        <p:spPr/>
        <p:txBody>
          <a:bodyPr/>
          <a:lstStyle/>
          <a:p>
            <a:fld id="{B45F80A1-2993-4A46-9F67-73A84C445976}" type="datetimeFigureOut">
              <a:rPr lang="es-CL" smtClean="0"/>
              <a:t>15-10-2025</a:t>
            </a:fld>
            <a:endParaRPr lang="es-CL"/>
          </a:p>
        </p:txBody>
      </p:sp>
      <p:sp>
        <p:nvSpPr>
          <p:cNvPr id="5" name="Marcador de pie de página 4">
            <a:extLst>
              <a:ext uri="{FF2B5EF4-FFF2-40B4-BE49-F238E27FC236}">
                <a16:creationId xmlns:a16="http://schemas.microsoft.com/office/drawing/2014/main" id="{8B510323-BBA0-6B8D-3701-6616C085883F}"/>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EFF7F7A4-CB40-24AC-803D-B272EBA07C41}"/>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71033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CC4FAF-939B-4589-A93A-B4CC26B71F9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6AAFE769-ADB8-E9DC-86BB-ACFDAF93EF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0E4B610-37C8-F973-7E9C-51902DDB9943}"/>
              </a:ext>
            </a:extLst>
          </p:cNvPr>
          <p:cNvSpPr>
            <a:spLocks noGrp="1"/>
          </p:cNvSpPr>
          <p:nvPr>
            <p:ph type="dt" sz="half" idx="10"/>
          </p:nvPr>
        </p:nvSpPr>
        <p:spPr/>
        <p:txBody>
          <a:bodyPr/>
          <a:lstStyle/>
          <a:p>
            <a:fld id="{B45F80A1-2993-4A46-9F67-73A84C445976}" type="datetimeFigureOut">
              <a:rPr lang="es-CL" smtClean="0"/>
              <a:t>15-10-2025</a:t>
            </a:fld>
            <a:endParaRPr lang="es-CL"/>
          </a:p>
        </p:txBody>
      </p:sp>
      <p:sp>
        <p:nvSpPr>
          <p:cNvPr id="5" name="Marcador de pie de página 4">
            <a:extLst>
              <a:ext uri="{FF2B5EF4-FFF2-40B4-BE49-F238E27FC236}">
                <a16:creationId xmlns:a16="http://schemas.microsoft.com/office/drawing/2014/main" id="{6BF6E6AC-C9C6-99B6-7965-23833A3421AE}"/>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B192BF87-70FF-EA71-F4A4-3EBD24BBE664}"/>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1559531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A7217E-5E1B-1925-D5A1-B074CD64DBD0}"/>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D3345F88-852E-5934-582C-4E2D128D737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36AB7D7E-6EBA-F9AD-C1A7-162AB6B96B8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91086649-C9B9-C12D-3D24-B39B94A63EBB}"/>
              </a:ext>
            </a:extLst>
          </p:cNvPr>
          <p:cNvSpPr>
            <a:spLocks noGrp="1"/>
          </p:cNvSpPr>
          <p:nvPr>
            <p:ph type="dt" sz="half" idx="10"/>
          </p:nvPr>
        </p:nvSpPr>
        <p:spPr/>
        <p:txBody>
          <a:bodyPr/>
          <a:lstStyle/>
          <a:p>
            <a:fld id="{B45F80A1-2993-4A46-9F67-73A84C445976}" type="datetimeFigureOut">
              <a:rPr lang="es-CL" smtClean="0"/>
              <a:t>15-10-2025</a:t>
            </a:fld>
            <a:endParaRPr lang="es-CL"/>
          </a:p>
        </p:txBody>
      </p:sp>
      <p:sp>
        <p:nvSpPr>
          <p:cNvPr id="6" name="Marcador de pie de página 5">
            <a:extLst>
              <a:ext uri="{FF2B5EF4-FFF2-40B4-BE49-F238E27FC236}">
                <a16:creationId xmlns:a16="http://schemas.microsoft.com/office/drawing/2014/main" id="{F8084561-44E6-5D5A-B331-9899D38DE42D}"/>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9F1F9FE4-DD56-A449-22B8-022096ABF8B2}"/>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1517845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1E4013-00EB-851B-3DF8-1064FCD5B8F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A88A6EC9-E6D2-7FED-FEF6-C066955D48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E4E9522-A729-9310-607E-96847E945E5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EC269263-E63C-25FB-A9B3-328B6D5385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C00C4531-BE9F-1A7F-11A9-76D6D7631D7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7DF3081D-5D4A-749C-3C6A-07AD42D816F8}"/>
              </a:ext>
            </a:extLst>
          </p:cNvPr>
          <p:cNvSpPr>
            <a:spLocks noGrp="1"/>
          </p:cNvSpPr>
          <p:nvPr>
            <p:ph type="dt" sz="half" idx="10"/>
          </p:nvPr>
        </p:nvSpPr>
        <p:spPr/>
        <p:txBody>
          <a:bodyPr/>
          <a:lstStyle/>
          <a:p>
            <a:fld id="{B45F80A1-2993-4A46-9F67-73A84C445976}" type="datetimeFigureOut">
              <a:rPr lang="es-CL" smtClean="0"/>
              <a:t>15-10-2025</a:t>
            </a:fld>
            <a:endParaRPr lang="es-CL"/>
          </a:p>
        </p:txBody>
      </p:sp>
      <p:sp>
        <p:nvSpPr>
          <p:cNvPr id="8" name="Marcador de pie de página 7">
            <a:extLst>
              <a:ext uri="{FF2B5EF4-FFF2-40B4-BE49-F238E27FC236}">
                <a16:creationId xmlns:a16="http://schemas.microsoft.com/office/drawing/2014/main" id="{76B105ED-A54E-7F1F-DFA0-08B9463D18C4}"/>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B42367FD-9C07-EFBA-2E7E-19BE2784A89E}"/>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2742665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9A2795-8621-EF7D-FEDA-D312F11E16C6}"/>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AB48328A-286D-04CC-8F54-D3537F8665EB}"/>
              </a:ext>
            </a:extLst>
          </p:cNvPr>
          <p:cNvSpPr>
            <a:spLocks noGrp="1"/>
          </p:cNvSpPr>
          <p:nvPr>
            <p:ph type="dt" sz="half" idx="10"/>
          </p:nvPr>
        </p:nvSpPr>
        <p:spPr/>
        <p:txBody>
          <a:bodyPr/>
          <a:lstStyle/>
          <a:p>
            <a:fld id="{B45F80A1-2993-4A46-9F67-73A84C445976}" type="datetimeFigureOut">
              <a:rPr lang="es-CL" smtClean="0"/>
              <a:t>15-10-2025</a:t>
            </a:fld>
            <a:endParaRPr lang="es-CL"/>
          </a:p>
        </p:txBody>
      </p:sp>
      <p:sp>
        <p:nvSpPr>
          <p:cNvPr id="4" name="Marcador de pie de página 3">
            <a:extLst>
              <a:ext uri="{FF2B5EF4-FFF2-40B4-BE49-F238E27FC236}">
                <a16:creationId xmlns:a16="http://schemas.microsoft.com/office/drawing/2014/main" id="{B510A87B-EBB1-F600-8DE5-29DA82E011B6}"/>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25A03AB3-FFE8-BBBF-2A31-BBA860FBBDB7}"/>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2735813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4CA4405-3475-94D1-B072-612D57991087}"/>
              </a:ext>
            </a:extLst>
          </p:cNvPr>
          <p:cNvSpPr>
            <a:spLocks noGrp="1"/>
          </p:cNvSpPr>
          <p:nvPr>
            <p:ph type="dt" sz="half" idx="10"/>
          </p:nvPr>
        </p:nvSpPr>
        <p:spPr/>
        <p:txBody>
          <a:bodyPr/>
          <a:lstStyle/>
          <a:p>
            <a:fld id="{B45F80A1-2993-4A46-9F67-73A84C445976}" type="datetimeFigureOut">
              <a:rPr lang="es-CL" smtClean="0"/>
              <a:t>15-10-2025</a:t>
            </a:fld>
            <a:endParaRPr lang="es-CL"/>
          </a:p>
        </p:txBody>
      </p:sp>
      <p:sp>
        <p:nvSpPr>
          <p:cNvPr id="3" name="Marcador de pie de página 2">
            <a:extLst>
              <a:ext uri="{FF2B5EF4-FFF2-40B4-BE49-F238E27FC236}">
                <a16:creationId xmlns:a16="http://schemas.microsoft.com/office/drawing/2014/main" id="{C5D65FB5-6F76-12CC-300E-7DD8534E8678}"/>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2424ABBE-D0BE-BFE9-6BC1-A96D1D801133}"/>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695711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632957-0616-6707-A9ED-6B4167BC1B1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39F5A90F-0758-03C2-F8E8-BB1C1E65A6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598E084B-04FF-376E-180E-436042B8BE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F1825F4-9314-48A7-BC62-64CC6C1D8F14}"/>
              </a:ext>
            </a:extLst>
          </p:cNvPr>
          <p:cNvSpPr>
            <a:spLocks noGrp="1"/>
          </p:cNvSpPr>
          <p:nvPr>
            <p:ph type="dt" sz="half" idx="10"/>
          </p:nvPr>
        </p:nvSpPr>
        <p:spPr/>
        <p:txBody>
          <a:bodyPr/>
          <a:lstStyle/>
          <a:p>
            <a:fld id="{B45F80A1-2993-4A46-9F67-73A84C445976}" type="datetimeFigureOut">
              <a:rPr lang="es-CL" smtClean="0"/>
              <a:t>15-10-2025</a:t>
            </a:fld>
            <a:endParaRPr lang="es-CL"/>
          </a:p>
        </p:txBody>
      </p:sp>
      <p:sp>
        <p:nvSpPr>
          <p:cNvPr id="6" name="Marcador de pie de página 5">
            <a:extLst>
              <a:ext uri="{FF2B5EF4-FFF2-40B4-BE49-F238E27FC236}">
                <a16:creationId xmlns:a16="http://schemas.microsoft.com/office/drawing/2014/main" id="{BA08D867-E36A-0551-F29B-1F7D56E8519F}"/>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7F984F76-FC20-A54B-F323-E3F06DB377F9}"/>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521371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D5D0E3-2A51-514F-B074-F80C94CE7AB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547C590F-7E19-13CA-6A35-130195E0F5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54B4AB76-B964-570D-97E0-F9C66B49E1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1DBCE67-B82A-253C-CD2C-90F7F5E7B4F1}"/>
              </a:ext>
            </a:extLst>
          </p:cNvPr>
          <p:cNvSpPr>
            <a:spLocks noGrp="1"/>
          </p:cNvSpPr>
          <p:nvPr>
            <p:ph type="dt" sz="half" idx="10"/>
          </p:nvPr>
        </p:nvSpPr>
        <p:spPr/>
        <p:txBody>
          <a:bodyPr/>
          <a:lstStyle/>
          <a:p>
            <a:fld id="{B45F80A1-2993-4A46-9F67-73A84C445976}" type="datetimeFigureOut">
              <a:rPr lang="es-CL" smtClean="0"/>
              <a:t>15-10-2025</a:t>
            </a:fld>
            <a:endParaRPr lang="es-CL"/>
          </a:p>
        </p:txBody>
      </p:sp>
      <p:sp>
        <p:nvSpPr>
          <p:cNvPr id="6" name="Marcador de pie de página 5">
            <a:extLst>
              <a:ext uri="{FF2B5EF4-FFF2-40B4-BE49-F238E27FC236}">
                <a16:creationId xmlns:a16="http://schemas.microsoft.com/office/drawing/2014/main" id="{4C276D23-40A3-FD50-4604-D04FF720F04B}"/>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C6F3D782-4EB5-F268-E256-F7C0ED062C77}"/>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2048616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3C43FC-5FF7-B142-676E-6B8A6362C096}"/>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1D55D0D0-B030-D908-69E3-F745844BE32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D148CD2C-7DD5-DA34-EC7F-DDF36023AC44}"/>
              </a:ext>
            </a:extLst>
          </p:cNvPr>
          <p:cNvSpPr>
            <a:spLocks noGrp="1"/>
          </p:cNvSpPr>
          <p:nvPr>
            <p:ph type="dt" sz="half" idx="10"/>
          </p:nvPr>
        </p:nvSpPr>
        <p:spPr/>
        <p:txBody>
          <a:bodyPr/>
          <a:lstStyle/>
          <a:p>
            <a:fld id="{B45F80A1-2993-4A46-9F67-73A84C445976}" type="datetimeFigureOut">
              <a:rPr lang="es-CL" smtClean="0"/>
              <a:t>15-10-2025</a:t>
            </a:fld>
            <a:endParaRPr lang="es-CL"/>
          </a:p>
        </p:txBody>
      </p:sp>
      <p:sp>
        <p:nvSpPr>
          <p:cNvPr id="5" name="Marcador de pie de página 4">
            <a:extLst>
              <a:ext uri="{FF2B5EF4-FFF2-40B4-BE49-F238E27FC236}">
                <a16:creationId xmlns:a16="http://schemas.microsoft.com/office/drawing/2014/main" id="{A2BC1B5F-B89F-D9F0-648C-03046A93496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EC6A765E-A906-CF97-1F2D-5A08CD8663D6}"/>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690454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407AC7F-ABBF-EC6B-7CEE-F4323A6F7A9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16A7FBA8-D4ED-CE24-682A-A7821597797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4088F5B5-1AF6-EE7A-D77E-F0F852ECBCC7}"/>
              </a:ext>
            </a:extLst>
          </p:cNvPr>
          <p:cNvSpPr>
            <a:spLocks noGrp="1"/>
          </p:cNvSpPr>
          <p:nvPr>
            <p:ph type="dt" sz="half" idx="10"/>
          </p:nvPr>
        </p:nvSpPr>
        <p:spPr/>
        <p:txBody>
          <a:bodyPr/>
          <a:lstStyle/>
          <a:p>
            <a:fld id="{B45F80A1-2993-4A46-9F67-73A84C445976}" type="datetimeFigureOut">
              <a:rPr lang="es-CL" smtClean="0"/>
              <a:t>15-10-2025</a:t>
            </a:fld>
            <a:endParaRPr lang="es-CL"/>
          </a:p>
        </p:txBody>
      </p:sp>
      <p:sp>
        <p:nvSpPr>
          <p:cNvPr id="5" name="Marcador de pie de página 4">
            <a:extLst>
              <a:ext uri="{FF2B5EF4-FFF2-40B4-BE49-F238E27FC236}">
                <a16:creationId xmlns:a16="http://schemas.microsoft.com/office/drawing/2014/main" id="{72A44EA9-4A38-2B98-503E-5BDFCABC23FB}"/>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5CF50DB6-73E0-255B-531E-C89117986DAD}"/>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4289453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60545AD-414F-17BC-ED9D-7C9616032A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A63CF14C-121E-1943-C100-06E2AC47B7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044EA7A3-4D32-4F18-4327-30109A545D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5F80A1-2993-4A46-9F67-73A84C445976}" type="datetimeFigureOut">
              <a:rPr lang="es-CL" smtClean="0"/>
              <a:t>15-10-2025</a:t>
            </a:fld>
            <a:endParaRPr lang="es-CL"/>
          </a:p>
        </p:txBody>
      </p:sp>
      <p:sp>
        <p:nvSpPr>
          <p:cNvPr id="5" name="Marcador de pie de página 4">
            <a:extLst>
              <a:ext uri="{FF2B5EF4-FFF2-40B4-BE49-F238E27FC236}">
                <a16:creationId xmlns:a16="http://schemas.microsoft.com/office/drawing/2014/main" id="{FE8EA02C-B147-E62E-AA91-64F6AF12A8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AF7CA4AD-F4EA-C54F-96B4-3B377954E4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E14167-D45C-40EF-B1FB-71EF430185F2}" type="slidenum">
              <a:rPr lang="es-CL" smtClean="0"/>
              <a:t>‹Nº›</a:t>
            </a:fld>
            <a:endParaRPr lang="es-CL"/>
          </a:p>
        </p:txBody>
      </p:sp>
    </p:spTree>
    <p:extLst>
      <p:ext uri="{BB962C8B-B14F-4D97-AF65-F5344CB8AC3E}">
        <p14:creationId xmlns:p14="http://schemas.microsoft.com/office/powerpoint/2010/main" val="37223449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0.emf"/><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0491348-A0CA-2876-C085-08D749A428E8}"/>
              </a:ext>
            </a:extLst>
          </p:cNvPr>
          <p:cNvSpPr>
            <a:spLocks noGrp="1"/>
          </p:cNvSpPr>
          <p:nvPr>
            <p:ph type="ctrTitle"/>
          </p:nvPr>
        </p:nvSpPr>
        <p:spPr>
          <a:xfrm>
            <a:off x="838200" y="451381"/>
            <a:ext cx="10512552" cy="4066540"/>
          </a:xfrm>
        </p:spPr>
        <p:txBody>
          <a:bodyPr anchor="b">
            <a:normAutofit/>
          </a:bodyPr>
          <a:lstStyle/>
          <a:p>
            <a:pPr algn="l"/>
            <a:r>
              <a:rPr lang="es-ES" dirty="0"/>
              <a:t>Productividad laboral y salarios a nivel sectorial en América Latina: 2016-2023</a:t>
            </a:r>
            <a:br>
              <a:rPr lang="es-ES" dirty="0"/>
            </a:br>
            <a:br>
              <a:rPr lang="es-ES" sz="6600" dirty="0"/>
            </a:br>
            <a:r>
              <a:rPr lang="es-ES" sz="3200" dirty="0"/>
              <a:t>Evidencia en manufactura, comercio y comunicaciones</a:t>
            </a:r>
            <a:endParaRPr lang="es-CL" sz="6600" dirty="0"/>
          </a:p>
        </p:txBody>
      </p:sp>
      <p:sp>
        <p:nvSpPr>
          <p:cNvPr id="3" name="Subtítulo 2">
            <a:extLst>
              <a:ext uri="{FF2B5EF4-FFF2-40B4-BE49-F238E27FC236}">
                <a16:creationId xmlns:a16="http://schemas.microsoft.com/office/drawing/2014/main" id="{03D1EF0D-D72D-085E-DA6D-90B9307E3E1C}"/>
              </a:ext>
            </a:extLst>
          </p:cNvPr>
          <p:cNvSpPr>
            <a:spLocks noGrp="1"/>
          </p:cNvSpPr>
          <p:nvPr>
            <p:ph type="subTitle" idx="1"/>
          </p:nvPr>
        </p:nvSpPr>
        <p:spPr>
          <a:xfrm>
            <a:off x="838199" y="4983276"/>
            <a:ext cx="10512552" cy="1126680"/>
          </a:xfrm>
        </p:spPr>
        <p:txBody>
          <a:bodyPr>
            <a:normAutofit/>
          </a:bodyPr>
          <a:lstStyle/>
          <a:p>
            <a:pPr algn="l"/>
            <a:r>
              <a:rPr lang="es-ES" dirty="0"/>
              <a:t>CEPAL 2025</a:t>
            </a:r>
            <a:endParaRPr lang="es-CL" dirty="0"/>
          </a:p>
        </p:txBody>
      </p:sp>
      <p:sp>
        <p:nvSpPr>
          <p:cNvPr id="23"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7801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859648B-37C0-B8D6-2838-C1F3E9A4659F}"/>
              </a:ext>
            </a:extLst>
          </p:cNvPr>
          <p:cNvSpPr>
            <a:spLocks noGrp="1"/>
          </p:cNvSpPr>
          <p:nvPr>
            <p:ph type="title"/>
          </p:nvPr>
        </p:nvSpPr>
        <p:spPr>
          <a:xfrm>
            <a:off x="838200" y="365125"/>
            <a:ext cx="10515600" cy="1325563"/>
          </a:xfrm>
        </p:spPr>
        <p:txBody>
          <a:bodyPr>
            <a:normAutofit/>
          </a:bodyPr>
          <a:lstStyle/>
          <a:p>
            <a:r>
              <a:rPr lang="es-ES" sz="5400" dirty="0"/>
              <a:t>Motivación</a:t>
            </a:r>
            <a:endParaRPr lang="es-CL" sz="5400" dirty="0"/>
          </a:p>
        </p:txBody>
      </p:sp>
      <p:sp>
        <p:nvSpPr>
          <p:cNvPr id="2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070007A9-52CF-E7B8-0113-1E3090031A9F}"/>
              </a:ext>
            </a:extLst>
          </p:cNvPr>
          <p:cNvSpPr>
            <a:spLocks noGrp="1"/>
          </p:cNvSpPr>
          <p:nvPr>
            <p:ph idx="1"/>
          </p:nvPr>
        </p:nvSpPr>
        <p:spPr>
          <a:xfrm>
            <a:off x="838200" y="1929384"/>
            <a:ext cx="10515600" cy="4563491"/>
          </a:xfrm>
        </p:spPr>
        <p:txBody>
          <a:bodyPr>
            <a:normAutofit fontScale="92500" lnSpcReduction="10000"/>
          </a:bodyPr>
          <a:lstStyle/>
          <a:p>
            <a:pPr marL="0" indent="0">
              <a:buNone/>
            </a:pPr>
            <a:r>
              <a:rPr lang="es-ES" sz="2200" i="1" dirty="0"/>
              <a:t>Motivación</a:t>
            </a:r>
          </a:p>
          <a:p>
            <a:r>
              <a:rPr lang="es-ES" sz="1800" dirty="0"/>
              <a:t>Pregunta central: ¿Cuál ha sido la dinámica de la productividad en AL?</a:t>
            </a:r>
            <a:endParaRPr lang="es-ES" sz="1800" b="1" dirty="0"/>
          </a:p>
          <a:p>
            <a:r>
              <a:rPr lang="es-ES" sz="1800" dirty="0"/>
              <a:t>Contexto: </a:t>
            </a:r>
            <a:r>
              <a:rPr lang="es-ES" sz="1800" dirty="0">
                <a:sym typeface="Wingdings" panose="05000000000000000000" pitchFamily="2" charset="2"/>
              </a:rPr>
              <a:t>salario mínimo en Chile y México; pandemia y recuperación post-2021; transformación tecnológica y cambios en la composición sectorial</a:t>
            </a:r>
            <a:endParaRPr lang="es-ES" sz="1800" b="1" dirty="0"/>
          </a:p>
          <a:p>
            <a:pPr marL="0" indent="0">
              <a:buNone/>
            </a:pPr>
            <a:r>
              <a:rPr lang="es-ES" sz="2200" i="1" dirty="0"/>
              <a:t>Racionalidad</a:t>
            </a:r>
          </a:p>
          <a:p>
            <a:pPr marL="0" indent="0">
              <a:buNone/>
            </a:pPr>
            <a:r>
              <a:rPr lang="es-ES" sz="1800" dirty="0"/>
              <a:t>Los agregados tienden a diluir las dinámicas sectoriales, de manera que este análisis se concentra en divisiones donde se observa patrones claros y la comparabilidad es mejor.</a:t>
            </a:r>
          </a:p>
          <a:p>
            <a:pPr marL="0" indent="0">
              <a:buNone/>
            </a:pPr>
            <a:r>
              <a:rPr lang="es-ES" sz="2200" i="1" dirty="0"/>
              <a:t>Metodología</a:t>
            </a:r>
          </a:p>
          <a:p>
            <a:pPr marL="0" indent="0">
              <a:buNone/>
            </a:pPr>
            <a:r>
              <a:rPr lang="es-ES" sz="1800" u="sng" dirty="0"/>
              <a:t>Productividad laboral</a:t>
            </a:r>
            <a:r>
              <a:rPr lang="es-ES" sz="1800" dirty="0"/>
              <a:t>: Valor agregado constante (2018=100)/Número de ocupados</a:t>
            </a:r>
          </a:p>
          <a:p>
            <a:pPr marL="0" indent="0">
              <a:buNone/>
            </a:pPr>
            <a:r>
              <a:rPr lang="es-CL" sz="1800" u="sng" dirty="0"/>
              <a:t>Costo de la mano de obra</a:t>
            </a:r>
            <a:r>
              <a:rPr lang="es-CL" sz="1800" dirty="0"/>
              <a:t>: Remuneraciones (</a:t>
            </a:r>
            <a:r>
              <a:rPr lang="es-CL" sz="1800"/>
              <a:t>USD constantes, 2018=100)/</a:t>
            </a:r>
            <a:r>
              <a:rPr lang="es-CL" sz="1800" dirty="0"/>
              <a:t>Número de ocupados</a:t>
            </a:r>
          </a:p>
          <a:p>
            <a:pPr marL="0" indent="0">
              <a:buNone/>
            </a:pPr>
            <a:r>
              <a:rPr lang="es-ES" sz="1800" dirty="0"/>
              <a:t>Período: 2016–2023; países: Chile y México.</a:t>
            </a:r>
            <a:endParaRPr lang="es-ES" sz="2200" dirty="0"/>
          </a:p>
          <a:p>
            <a:pPr marL="0" indent="0">
              <a:buNone/>
            </a:pPr>
            <a:r>
              <a:rPr lang="es-ES" sz="2200" i="1" dirty="0"/>
              <a:t>Fuente de datos</a:t>
            </a:r>
          </a:p>
          <a:p>
            <a:r>
              <a:rPr lang="es-ES" sz="1800" dirty="0"/>
              <a:t>Base de datos económicos (BADECON) CEPAL</a:t>
            </a:r>
          </a:p>
          <a:p>
            <a:r>
              <a:rPr lang="es-ES" sz="1800" dirty="0"/>
              <a:t>CCNN CEPAL</a:t>
            </a:r>
          </a:p>
          <a:p>
            <a:pPr marL="0" indent="0">
              <a:buNone/>
            </a:pPr>
            <a:endParaRPr lang="es-ES" sz="2200" dirty="0"/>
          </a:p>
          <a:p>
            <a:pPr marL="0" indent="0">
              <a:buNone/>
            </a:pPr>
            <a:endParaRPr lang="es-ES" sz="2200" dirty="0"/>
          </a:p>
          <a:p>
            <a:pPr marL="0" indent="0">
              <a:buNone/>
            </a:pPr>
            <a:endParaRPr lang="es-ES" sz="2200" dirty="0"/>
          </a:p>
          <a:p>
            <a:pPr marL="0" indent="0">
              <a:buNone/>
            </a:pPr>
            <a:endParaRPr lang="es-ES" sz="2200" dirty="0">
              <a:sym typeface="Wingdings" panose="05000000000000000000" pitchFamily="2" charset="2"/>
            </a:endParaRPr>
          </a:p>
        </p:txBody>
      </p:sp>
    </p:spTree>
    <p:extLst>
      <p:ext uri="{BB962C8B-B14F-4D97-AF65-F5344CB8AC3E}">
        <p14:creationId xmlns:p14="http://schemas.microsoft.com/office/powerpoint/2010/main" val="3552067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FB7AC23C-0B7F-47AD-AF43-500D9DDAE644}"/>
              </a:ext>
            </a:extLst>
          </p:cNvPr>
          <p:cNvSpPr txBox="1"/>
          <p:nvPr/>
        </p:nvSpPr>
        <p:spPr>
          <a:xfrm>
            <a:off x="1617695" y="1204813"/>
            <a:ext cx="1293457" cy="307777"/>
          </a:xfrm>
          <a:prstGeom prst="rect">
            <a:avLst/>
          </a:prstGeom>
          <a:noFill/>
        </p:spPr>
        <p:txBody>
          <a:bodyPr wrap="square" rtlCol="0">
            <a:spAutoFit/>
          </a:bodyPr>
          <a:lstStyle/>
          <a:p>
            <a:r>
              <a:rPr lang="es-CL" sz="1400" dirty="0"/>
              <a:t>Manufactura</a:t>
            </a:r>
          </a:p>
        </p:txBody>
      </p:sp>
      <p:sp>
        <p:nvSpPr>
          <p:cNvPr id="12" name="CuadroTexto 11">
            <a:extLst>
              <a:ext uri="{FF2B5EF4-FFF2-40B4-BE49-F238E27FC236}">
                <a16:creationId xmlns:a16="http://schemas.microsoft.com/office/drawing/2014/main" id="{1924AB9D-F3DE-F8A1-9CB0-F8A642ECD2DB}"/>
              </a:ext>
            </a:extLst>
          </p:cNvPr>
          <p:cNvSpPr txBox="1"/>
          <p:nvPr/>
        </p:nvSpPr>
        <p:spPr>
          <a:xfrm>
            <a:off x="5488045" y="1204812"/>
            <a:ext cx="895095" cy="307777"/>
          </a:xfrm>
          <a:prstGeom prst="rect">
            <a:avLst/>
          </a:prstGeom>
          <a:noFill/>
        </p:spPr>
        <p:txBody>
          <a:bodyPr wrap="square" rtlCol="0">
            <a:spAutoFit/>
          </a:bodyPr>
          <a:lstStyle/>
          <a:p>
            <a:r>
              <a:rPr lang="es-CL" sz="1400" dirty="0"/>
              <a:t>Comercio</a:t>
            </a:r>
          </a:p>
        </p:txBody>
      </p:sp>
      <p:sp>
        <p:nvSpPr>
          <p:cNvPr id="15" name="CuadroTexto 14">
            <a:extLst>
              <a:ext uri="{FF2B5EF4-FFF2-40B4-BE49-F238E27FC236}">
                <a16:creationId xmlns:a16="http://schemas.microsoft.com/office/drawing/2014/main" id="{8EE65EBA-AF9B-7459-4D63-954A2D500D4C}"/>
              </a:ext>
            </a:extLst>
          </p:cNvPr>
          <p:cNvSpPr txBox="1"/>
          <p:nvPr/>
        </p:nvSpPr>
        <p:spPr>
          <a:xfrm>
            <a:off x="9339946" y="1204812"/>
            <a:ext cx="1436914" cy="307777"/>
          </a:xfrm>
          <a:prstGeom prst="rect">
            <a:avLst/>
          </a:prstGeom>
          <a:noFill/>
        </p:spPr>
        <p:txBody>
          <a:bodyPr wrap="square" rtlCol="0">
            <a:spAutoFit/>
          </a:bodyPr>
          <a:lstStyle/>
          <a:p>
            <a:r>
              <a:rPr lang="es-CL" sz="1400" dirty="0"/>
              <a:t>Comunicaciones</a:t>
            </a:r>
          </a:p>
        </p:txBody>
      </p:sp>
      <p:sp>
        <p:nvSpPr>
          <p:cNvPr id="16" name="CuadroTexto 15">
            <a:extLst>
              <a:ext uri="{FF2B5EF4-FFF2-40B4-BE49-F238E27FC236}">
                <a16:creationId xmlns:a16="http://schemas.microsoft.com/office/drawing/2014/main" id="{579E0A65-E8D4-3022-5B7E-FA89CF1FD0BB}"/>
              </a:ext>
            </a:extLst>
          </p:cNvPr>
          <p:cNvSpPr txBox="1"/>
          <p:nvPr/>
        </p:nvSpPr>
        <p:spPr>
          <a:xfrm>
            <a:off x="1617695" y="139576"/>
            <a:ext cx="9159165" cy="800219"/>
          </a:xfrm>
          <a:prstGeom prst="rect">
            <a:avLst/>
          </a:prstGeom>
          <a:noFill/>
        </p:spPr>
        <p:txBody>
          <a:bodyPr wrap="square" rtlCol="0">
            <a:spAutoFit/>
          </a:bodyPr>
          <a:lstStyle/>
          <a:p>
            <a:pPr algn="ctr"/>
            <a:r>
              <a:rPr lang="es-CL" sz="3200" dirty="0"/>
              <a:t>Productividad laboral</a:t>
            </a:r>
          </a:p>
          <a:p>
            <a:pPr algn="ctr"/>
            <a:r>
              <a:rPr lang="es-CL" sz="1400" dirty="0"/>
              <a:t>(Índice, 2018=100)</a:t>
            </a:r>
          </a:p>
        </p:txBody>
      </p:sp>
      <p:sp>
        <p:nvSpPr>
          <p:cNvPr id="17" name="CuadroTexto 16">
            <a:extLst>
              <a:ext uri="{FF2B5EF4-FFF2-40B4-BE49-F238E27FC236}">
                <a16:creationId xmlns:a16="http://schemas.microsoft.com/office/drawing/2014/main" id="{ABFC013E-BEF4-8EBD-4272-EBD37E72D21A}"/>
              </a:ext>
            </a:extLst>
          </p:cNvPr>
          <p:cNvSpPr txBox="1"/>
          <p:nvPr/>
        </p:nvSpPr>
        <p:spPr>
          <a:xfrm>
            <a:off x="569167" y="5980922"/>
            <a:ext cx="11400014" cy="600164"/>
          </a:xfrm>
          <a:prstGeom prst="rect">
            <a:avLst/>
          </a:prstGeom>
          <a:noFill/>
        </p:spPr>
        <p:txBody>
          <a:bodyPr wrap="square" rtlCol="0">
            <a:spAutoFit/>
          </a:bodyPr>
          <a:lstStyle/>
          <a:p>
            <a:pPr marL="171450" indent="-171450">
              <a:buFont typeface="Wingdings" panose="05000000000000000000" pitchFamily="2" charset="2"/>
              <a:buChar char="à"/>
            </a:pPr>
            <a:r>
              <a:rPr lang="es-ES" sz="1100" dirty="0"/>
              <a:t>Chile muestra gran volatilidad, con fuertes caídas y recuperaciones irregulares, mientras México mantiene una tendencia más estable hacia el alza desde 2020.</a:t>
            </a:r>
          </a:p>
          <a:p>
            <a:pPr marL="171450" indent="-171450">
              <a:buFont typeface="Wingdings" panose="05000000000000000000" pitchFamily="2" charset="2"/>
              <a:buChar char="à"/>
            </a:pPr>
            <a:r>
              <a:rPr lang="es-ES" sz="1100" dirty="0"/>
              <a:t>México exhibe un crecimiento sostenido de la productividad tras 2020, en contraste con la trayectoria descendente observada en Chile.</a:t>
            </a:r>
          </a:p>
          <a:p>
            <a:r>
              <a:rPr lang="es-ES" sz="1100" dirty="0">
                <a:sym typeface="Wingdings" panose="05000000000000000000" pitchFamily="2" charset="2"/>
              </a:rPr>
              <a:t> Manufactura y Comunicaciones, a</a:t>
            </a:r>
            <a:r>
              <a:rPr lang="es-ES" sz="1100" dirty="0"/>
              <a:t>mbos países convergen en niveles bajos y estables, posiblemente reflejando modernización tecnológica y ajustes estructurales del sector.</a:t>
            </a:r>
            <a:endParaRPr lang="es-CL" sz="1100" dirty="0"/>
          </a:p>
        </p:txBody>
      </p:sp>
      <p:sp>
        <p:nvSpPr>
          <p:cNvPr id="18" name="CuadroTexto 17">
            <a:extLst>
              <a:ext uri="{FF2B5EF4-FFF2-40B4-BE49-F238E27FC236}">
                <a16:creationId xmlns:a16="http://schemas.microsoft.com/office/drawing/2014/main" id="{C5607D91-C81E-2B1F-2B1E-D494219D2BE0}"/>
              </a:ext>
            </a:extLst>
          </p:cNvPr>
          <p:cNvSpPr txBox="1"/>
          <p:nvPr/>
        </p:nvSpPr>
        <p:spPr>
          <a:xfrm>
            <a:off x="198843" y="5381951"/>
            <a:ext cx="1660849" cy="261610"/>
          </a:xfrm>
          <a:prstGeom prst="rect">
            <a:avLst/>
          </a:prstGeom>
          <a:noFill/>
        </p:spPr>
        <p:txBody>
          <a:bodyPr wrap="square" rtlCol="0">
            <a:spAutoFit/>
          </a:bodyPr>
          <a:lstStyle/>
          <a:p>
            <a:r>
              <a:rPr lang="es-CL" sz="1100" dirty="0"/>
              <a:t>Fuente: BADECON CEPAL</a:t>
            </a:r>
          </a:p>
        </p:txBody>
      </p:sp>
      <p:graphicFrame>
        <p:nvGraphicFramePr>
          <p:cNvPr id="23" name="Gráfico 22">
            <a:extLst>
              <a:ext uri="{FF2B5EF4-FFF2-40B4-BE49-F238E27FC236}">
                <a16:creationId xmlns:a16="http://schemas.microsoft.com/office/drawing/2014/main" id="{1E6D0319-1100-17AE-4BCA-190AC6268249}"/>
              </a:ext>
            </a:extLst>
          </p:cNvPr>
          <p:cNvGraphicFramePr>
            <a:graphicFrameLocks noGrp="1"/>
          </p:cNvGraphicFramePr>
          <p:nvPr>
            <p:extLst>
              <p:ext uri="{D42A27DB-BD31-4B8C-83A1-F6EECF244321}">
                <p14:modId xmlns:p14="http://schemas.microsoft.com/office/powerpoint/2010/main" val="232126725"/>
              </p:ext>
            </p:extLst>
          </p:nvPr>
        </p:nvGraphicFramePr>
        <p:xfrm>
          <a:off x="8082537" y="1613027"/>
          <a:ext cx="3951732" cy="376892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 name="Gráfico 1">
            <a:extLst>
              <a:ext uri="{FF2B5EF4-FFF2-40B4-BE49-F238E27FC236}">
                <a16:creationId xmlns:a16="http://schemas.microsoft.com/office/drawing/2014/main" id="{DB8765B2-8CD3-82B7-48C9-E09047F48E96}"/>
              </a:ext>
            </a:extLst>
          </p:cNvPr>
          <p:cNvGraphicFramePr>
            <a:graphicFrameLocks noGrp="1"/>
          </p:cNvGraphicFramePr>
          <p:nvPr>
            <p:extLst>
              <p:ext uri="{D42A27DB-BD31-4B8C-83A1-F6EECF244321}">
                <p14:modId xmlns:p14="http://schemas.microsoft.com/office/powerpoint/2010/main" val="1240236146"/>
              </p:ext>
            </p:extLst>
          </p:nvPr>
        </p:nvGraphicFramePr>
        <p:xfrm>
          <a:off x="198844" y="1497835"/>
          <a:ext cx="3743428" cy="376892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Gráfico 2">
            <a:extLst>
              <a:ext uri="{FF2B5EF4-FFF2-40B4-BE49-F238E27FC236}">
                <a16:creationId xmlns:a16="http://schemas.microsoft.com/office/drawing/2014/main" id="{0086AD98-C037-E074-7418-7FF222FB0F26}"/>
              </a:ext>
            </a:extLst>
          </p:cNvPr>
          <p:cNvGraphicFramePr>
            <a:graphicFrameLocks noGrp="1"/>
          </p:cNvGraphicFramePr>
          <p:nvPr>
            <p:extLst>
              <p:ext uri="{D42A27DB-BD31-4B8C-83A1-F6EECF244321}">
                <p14:modId xmlns:p14="http://schemas.microsoft.com/office/powerpoint/2010/main" val="1881816672"/>
              </p:ext>
            </p:extLst>
          </p:nvPr>
        </p:nvGraphicFramePr>
        <p:xfrm>
          <a:off x="4300833" y="1660989"/>
          <a:ext cx="3594538" cy="376892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245407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7C47F7-678F-EB87-A744-7B5DDF1914DB}"/>
              </a:ext>
            </a:extLst>
          </p:cNvPr>
          <p:cNvSpPr>
            <a:spLocks noGrp="1"/>
          </p:cNvSpPr>
          <p:nvPr>
            <p:ph type="title"/>
          </p:nvPr>
        </p:nvSpPr>
        <p:spPr>
          <a:xfrm>
            <a:off x="1516505" y="326545"/>
            <a:ext cx="3221364" cy="289216"/>
          </a:xfrm>
        </p:spPr>
        <p:txBody>
          <a:bodyPr>
            <a:noAutofit/>
          </a:bodyPr>
          <a:lstStyle/>
          <a:p>
            <a:pPr algn="ctr"/>
            <a:r>
              <a:rPr lang="es-ES" sz="1100" b="1" dirty="0"/>
              <a:t>Productividad laboral </a:t>
            </a:r>
            <a:br>
              <a:rPr lang="es-ES" sz="1100" b="1" dirty="0"/>
            </a:br>
            <a:r>
              <a:rPr lang="es-ES" sz="1100" b="1" dirty="0"/>
              <a:t>(Índice 2018=100)</a:t>
            </a:r>
            <a:endParaRPr lang="es-CL" sz="1100" b="1" dirty="0"/>
          </a:p>
        </p:txBody>
      </p:sp>
      <p:sp>
        <p:nvSpPr>
          <p:cNvPr id="13" name="Título 1">
            <a:extLst>
              <a:ext uri="{FF2B5EF4-FFF2-40B4-BE49-F238E27FC236}">
                <a16:creationId xmlns:a16="http://schemas.microsoft.com/office/drawing/2014/main" id="{B29625C2-7FE7-8987-2360-58F62771800F}"/>
              </a:ext>
            </a:extLst>
          </p:cNvPr>
          <p:cNvSpPr txBox="1">
            <a:spLocks/>
          </p:cNvSpPr>
          <p:nvPr/>
        </p:nvSpPr>
        <p:spPr>
          <a:xfrm>
            <a:off x="7325846" y="353584"/>
            <a:ext cx="3029331" cy="28921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1100" b="1" dirty="0"/>
              <a:t>Costo de la mano de obra </a:t>
            </a:r>
            <a:br>
              <a:rPr lang="es-ES" sz="1100" b="1" dirty="0"/>
            </a:br>
            <a:r>
              <a:rPr lang="es-ES" sz="1100" b="1" dirty="0"/>
              <a:t>(Índice, 2018=100)</a:t>
            </a:r>
            <a:endParaRPr lang="es-CL" sz="1100" b="1" dirty="0"/>
          </a:p>
        </p:txBody>
      </p:sp>
      <p:sp>
        <p:nvSpPr>
          <p:cNvPr id="15" name="CuadroTexto 14">
            <a:extLst>
              <a:ext uri="{FF2B5EF4-FFF2-40B4-BE49-F238E27FC236}">
                <a16:creationId xmlns:a16="http://schemas.microsoft.com/office/drawing/2014/main" id="{111F8EEF-B106-3EE1-C1A5-96BE955F6CC6}"/>
              </a:ext>
            </a:extLst>
          </p:cNvPr>
          <p:cNvSpPr txBox="1"/>
          <p:nvPr/>
        </p:nvSpPr>
        <p:spPr>
          <a:xfrm>
            <a:off x="453006" y="5620624"/>
            <a:ext cx="10452682" cy="1200329"/>
          </a:xfrm>
          <a:prstGeom prst="rect">
            <a:avLst/>
          </a:prstGeom>
          <a:noFill/>
        </p:spPr>
        <p:txBody>
          <a:bodyPr wrap="square" rtlCol="0">
            <a:spAutoFit/>
          </a:bodyPr>
          <a:lstStyle/>
          <a:p>
            <a:pPr>
              <a:buFont typeface="Arial" panose="020B0604020202020204" pitchFamily="34" charset="0"/>
              <a:buChar char="•"/>
            </a:pPr>
            <a:r>
              <a:rPr lang="es-ES" sz="1200" b="1" dirty="0"/>
              <a:t> Chile</a:t>
            </a:r>
            <a:r>
              <a:rPr lang="es-ES" sz="1200" dirty="0"/>
              <a:t> presenta alta volatilidad: la productividad laboral (VA/EMP) cae con fuerza en 2020 y 2022, mientras el costo de la mano de obra (REM/EMP) se dispara en 2021. Esto evidencia un desacople entre productividad y salarios.</a:t>
            </a:r>
          </a:p>
          <a:p>
            <a:pPr>
              <a:buFont typeface="Arial" panose="020B0604020202020204" pitchFamily="34" charset="0"/>
              <a:buChar char="•"/>
            </a:pPr>
            <a:r>
              <a:rPr lang="es-ES" sz="1200" b="1" dirty="0"/>
              <a:t> México</a:t>
            </a:r>
            <a:r>
              <a:rPr lang="es-ES" sz="1200" dirty="0"/>
              <a:t> muestra una evolución más estable, con productividad creciente desde 2020 y costos laborales en alza sostenida.</a:t>
            </a:r>
          </a:p>
          <a:p>
            <a:pPr>
              <a:buFont typeface="Arial" panose="020B0604020202020204" pitchFamily="34" charset="0"/>
              <a:buChar char="•"/>
            </a:pPr>
            <a:endParaRPr lang="es-ES" sz="1200" dirty="0"/>
          </a:p>
          <a:p>
            <a:r>
              <a:rPr lang="es-ES" sz="1200" dirty="0"/>
              <a:t>En general, Chile enfrenta choques de corto plazo ligados a la pandemia, mientras México consolida un patrón más equilibrado y persistente entre productividad y remuneraciones.</a:t>
            </a:r>
          </a:p>
        </p:txBody>
      </p:sp>
      <p:sp>
        <p:nvSpPr>
          <p:cNvPr id="9" name="CuadroTexto 8">
            <a:extLst>
              <a:ext uri="{FF2B5EF4-FFF2-40B4-BE49-F238E27FC236}">
                <a16:creationId xmlns:a16="http://schemas.microsoft.com/office/drawing/2014/main" id="{08471CCD-2B88-3B3E-85E5-207D297CE211}"/>
              </a:ext>
            </a:extLst>
          </p:cNvPr>
          <p:cNvSpPr txBox="1"/>
          <p:nvPr/>
        </p:nvSpPr>
        <p:spPr>
          <a:xfrm>
            <a:off x="151010" y="126675"/>
            <a:ext cx="1652631" cy="461665"/>
          </a:xfrm>
          <a:prstGeom prst="rect">
            <a:avLst/>
          </a:prstGeom>
          <a:noFill/>
        </p:spPr>
        <p:txBody>
          <a:bodyPr wrap="square" rtlCol="0">
            <a:spAutoFit/>
          </a:bodyPr>
          <a:lstStyle/>
          <a:p>
            <a:r>
              <a:rPr lang="es-ES" sz="1200" b="1" i="1" dirty="0"/>
              <a:t>Elaboración de </a:t>
            </a:r>
          </a:p>
          <a:p>
            <a:r>
              <a:rPr lang="es-ES" sz="1200" b="1" i="1" dirty="0"/>
              <a:t>alimentos</a:t>
            </a:r>
            <a:endParaRPr lang="es-CL" sz="1200" b="1" i="1" dirty="0"/>
          </a:p>
        </p:txBody>
      </p:sp>
      <p:sp>
        <p:nvSpPr>
          <p:cNvPr id="5" name="CuadroTexto 4">
            <a:extLst>
              <a:ext uri="{FF2B5EF4-FFF2-40B4-BE49-F238E27FC236}">
                <a16:creationId xmlns:a16="http://schemas.microsoft.com/office/drawing/2014/main" id="{56FDB534-53B8-1A1F-C87B-3CA48E473B77}"/>
              </a:ext>
            </a:extLst>
          </p:cNvPr>
          <p:cNvSpPr txBox="1"/>
          <p:nvPr/>
        </p:nvSpPr>
        <p:spPr>
          <a:xfrm>
            <a:off x="642648" y="5039361"/>
            <a:ext cx="4969079" cy="369332"/>
          </a:xfrm>
          <a:prstGeom prst="rect">
            <a:avLst/>
          </a:prstGeom>
          <a:noFill/>
        </p:spPr>
        <p:txBody>
          <a:bodyPr wrap="square" rtlCol="0">
            <a:spAutoFit/>
          </a:bodyPr>
          <a:lstStyle/>
          <a:p>
            <a:r>
              <a:rPr lang="es-ES" sz="900" dirty="0"/>
              <a:t>a: México realizó un cambio metodológico en 2018. Las cifras 2016 y 2017</a:t>
            </a:r>
          </a:p>
          <a:p>
            <a:r>
              <a:rPr lang="es-ES" sz="900" dirty="0"/>
              <a:t>están con la metodología del año 2013.</a:t>
            </a:r>
          </a:p>
        </p:txBody>
      </p:sp>
      <p:pic>
        <p:nvPicPr>
          <p:cNvPr id="6" name="Imagen 5">
            <a:extLst>
              <a:ext uri="{FF2B5EF4-FFF2-40B4-BE49-F238E27FC236}">
                <a16:creationId xmlns:a16="http://schemas.microsoft.com/office/drawing/2014/main" id="{FE76AA90-8ECE-DD4C-5FEC-80B6CFF6319E}"/>
              </a:ext>
            </a:extLst>
          </p:cNvPr>
          <p:cNvPicPr>
            <a:picLocks noChangeAspect="1"/>
          </p:cNvPicPr>
          <p:nvPr/>
        </p:nvPicPr>
        <p:blipFill>
          <a:blip r:embed="rId2"/>
          <a:stretch>
            <a:fillRect/>
          </a:stretch>
        </p:blipFill>
        <p:spPr>
          <a:xfrm>
            <a:off x="823440" y="906284"/>
            <a:ext cx="10725912" cy="4105656"/>
          </a:xfrm>
          <a:prstGeom prst="rect">
            <a:avLst/>
          </a:prstGeom>
        </p:spPr>
      </p:pic>
    </p:spTree>
    <p:extLst>
      <p:ext uri="{BB962C8B-B14F-4D97-AF65-F5344CB8AC3E}">
        <p14:creationId xmlns:p14="http://schemas.microsoft.com/office/powerpoint/2010/main" val="1082854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6E134711-A48F-A2CE-D938-54FBCBC4A052}"/>
              </a:ext>
            </a:extLst>
          </p:cNvPr>
          <p:cNvSpPr>
            <a:spLocks noGrp="1"/>
          </p:cNvSpPr>
          <p:nvPr>
            <p:ph type="title"/>
          </p:nvPr>
        </p:nvSpPr>
        <p:spPr>
          <a:xfrm>
            <a:off x="1589015" y="483790"/>
            <a:ext cx="3594246" cy="289216"/>
          </a:xfrm>
        </p:spPr>
        <p:txBody>
          <a:bodyPr>
            <a:noAutofit/>
          </a:bodyPr>
          <a:lstStyle/>
          <a:p>
            <a:pPr algn="ctr"/>
            <a:r>
              <a:rPr lang="es-ES" sz="1100" b="1" dirty="0"/>
              <a:t>Productividad laboral </a:t>
            </a:r>
            <a:br>
              <a:rPr lang="es-ES" sz="1100" b="1" dirty="0"/>
            </a:br>
            <a:r>
              <a:rPr lang="es-ES" sz="1100" b="1" dirty="0"/>
              <a:t>(Índice, 2018=100)</a:t>
            </a:r>
            <a:endParaRPr lang="es-CL" sz="1100" b="1" dirty="0"/>
          </a:p>
        </p:txBody>
      </p:sp>
      <p:sp>
        <p:nvSpPr>
          <p:cNvPr id="7" name="Título 1">
            <a:extLst>
              <a:ext uri="{FF2B5EF4-FFF2-40B4-BE49-F238E27FC236}">
                <a16:creationId xmlns:a16="http://schemas.microsoft.com/office/drawing/2014/main" id="{A7CAFFB7-59F1-2793-2B55-EC053B4C664F}"/>
              </a:ext>
            </a:extLst>
          </p:cNvPr>
          <p:cNvSpPr txBox="1">
            <a:spLocks/>
          </p:cNvSpPr>
          <p:nvPr/>
        </p:nvSpPr>
        <p:spPr>
          <a:xfrm>
            <a:off x="6866833" y="483790"/>
            <a:ext cx="3594246" cy="289216"/>
          </a:xfrm>
          <a:prstGeom prst="rect">
            <a:avLst/>
          </a:prstGeom>
        </p:spPr>
        <p:txBody>
          <a:bodyPr vert="horz" lIns="91440" tIns="45720" rIns="91440" bIns="45720" rtlCol="0" anchor="ctr">
            <a:noAutofit/>
          </a:bodyPr>
          <a:lstStyle>
            <a:lvl1pPr algn="ctr">
              <a:lnSpc>
                <a:spcPct val="90000"/>
              </a:lnSpc>
              <a:spcBef>
                <a:spcPct val="0"/>
              </a:spcBef>
              <a:buNone/>
              <a:defRPr sz="1100" b="1">
                <a:latin typeface="+mj-lt"/>
                <a:ea typeface="+mj-ea"/>
                <a:cs typeface="+mj-cs"/>
              </a:defRPr>
            </a:lvl1pPr>
          </a:lstStyle>
          <a:p>
            <a:r>
              <a:rPr lang="es-ES" dirty="0"/>
              <a:t>Costo de la mano de obra </a:t>
            </a:r>
            <a:br>
              <a:rPr lang="es-ES" dirty="0"/>
            </a:br>
            <a:r>
              <a:rPr lang="es-ES" dirty="0"/>
              <a:t>(Índice, 2018=100))</a:t>
            </a:r>
            <a:endParaRPr lang="es-CL" dirty="0"/>
          </a:p>
        </p:txBody>
      </p:sp>
      <p:sp>
        <p:nvSpPr>
          <p:cNvPr id="12" name="CuadroTexto 11">
            <a:extLst>
              <a:ext uri="{FF2B5EF4-FFF2-40B4-BE49-F238E27FC236}">
                <a16:creationId xmlns:a16="http://schemas.microsoft.com/office/drawing/2014/main" id="{99BA03C9-BEEE-75FA-4652-E01AA9A9B5F3}"/>
              </a:ext>
            </a:extLst>
          </p:cNvPr>
          <p:cNvSpPr txBox="1"/>
          <p:nvPr/>
        </p:nvSpPr>
        <p:spPr>
          <a:xfrm>
            <a:off x="436228" y="5335399"/>
            <a:ext cx="10821798" cy="1107996"/>
          </a:xfrm>
          <a:prstGeom prst="rect">
            <a:avLst/>
          </a:prstGeom>
          <a:noFill/>
        </p:spPr>
        <p:txBody>
          <a:bodyPr wrap="square" rtlCol="0">
            <a:spAutoFit/>
          </a:bodyPr>
          <a:lstStyle/>
          <a:p>
            <a:pPr marL="171450" indent="-171450">
              <a:buFont typeface="Arial" panose="020B0604020202020204" pitchFamily="34" charset="0"/>
              <a:buChar char="•"/>
            </a:pPr>
            <a:r>
              <a:rPr lang="es-ES" sz="1100" b="1" dirty="0"/>
              <a:t>Chile: </a:t>
            </a:r>
            <a:r>
              <a:rPr lang="es-ES" sz="1100" dirty="0"/>
              <a:t>en el comercio mayorista, la productividad laboral (índice 2018=100) mantiene oscilaciones y varios años bajo el nivel base, mientras el costo laboral crece sostenidamente, acentuando el desacople entre salarios y eficiencia.</a:t>
            </a:r>
          </a:p>
          <a:p>
            <a:pPr marL="171450" indent="-171450">
              <a:buFont typeface="Arial" panose="020B0604020202020204" pitchFamily="34" charset="0"/>
              <a:buChar char="•"/>
            </a:pPr>
            <a:r>
              <a:rPr lang="es-ES" sz="1100" b="1" dirty="0"/>
              <a:t>México:</a:t>
            </a:r>
            <a:r>
              <a:rPr lang="es-ES" sz="1100" dirty="0"/>
              <a:t> muestra un patrón más dinámico; pese a caídas en 2019–2022, la productividad y los costos laborales repuntan con fuerza desde 2021, superando el nivel base.</a:t>
            </a:r>
          </a:p>
          <a:p>
            <a:endParaRPr lang="es-ES" sz="1100" dirty="0"/>
          </a:p>
          <a:p>
            <a:r>
              <a:rPr lang="es-ES" sz="1100" dirty="0"/>
              <a:t>En conjunto</a:t>
            </a:r>
            <a:r>
              <a:rPr lang="es-ES" sz="1100" b="1" dirty="0"/>
              <a:t> </a:t>
            </a:r>
            <a:r>
              <a:rPr lang="es-ES" sz="1100" dirty="0"/>
              <a:t>ambos países evidencian un aumento de costos laborales mayor al avance productivo, aunque el desbalance es más marcado en Chile, donde la productividad se estanca frente a salarios al alza.</a:t>
            </a:r>
          </a:p>
        </p:txBody>
      </p:sp>
      <p:sp>
        <p:nvSpPr>
          <p:cNvPr id="8" name="CuadroTexto 7">
            <a:extLst>
              <a:ext uri="{FF2B5EF4-FFF2-40B4-BE49-F238E27FC236}">
                <a16:creationId xmlns:a16="http://schemas.microsoft.com/office/drawing/2014/main" id="{38A4ADFE-99E3-6C16-6A09-91266FD6997F}"/>
              </a:ext>
            </a:extLst>
          </p:cNvPr>
          <p:cNvSpPr txBox="1"/>
          <p:nvPr/>
        </p:nvSpPr>
        <p:spPr>
          <a:xfrm>
            <a:off x="151010" y="126675"/>
            <a:ext cx="2021739" cy="646331"/>
          </a:xfrm>
          <a:prstGeom prst="rect">
            <a:avLst/>
          </a:prstGeom>
          <a:noFill/>
        </p:spPr>
        <p:txBody>
          <a:bodyPr wrap="square" rtlCol="0">
            <a:spAutoFit/>
          </a:bodyPr>
          <a:lstStyle/>
          <a:p>
            <a:r>
              <a:rPr lang="es-ES" sz="1200" b="1" i="1" dirty="0"/>
              <a:t>Comercio al por mayor, excepto automotores y bicicletas</a:t>
            </a:r>
            <a:endParaRPr lang="es-CL" sz="1200" b="1" i="1" dirty="0"/>
          </a:p>
        </p:txBody>
      </p:sp>
      <p:sp>
        <p:nvSpPr>
          <p:cNvPr id="2" name="CuadroTexto 1">
            <a:extLst>
              <a:ext uri="{FF2B5EF4-FFF2-40B4-BE49-F238E27FC236}">
                <a16:creationId xmlns:a16="http://schemas.microsoft.com/office/drawing/2014/main" id="{32576884-8600-35A5-A164-E9856EFA5894}"/>
              </a:ext>
            </a:extLst>
          </p:cNvPr>
          <p:cNvSpPr txBox="1"/>
          <p:nvPr/>
        </p:nvSpPr>
        <p:spPr>
          <a:xfrm>
            <a:off x="436228" y="4929457"/>
            <a:ext cx="4714613" cy="369332"/>
          </a:xfrm>
          <a:prstGeom prst="rect">
            <a:avLst/>
          </a:prstGeom>
          <a:noFill/>
        </p:spPr>
        <p:txBody>
          <a:bodyPr wrap="square" rtlCol="0">
            <a:spAutoFit/>
          </a:bodyPr>
          <a:lstStyle/>
          <a:p>
            <a:r>
              <a:rPr lang="es-ES" sz="900" dirty="0"/>
              <a:t>Nota: México realizó un cambio metodológico en 2018. Las cifras 2016 y 2017 están con la metodología del año 2013.</a:t>
            </a:r>
            <a:endParaRPr lang="es-CL" sz="900" dirty="0"/>
          </a:p>
        </p:txBody>
      </p:sp>
      <p:graphicFrame>
        <p:nvGraphicFramePr>
          <p:cNvPr id="3" name="Gráfico 2">
            <a:extLst>
              <a:ext uri="{FF2B5EF4-FFF2-40B4-BE49-F238E27FC236}">
                <a16:creationId xmlns:a16="http://schemas.microsoft.com/office/drawing/2014/main" id="{1E6D0319-1100-17AE-4BCA-190AC6268249}"/>
              </a:ext>
            </a:extLst>
          </p:cNvPr>
          <p:cNvGraphicFramePr>
            <a:graphicFrameLocks noGrp="1"/>
          </p:cNvGraphicFramePr>
          <p:nvPr>
            <p:extLst>
              <p:ext uri="{D42A27DB-BD31-4B8C-83A1-F6EECF244321}">
                <p14:modId xmlns:p14="http://schemas.microsoft.com/office/powerpoint/2010/main" val="437520650"/>
              </p:ext>
            </p:extLst>
          </p:nvPr>
        </p:nvGraphicFramePr>
        <p:xfrm>
          <a:off x="580172" y="857644"/>
          <a:ext cx="5568380" cy="394253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Gráfico 8">
            <a:extLst>
              <a:ext uri="{FF2B5EF4-FFF2-40B4-BE49-F238E27FC236}">
                <a16:creationId xmlns:a16="http://schemas.microsoft.com/office/drawing/2014/main" id="{4CA430D3-BA4F-CE97-BDF5-7EE573B53398}"/>
              </a:ext>
            </a:extLst>
          </p:cNvPr>
          <p:cNvGraphicFramePr>
            <a:graphicFrameLocks/>
          </p:cNvGraphicFramePr>
          <p:nvPr>
            <p:extLst>
              <p:ext uri="{D42A27DB-BD31-4B8C-83A1-F6EECF244321}">
                <p14:modId xmlns:p14="http://schemas.microsoft.com/office/powerpoint/2010/main" val="1751380962"/>
              </p:ext>
            </p:extLst>
          </p:nvPr>
        </p:nvGraphicFramePr>
        <p:xfrm>
          <a:off x="6445200" y="1087201"/>
          <a:ext cx="5103600" cy="384225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953297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1744A078-E48A-E08A-04DA-3288236ABBF4}"/>
              </a:ext>
            </a:extLst>
          </p:cNvPr>
          <p:cNvSpPr>
            <a:spLocks noGrp="1"/>
          </p:cNvSpPr>
          <p:nvPr>
            <p:ph type="title"/>
          </p:nvPr>
        </p:nvSpPr>
        <p:spPr>
          <a:xfrm>
            <a:off x="2055654" y="641281"/>
            <a:ext cx="2766028" cy="289216"/>
          </a:xfrm>
        </p:spPr>
        <p:txBody>
          <a:bodyPr>
            <a:noAutofit/>
          </a:bodyPr>
          <a:lstStyle/>
          <a:p>
            <a:pPr algn="ctr"/>
            <a:r>
              <a:rPr lang="es-ES" sz="1100" b="1" dirty="0"/>
              <a:t>Productividad laboral </a:t>
            </a:r>
            <a:br>
              <a:rPr lang="es-ES" sz="1100" b="1" dirty="0"/>
            </a:br>
            <a:r>
              <a:rPr lang="es-ES" sz="1100" b="1" dirty="0"/>
              <a:t>(Índice, 2018=100)</a:t>
            </a:r>
            <a:endParaRPr lang="es-CL" sz="1100" b="1" dirty="0"/>
          </a:p>
        </p:txBody>
      </p:sp>
      <p:sp>
        <p:nvSpPr>
          <p:cNvPr id="9" name="Título 1">
            <a:extLst>
              <a:ext uri="{FF2B5EF4-FFF2-40B4-BE49-F238E27FC236}">
                <a16:creationId xmlns:a16="http://schemas.microsoft.com/office/drawing/2014/main" id="{4682E2AF-15C9-92A6-7276-7A02B93903F3}"/>
              </a:ext>
            </a:extLst>
          </p:cNvPr>
          <p:cNvSpPr txBox="1">
            <a:spLocks/>
          </p:cNvSpPr>
          <p:nvPr/>
        </p:nvSpPr>
        <p:spPr>
          <a:xfrm>
            <a:off x="7470616" y="542173"/>
            <a:ext cx="2723667" cy="28921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1100" b="1" dirty="0"/>
              <a:t>Costo de la mano de obra </a:t>
            </a:r>
            <a:br>
              <a:rPr lang="es-ES" sz="1100" b="1" dirty="0"/>
            </a:br>
            <a:r>
              <a:rPr lang="es-ES" sz="1100" b="1" dirty="0"/>
              <a:t>(Índice, 2018=100)</a:t>
            </a:r>
            <a:endParaRPr lang="es-CL" sz="1100" b="1" dirty="0"/>
          </a:p>
        </p:txBody>
      </p:sp>
      <p:sp>
        <p:nvSpPr>
          <p:cNvPr id="11" name="CuadroTexto 10">
            <a:extLst>
              <a:ext uri="{FF2B5EF4-FFF2-40B4-BE49-F238E27FC236}">
                <a16:creationId xmlns:a16="http://schemas.microsoft.com/office/drawing/2014/main" id="{78F4030D-6446-76BC-7111-389ABA7F653F}"/>
              </a:ext>
            </a:extLst>
          </p:cNvPr>
          <p:cNvSpPr txBox="1"/>
          <p:nvPr/>
        </p:nvSpPr>
        <p:spPr>
          <a:xfrm>
            <a:off x="431543" y="5267572"/>
            <a:ext cx="10125512" cy="1446550"/>
          </a:xfrm>
          <a:prstGeom prst="rect">
            <a:avLst/>
          </a:prstGeom>
          <a:noFill/>
        </p:spPr>
        <p:txBody>
          <a:bodyPr wrap="square" rtlCol="0">
            <a:spAutoFit/>
          </a:bodyPr>
          <a:lstStyle/>
          <a:p>
            <a:pPr marL="171450" indent="-171450">
              <a:buFont typeface="Arial" panose="020B0604020202020204" pitchFamily="34" charset="0"/>
              <a:buChar char="•"/>
            </a:pPr>
            <a:r>
              <a:rPr lang="es-ES" sz="1100" b="1" dirty="0"/>
              <a:t>Chile:</a:t>
            </a:r>
            <a:r>
              <a:rPr lang="es-ES" sz="1100" dirty="0"/>
              <a:t> la productividad laboral muestra gran volatilidad, con caídas fuertes en 2019–2020 y un repunte puntual en 2021, mientras el costo laboral mantiene una trayectoria ascendente constante, revelando un desajuste persistente entre eficiencia y remuneraciones.</a:t>
            </a:r>
          </a:p>
          <a:p>
            <a:endParaRPr lang="es-ES" sz="1100" dirty="0"/>
          </a:p>
          <a:p>
            <a:pPr marL="171450" indent="-171450">
              <a:buFont typeface="Arial" panose="020B0604020202020204" pitchFamily="34" charset="0"/>
              <a:buChar char="•"/>
            </a:pPr>
            <a:r>
              <a:rPr lang="es-ES" sz="1100" b="1" dirty="0"/>
              <a:t>México</a:t>
            </a:r>
            <a:r>
              <a:rPr lang="es-ES" sz="1100" dirty="0"/>
              <a:t>: tras 2021, la productividad se mantiene positiva aunque irregular, pero los costos laborales crecen aceleradamente hasta 2023, reflejando un desacople estructural más profundo.</a:t>
            </a:r>
          </a:p>
          <a:p>
            <a:endParaRPr lang="es-ES" sz="1100" dirty="0"/>
          </a:p>
          <a:p>
            <a:r>
              <a:rPr lang="es-ES" sz="1100" dirty="0"/>
              <a:t>En conjunto: la brecha más marcada se observa en México, donde los salarios superan sostenidamente a la productividad, posiblemente por procesos de tecnificación y concentración en empleos especializados.</a:t>
            </a:r>
          </a:p>
        </p:txBody>
      </p:sp>
      <p:sp>
        <p:nvSpPr>
          <p:cNvPr id="4" name="CuadroTexto 3">
            <a:extLst>
              <a:ext uri="{FF2B5EF4-FFF2-40B4-BE49-F238E27FC236}">
                <a16:creationId xmlns:a16="http://schemas.microsoft.com/office/drawing/2014/main" id="{96ECB9FE-E01B-E470-3016-8B892FF92C44}"/>
              </a:ext>
            </a:extLst>
          </p:cNvPr>
          <p:cNvSpPr txBox="1"/>
          <p:nvPr/>
        </p:nvSpPr>
        <p:spPr>
          <a:xfrm>
            <a:off x="151010" y="126675"/>
            <a:ext cx="2021739" cy="830997"/>
          </a:xfrm>
          <a:prstGeom prst="rect">
            <a:avLst/>
          </a:prstGeom>
          <a:noFill/>
        </p:spPr>
        <p:txBody>
          <a:bodyPr wrap="square" rtlCol="0">
            <a:spAutoFit/>
          </a:bodyPr>
          <a:lstStyle/>
          <a:p>
            <a:r>
              <a:rPr lang="es-ES" sz="1200" b="1" i="1" dirty="0"/>
              <a:t>Producción de películas, videos y programas de TV, grabación de sonido y edición musical</a:t>
            </a:r>
            <a:endParaRPr lang="es-CL" sz="1200" b="1" i="1" dirty="0"/>
          </a:p>
        </p:txBody>
      </p:sp>
      <p:sp>
        <p:nvSpPr>
          <p:cNvPr id="5" name="CuadroTexto 4">
            <a:extLst>
              <a:ext uri="{FF2B5EF4-FFF2-40B4-BE49-F238E27FC236}">
                <a16:creationId xmlns:a16="http://schemas.microsoft.com/office/drawing/2014/main" id="{E92BFC75-D64C-9538-D239-E87992870969}"/>
              </a:ext>
            </a:extLst>
          </p:cNvPr>
          <p:cNvSpPr txBox="1"/>
          <p:nvPr/>
        </p:nvSpPr>
        <p:spPr>
          <a:xfrm>
            <a:off x="431543" y="4823782"/>
            <a:ext cx="4714613" cy="369332"/>
          </a:xfrm>
          <a:prstGeom prst="rect">
            <a:avLst/>
          </a:prstGeom>
          <a:noFill/>
        </p:spPr>
        <p:txBody>
          <a:bodyPr wrap="square" rtlCol="0">
            <a:spAutoFit/>
          </a:bodyPr>
          <a:lstStyle/>
          <a:p>
            <a:r>
              <a:rPr lang="es-ES" sz="900" dirty="0"/>
              <a:t>Nota: México realizó un cambio metodológico en 2018. Las cifras 2016 y 2017 están con la metodología del año 2013</a:t>
            </a:r>
            <a:endParaRPr lang="es-CL" sz="900" dirty="0"/>
          </a:p>
        </p:txBody>
      </p:sp>
      <p:graphicFrame>
        <p:nvGraphicFramePr>
          <p:cNvPr id="10" name="Gráfico 9">
            <a:extLst>
              <a:ext uri="{FF2B5EF4-FFF2-40B4-BE49-F238E27FC236}">
                <a16:creationId xmlns:a16="http://schemas.microsoft.com/office/drawing/2014/main" id="{1E6D0319-1100-17AE-4BCA-190AC6268249}"/>
              </a:ext>
            </a:extLst>
          </p:cNvPr>
          <p:cNvGraphicFramePr>
            <a:graphicFrameLocks noGrp="1"/>
          </p:cNvGraphicFramePr>
          <p:nvPr>
            <p:extLst>
              <p:ext uri="{D42A27DB-BD31-4B8C-83A1-F6EECF244321}">
                <p14:modId xmlns:p14="http://schemas.microsoft.com/office/powerpoint/2010/main" val="4269537039"/>
              </p:ext>
            </p:extLst>
          </p:nvPr>
        </p:nvGraphicFramePr>
        <p:xfrm>
          <a:off x="343950" y="1201007"/>
          <a:ext cx="5478010" cy="343808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Gráfico 11">
            <a:extLst>
              <a:ext uri="{FF2B5EF4-FFF2-40B4-BE49-F238E27FC236}">
                <a16:creationId xmlns:a16="http://schemas.microsoft.com/office/drawing/2014/main" id="{09D17A28-C5BB-34D3-CD6F-B855102EA497}"/>
              </a:ext>
            </a:extLst>
          </p:cNvPr>
          <p:cNvGraphicFramePr>
            <a:graphicFrameLocks noGrp="1"/>
          </p:cNvGraphicFramePr>
          <p:nvPr>
            <p:extLst>
              <p:ext uri="{D42A27DB-BD31-4B8C-83A1-F6EECF244321}">
                <p14:modId xmlns:p14="http://schemas.microsoft.com/office/powerpoint/2010/main" val="1621020639"/>
              </p:ext>
            </p:extLst>
          </p:nvPr>
        </p:nvGraphicFramePr>
        <p:xfrm>
          <a:off x="6644081" y="1201007"/>
          <a:ext cx="4994248" cy="343808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3099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A556923C-B9F0-3321-0DAA-B51042F9EA78}"/>
              </a:ext>
            </a:extLst>
          </p:cNvPr>
          <p:cNvSpPr txBox="1"/>
          <p:nvPr/>
        </p:nvSpPr>
        <p:spPr>
          <a:xfrm>
            <a:off x="1029478" y="270587"/>
            <a:ext cx="5066522" cy="461665"/>
          </a:xfrm>
          <a:prstGeom prst="rect">
            <a:avLst/>
          </a:prstGeom>
          <a:noFill/>
        </p:spPr>
        <p:txBody>
          <a:bodyPr wrap="square" rtlCol="0">
            <a:spAutoFit/>
          </a:bodyPr>
          <a:lstStyle/>
          <a:p>
            <a:r>
              <a:rPr lang="es-ES" sz="2400" b="1" dirty="0"/>
              <a:t>Variación acumulada: 2016-2023</a:t>
            </a:r>
            <a:endParaRPr lang="es-CL" sz="2400" b="1" dirty="0"/>
          </a:p>
        </p:txBody>
      </p:sp>
      <p:graphicFrame>
        <p:nvGraphicFramePr>
          <p:cNvPr id="14" name="CuadroTexto 9">
            <a:extLst>
              <a:ext uri="{FF2B5EF4-FFF2-40B4-BE49-F238E27FC236}">
                <a16:creationId xmlns:a16="http://schemas.microsoft.com/office/drawing/2014/main" id="{89AD51E3-330E-F303-B495-F599E39D469E}"/>
              </a:ext>
            </a:extLst>
          </p:cNvPr>
          <p:cNvGraphicFramePr/>
          <p:nvPr>
            <p:extLst>
              <p:ext uri="{D42A27DB-BD31-4B8C-83A1-F6EECF244321}">
                <p14:modId xmlns:p14="http://schemas.microsoft.com/office/powerpoint/2010/main" val="4191501717"/>
              </p:ext>
            </p:extLst>
          </p:nvPr>
        </p:nvGraphicFramePr>
        <p:xfrm>
          <a:off x="1078527" y="4116502"/>
          <a:ext cx="9713298" cy="23653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CuadroTexto 3">
            <a:extLst>
              <a:ext uri="{FF2B5EF4-FFF2-40B4-BE49-F238E27FC236}">
                <a16:creationId xmlns:a16="http://schemas.microsoft.com/office/drawing/2014/main" id="{92B9FD89-04C3-9E73-F2CF-244AA3C6F8B6}"/>
              </a:ext>
            </a:extLst>
          </p:cNvPr>
          <p:cNvSpPr txBox="1"/>
          <p:nvPr/>
        </p:nvSpPr>
        <p:spPr>
          <a:xfrm>
            <a:off x="1078527" y="3607568"/>
            <a:ext cx="8719814" cy="553998"/>
          </a:xfrm>
          <a:prstGeom prst="rect">
            <a:avLst/>
          </a:prstGeom>
          <a:noFill/>
        </p:spPr>
        <p:txBody>
          <a:bodyPr wrap="square" rtlCol="0">
            <a:spAutoFit/>
          </a:bodyPr>
          <a:lstStyle/>
          <a:p>
            <a:r>
              <a:rPr lang="es-ES" sz="1000" dirty="0"/>
              <a:t>Nota: La brecha calculada es la diferencia porcentual entre la productividad y el costo laboral y solo refleja una variación cardinal. Si es mayor que cero hay una     pérdida </a:t>
            </a:r>
            <a:r>
              <a:rPr lang="es-ES" sz="1000"/>
              <a:t>de competitividad, </a:t>
            </a:r>
            <a:r>
              <a:rPr lang="es-ES" sz="1000" dirty="0"/>
              <a:t>si es menor que cero hay una ganancia de competitividad y si es igual a cero se mantiene.</a:t>
            </a:r>
          </a:p>
          <a:p>
            <a:r>
              <a:rPr lang="es-ES" sz="1000" dirty="0"/>
              <a:t>Chile considera el período 2016-2022(último año disponible)</a:t>
            </a:r>
            <a:endParaRPr lang="es-CL" sz="1000" dirty="0"/>
          </a:p>
        </p:txBody>
      </p:sp>
      <p:pic>
        <p:nvPicPr>
          <p:cNvPr id="7" name="Imagen 6">
            <a:extLst>
              <a:ext uri="{FF2B5EF4-FFF2-40B4-BE49-F238E27FC236}">
                <a16:creationId xmlns:a16="http://schemas.microsoft.com/office/drawing/2014/main" id="{A118F551-1CEC-5AEB-D17F-7121FC612065}"/>
              </a:ext>
            </a:extLst>
          </p:cNvPr>
          <p:cNvPicPr>
            <a:picLocks noChangeAspect="1"/>
          </p:cNvPicPr>
          <p:nvPr/>
        </p:nvPicPr>
        <p:blipFill>
          <a:blip r:embed="rId7"/>
          <a:stretch>
            <a:fillRect/>
          </a:stretch>
        </p:blipFill>
        <p:spPr>
          <a:xfrm>
            <a:off x="1152803" y="905383"/>
            <a:ext cx="8676261" cy="2747249"/>
          </a:xfrm>
          <a:prstGeom prst="rect">
            <a:avLst/>
          </a:prstGeom>
        </p:spPr>
      </p:pic>
    </p:spTree>
    <p:extLst>
      <p:ext uri="{BB962C8B-B14F-4D97-AF65-F5344CB8AC3E}">
        <p14:creationId xmlns:p14="http://schemas.microsoft.com/office/powerpoint/2010/main" val="3160126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874EF188-ECF2-693D-F4F3-9E091BA7B6E9}"/>
              </a:ext>
            </a:extLst>
          </p:cNvPr>
          <p:cNvSpPr txBox="1"/>
          <p:nvPr/>
        </p:nvSpPr>
        <p:spPr>
          <a:xfrm>
            <a:off x="1912690" y="6209515"/>
            <a:ext cx="5096634" cy="246221"/>
          </a:xfrm>
          <a:prstGeom prst="rect">
            <a:avLst/>
          </a:prstGeom>
          <a:noFill/>
        </p:spPr>
        <p:txBody>
          <a:bodyPr wrap="square" rtlCol="0">
            <a:spAutoFit/>
          </a:bodyPr>
          <a:lstStyle/>
          <a:p>
            <a:r>
              <a:rPr lang="es-ES" sz="1000" dirty="0"/>
              <a:t>Fuente: BADECON CEPAL</a:t>
            </a:r>
          </a:p>
        </p:txBody>
      </p:sp>
      <p:pic>
        <p:nvPicPr>
          <p:cNvPr id="5" name="Imagen 4">
            <a:extLst>
              <a:ext uri="{FF2B5EF4-FFF2-40B4-BE49-F238E27FC236}">
                <a16:creationId xmlns:a16="http://schemas.microsoft.com/office/drawing/2014/main" id="{27FB5216-5618-7B83-56E3-57822EAF910E}"/>
              </a:ext>
            </a:extLst>
          </p:cNvPr>
          <p:cNvPicPr>
            <a:picLocks noChangeAspect="1"/>
          </p:cNvPicPr>
          <p:nvPr/>
        </p:nvPicPr>
        <p:blipFill>
          <a:blip r:embed="rId2"/>
          <a:stretch>
            <a:fillRect/>
          </a:stretch>
        </p:blipFill>
        <p:spPr>
          <a:xfrm>
            <a:off x="1987420" y="506712"/>
            <a:ext cx="7688425" cy="5578539"/>
          </a:xfrm>
          <a:prstGeom prst="rect">
            <a:avLst/>
          </a:prstGeom>
        </p:spPr>
      </p:pic>
    </p:spTree>
    <p:extLst>
      <p:ext uri="{BB962C8B-B14F-4D97-AF65-F5344CB8AC3E}">
        <p14:creationId xmlns:p14="http://schemas.microsoft.com/office/powerpoint/2010/main" val="1662102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874EF188-ECF2-693D-F4F3-9E091BA7B6E9}"/>
              </a:ext>
            </a:extLst>
          </p:cNvPr>
          <p:cNvSpPr txBox="1"/>
          <p:nvPr/>
        </p:nvSpPr>
        <p:spPr>
          <a:xfrm>
            <a:off x="1828715" y="5967917"/>
            <a:ext cx="5096634" cy="553998"/>
          </a:xfrm>
          <a:prstGeom prst="rect">
            <a:avLst/>
          </a:prstGeom>
          <a:noFill/>
        </p:spPr>
        <p:txBody>
          <a:bodyPr wrap="square" rtlCol="0">
            <a:spAutoFit/>
          </a:bodyPr>
          <a:lstStyle/>
          <a:p>
            <a:r>
              <a:rPr lang="es-ES" sz="1000" dirty="0"/>
              <a:t>Fuente: BADECON CEPAL</a:t>
            </a:r>
          </a:p>
          <a:p>
            <a:r>
              <a:rPr lang="es-ES" sz="1000" dirty="0"/>
              <a:t>Información al último año disponible: Brasil(2021), Colombia (2022), Ecuador (2023), </a:t>
            </a:r>
          </a:p>
          <a:p>
            <a:r>
              <a:rPr lang="es-ES" sz="1000" dirty="0"/>
              <a:t>Uruguay (2019), Chile (2022), México (2023), Perú(2019)</a:t>
            </a:r>
            <a:endParaRPr lang="es-CL" sz="1000" dirty="0"/>
          </a:p>
        </p:txBody>
      </p:sp>
      <p:pic>
        <p:nvPicPr>
          <p:cNvPr id="10" name="Imagen 9">
            <a:extLst>
              <a:ext uri="{FF2B5EF4-FFF2-40B4-BE49-F238E27FC236}">
                <a16:creationId xmlns:a16="http://schemas.microsoft.com/office/drawing/2014/main" id="{93097355-F92E-61B2-8706-3F5E88856FEB}"/>
              </a:ext>
            </a:extLst>
          </p:cNvPr>
          <p:cNvPicPr>
            <a:picLocks noChangeAspect="1"/>
          </p:cNvPicPr>
          <p:nvPr/>
        </p:nvPicPr>
        <p:blipFill>
          <a:blip r:embed="rId2"/>
          <a:stretch>
            <a:fillRect/>
          </a:stretch>
        </p:blipFill>
        <p:spPr>
          <a:xfrm>
            <a:off x="1912690" y="433494"/>
            <a:ext cx="7477110" cy="5422021"/>
          </a:xfrm>
          <a:prstGeom prst="rect">
            <a:avLst/>
          </a:prstGeom>
        </p:spPr>
      </p:pic>
    </p:spTree>
    <p:extLst>
      <p:ext uri="{BB962C8B-B14F-4D97-AF65-F5344CB8AC3E}">
        <p14:creationId xmlns:p14="http://schemas.microsoft.com/office/powerpoint/2010/main" val="327345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4F624E4-EFD6-5102-360E-57F3E588B1B6}"/>
              </a:ext>
            </a:extLst>
          </p:cNvPr>
          <p:cNvPicPr>
            <a:picLocks noChangeAspect="1"/>
          </p:cNvPicPr>
          <p:nvPr/>
        </p:nvPicPr>
        <p:blipFill>
          <a:blip r:embed="rId2"/>
          <a:stretch>
            <a:fillRect/>
          </a:stretch>
        </p:blipFill>
        <p:spPr>
          <a:xfrm>
            <a:off x="1023457" y="722205"/>
            <a:ext cx="7125749" cy="5413590"/>
          </a:xfrm>
          <a:prstGeom prst="rect">
            <a:avLst/>
          </a:prstGeom>
        </p:spPr>
      </p:pic>
      <p:sp>
        <p:nvSpPr>
          <p:cNvPr id="6" name="CuadroTexto 5">
            <a:extLst>
              <a:ext uri="{FF2B5EF4-FFF2-40B4-BE49-F238E27FC236}">
                <a16:creationId xmlns:a16="http://schemas.microsoft.com/office/drawing/2014/main" id="{C215E08F-7E81-E140-5DC4-B3A632AF3535}"/>
              </a:ext>
            </a:extLst>
          </p:cNvPr>
          <p:cNvSpPr txBox="1"/>
          <p:nvPr/>
        </p:nvSpPr>
        <p:spPr>
          <a:xfrm>
            <a:off x="1023457" y="6273889"/>
            <a:ext cx="7587143" cy="553998"/>
          </a:xfrm>
          <a:prstGeom prst="rect">
            <a:avLst/>
          </a:prstGeom>
          <a:noFill/>
        </p:spPr>
        <p:txBody>
          <a:bodyPr wrap="square" rtlCol="0">
            <a:spAutoFit/>
          </a:bodyPr>
          <a:lstStyle/>
          <a:p>
            <a:r>
              <a:rPr lang="es-ES" sz="1000" dirty="0"/>
              <a:t>Fuente: BADECON CEPAL</a:t>
            </a:r>
            <a:r>
              <a:rPr lang="es-CL" sz="1000" dirty="0"/>
              <a:t> </a:t>
            </a:r>
          </a:p>
          <a:p>
            <a:r>
              <a:rPr lang="es-CL" sz="1000" dirty="0"/>
              <a:t>a: Análisis basado en 12 divisiones de Manufactura, Comercio e Información y Comunicaciones</a:t>
            </a:r>
          </a:p>
          <a:p>
            <a:r>
              <a:rPr lang="es-CL" sz="1000" dirty="0"/>
              <a:t>b: Los coeficientes no son estadísticamente significativos</a:t>
            </a:r>
          </a:p>
        </p:txBody>
      </p:sp>
      <p:sp>
        <p:nvSpPr>
          <p:cNvPr id="7" name="Título 4">
            <a:extLst>
              <a:ext uri="{FF2B5EF4-FFF2-40B4-BE49-F238E27FC236}">
                <a16:creationId xmlns:a16="http://schemas.microsoft.com/office/drawing/2014/main" id="{4B3543EB-437B-2963-DADF-9FF0D42A1D31}"/>
              </a:ext>
            </a:extLst>
          </p:cNvPr>
          <p:cNvSpPr>
            <a:spLocks noGrp="1"/>
          </p:cNvSpPr>
          <p:nvPr>
            <p:ph type="title"/>
          </p:nvPr>
        </p:nvSpPr>
        <p:spPr>
          <a:xfrm>
            <a:off x="331189" y="153299"/>
            <a:ext cx="3997529" cy="674031"/>
          </a:xfrm>
          <a:noFill/>
        </p:spPr>
        <p:txBody>
          <a:bodyPr wrap="square" rtlCol="0">
            <a:spAutoFit/>
          </a:bodyPr>
          <a:lstStyle/>
          <a:p>
            <a:r>
              <a:rPr lang="en-US" sz="1400" b="1" i="1" dirty="0">
                <a:latin typeface="+mn-lt"/>
                <a:ea typeface="+mn-ea"/>
                <a:cs typeface="+mn-cs"/>
              </a:rPr>
              <a:t>El </a:t>
            </a:r>
            <a:r>
              <a:rPr lang="en-US" sz="1400" b="1" i="1" dirty="0" err="1">
                <a:latin typeface="+mn-lt"/>
                <a:ea typeface="+mn-ea"/>
                <a:cs typeface="+mn-cs"/>
              </a:rPr>
              <a:t>desacople</a:t>
            </a:r>
            <a:r>
              <a:rPr lang="en-US" sz="1400" b="1" i="1" dirty="0">
                <a:latin typeface="+mn-lt"/>
                <a:ea typeface="+mn-ea"/>
                <a:cs typeface="+mn-cs"/>
              </a:rPr>
              <a:t> entre </a:t>
            </a:r>
            <a:r>
              <a:rPr lang="en-US" sz="1400" b="1" i="1" dirty="0" err="1">
                <a:latin typeface="+mn-lt"/>
                <a:ea typeface="+mn-ea"/>
                <a:cs typeface="+mn-cs"/>
              </a:rPr>
              <a:t>productividad</a:t>
            </a:r>
            <a:r>
              <a:rPr lang="en-US" sz="1400" b="1" i="1" dirty="0">
                <a:latin typeface="+mn-lt"/>
                <a:ea typeface="+mn-ea"/>
                <a:cs typeface="+mn-cs"/>
              </a:rPr>
              <a:t> y </a:t>
            </a:r>
            <a:r>
              <a:rPr lang="en-US" sz="1400" b="1" i="1" dirty="0" err="1">
                <a:latin typeface="+mn-lt"/>
                <a:ea typeface="+mn-ea"/>
                <a:cs typeface="+mn-cs"/>
              </a:rPr>
              <a:t>costo</a:t>
            </a:r>
            <a:r>
              <a:rPr lang="en-US" sz="1400" b="1" i="1" dirty="0">
                <a:latin typeface="+mn-lt"/>
                <a:ea typeface="+mn-ea"/>
                <a:cs typeface="+mn-cs"/>
              </a:rPr>
              <a:t> </a:t>
            </a:r>
            <a:r>
              <a:rPr lang="en-US" sz="1400" b="1" i="1" dirty="0" err="1">
                <a:latin typeface="+mn-lt"/>
                <a:ea typeface="+mn-ea"/>
                <a:cs typeface="+mn-cs"/>
              </a:rPr>
              <a:t>laboral</a:t>
            </a:r>
            <a:r>
              <a:rPr lang="en-US" sz="1400" b="1" i="1" dirty="0">
                <a:latin typeface="+mn-lt"/>
                <a:ea typeface="+mn-ea"/>
                <a:cs typeface="+mn-cs"/>
              </a:rPr>
              <a:t> </a:t>
            </a:r>
            <a:r>
              <a:rPr lang="en-US" sz="1400" b="1" i="1" dirty="0" err="1">
                <a:latin typeface="+mn-lt"/>
                <a:ea typeface="+mn-ea"/>
                <a:cs typeface="+mn-cs"/>
              </a:rPr>
              <a:t>consideranado</a:t>
            </a:r>
            <a:r>
              <a:rPr lang="en-US" sz="1400" b="1" i="1" dirty="0">
                <a:latin typeface="+mn-lt"/>
                <a:ea typeface="+mn-ea"/>
                <a:cs typeface="+mn-cs"/>
              </a:rPr>
              <a:t> un </a:t>
            </a:r>
            <a:r>
              <a:rPr lang="en-US" sz="1400" b="1" i="1" dirty="0" err="1">
                <a:latin typeface="+mn-lt"/>
                <a:ea typeface="+mn-ea"/>
                <a:cs typeface="+mn-cs"/>
              </a:rPr>
              <a:t>grupo</a:t>
            </a:r>
            <a:r>
              <a:rPr lang="en-US" sz="1400" b="1" i="1" dirty="0">
                <a:latin typeface="+mn-lt"/>
                <a:ea typeface="+mn-ea"/>
                <a:cs typeface="+mn-cs"/>
              </a:rPr>
              <a:t> </a:t>
            </a:r>
            <a:r>
              <a:rPr lang="en-US" sz="1400" b="1" i="1" dirty="0" err="1">
                <a:latin typeface="+mn-lt"/>
                <a:ea typeface="+mn-ea"/>
                <a:cs typeface="+mn-cs"/>
              </a:rPr>
              <a:t>más</a:t>
            </a:r>
            <a:r>
              <a:rPr lang="en-US" sz="1400" b="1" i="1" dirty="0">
                <a:latin typeface="+mn-lt"/>
                <a:ea typeface="+mn-ea"/>
                <a:cs typeface="+mn-cs"/>
              </a:rPr>
              <a:t> </a:t>
            </a:r>
            <a:r>
              <a:rPr lang="en-US" sz="1400" b="1" i="1" dirty="0" err="1">
                <a:latin typeface="+mn-lt"/>
                <a:ea typeface="+mn-ea"/>
                <a:cs typeface="+mn-cs"/>
              </a:rPr>
              <a:t>numeroso</a:t>
            </a:r>
            <a:r>
              <a:rPr lang="en-US" sz="1400" b="1" i="1" dirty="0">
                <a:latin typeface="+mn-lt"/>
                <a:ea typeface="+mn-ea"/>
                <a:cs typeface="+mn-cs"/>
              </a:rPr>
              <a:t> de </a:t>
            </a:r>
            <a:r>
              <a:rPr lang="en-US" sz="1400" b="1" i="1" dirty="0" err="1">
                <a:latin typeface="+mn-lt"/>
                <a:ea typeface="+mn-ea"/>
                <a:cs typeface="+mn-cs"/>
              </a:rPr>
              <a:t>industrias</a:t>
            </a:r>
            <a:r>
              <a:rPr lang="en-US" sz="1400" b="1" i="1" dirty="0">
                <a:latin typeface="+mn-lt"/>
                <a:ea typeface="+mn-ea"/>
                <a:cs typeface="+mn-cs"/>
              </a:rPr>
              <a:t>.</a:t>
            </a:r>
          </a:p>
        </p:txBody>
      </p:sp>
      <p:sp>
        <p:nvSpPr>
          <p:cNvPr id="8" name="CuadroTexto 7">
            <a:extLst>
              <a:ext uri="{FF2B5EF4-FFF2-40B4-BE49-F238E27FC236}">
                <a16:creationId xmlns:a16="http://schemas.microsoft.com/office/drawing/2014/main" id="{F0110E89-17E1-97F6-CE9E-2923EC8B9A5A}"/>
              </a:ext>
            </a:extLst>
          </p:cNvPr>
          <p:cNvSpPr txBox="1"/>
          <p:nvPr/>
        </p:nvSpPr>
        <p:spPr>
          <a:xfrm>
            <a:off x="8534157" y="827330"/>
            <a:ext cx="1832153" cy="4524315"/>
          </a:xfrm>
          <a:prstGeom prst="rect">
            <a:avLst/>
          </a:prstGeom>
          <a:noFill/>
        </p:spPr>
        <p:txBody>
          <a:bodyPr wrap="square" rtlCol="0">
            <a:spAutoFit/>
          </a:bodyPr>
          <a:lstStyle/>
          <a:p>
            <a:r>
              <a:rPr lang="es-ES" sz="1200" dirty="0"/>
              <a:t>Chile y México muestran una relación débil e incluso ligeramente negativa entre productividad laboral (VA/EMP) y costo de la mano de obra (REM/EMP). En ambos casos, los incrementos en los costos laborales no se asocian con mejoras equivalentes en productividad, lo que sugiere un </a:t>
            </a:r>
            <a:r>
              <a:rPr lang="es-ES" sz="1200" b="1" dirty="0"/>
              <a:t>desacople parcial</a:t>
            </a:r>
            <a:r>
              <a:rPr lang="es-ES" sz="1200" dirty="0"/>
              <a:t> entre eficiencia y remuneraciones. Esto refleja que los salarios no están respondiendo directamente a los cambios en productividad, sino más bien a factores coyunturales o institucionales del mercado laboral.</a:t>
            </a:r>
          </a:p>
        </p:txBody>
      </p:sp>
    </p:spTree>
    <p:extLst>
      <p:ext uri="{BB962C8B-B14F-4D97-AF65-F5344CB8AC3E}">
        <p14:creationId xmlns:p14="http://schemas.microsoft.com/office/powerpoint/2010/main" val="892505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ítulo 4">
            <a:extLst>
              <a:ext uri="{FF2B5EF4-FFF2-40B4-BE49-F238E27FC236}">
                <a16:creationId xmlns:a16="http://schemas.microsoft.com/office/drawing/2014/main" id="{A157EB07-3BB4-7D59-F30E-81E7F8C2AB27}"/>
              </a:ext>
            </a:extLst>
          </p:cNvPr>
          <p:cNvSpPr>
            <a:spLocks noGrp="1"/>
          </p:cNvSpPr>
          <p:nvPr>
            <p:ph type="title"/>
          </p:nvPr>
        </p:nvSpPr>
        <p:spPr>
          <a:xfrm>
            <a:off x="326472" y="180868"/>
            <a:ext cx="3624743" cy="286232"/>
          </a:xfrm>
          <a:noFill/>
        </p:spPr>
        <p:txBody>
          <a:bodyPr wrap="square" rtlCol="0">
            <a:spAutoFit/>
          </a:bodyPr>
          <a:lstStyle/>
          <a:p>
            <a:r>
              <a:rPr lang="en-US" sz="1400" b="1" i="1" dirty="0">
                <a:latin typeface="+mn-lt"/>
                <a:ea typeface="+mn-ea"/>
                <a:cs typeface="+mn-cs"/>
              </a:rPr>
              <a:t>Trade off </a:t>
            </a:r>
            <a:r>
              <a:rPr lang="en-US" sz="1400" b="1" i="1" dirty="0" err="1">
                <a:latin typeface="+mn-lt"/>
                <a:ea typeface="+mn-ea"/>
                <a:cs typeface="+mn-cs"/>
              </a:rPr>
              <a:t>productividad-empleo-crecimiento</a:t>
            </a:r>
            <a:endParaRPr lang="en-US" sz="1400" b="1" i="1" dirty="0">
              <a:latin typeface="+mn-lt"/>
              <a:ea typeface="+mn-ea"/>
              <a:cs typeface="+mn-cs"/>
            </a:endParaRPr>
          </a:p>
        </p:txBody>
      </p:sp>
      <p:pic>
        <p:nvPicPr>
          <p:cNvPr id="7" name="Imagen 6">
            <a:extLst>
              <a:ext uri="{FF2B5EF4-FFF2-40B4-BE49-F238E27FC236}">
                <a16:creationId xmlns:a16="http://schemas.microsoft.com/office/drawing/2014/main" id="{D0801487-E51A-81D9-0A78-07FD7E435CE5}"/>
              </a:ext>
            </a:extLst>
          </p:cNvPr>
          <p:cNvPicPr>
            <a:picLocks noChangeAspect="1"/>
          </p:cNvPicPr>
          <p:nvPr/>
        </p:nvPicPr>
        <p:blipFill>
          <a:blip r:embed="rId2"/>
          <a:stretch>
            <a:fillRect/>
          </a:stretch>
        </p:blipFill>
        <p:spPr>
          <a:xfrm>
            <a:off x="1774102" y="564050"/>
            <a:ext cx="7350061" cy="5594214"/>
          </a:xfrm>
          <a:prstGeom prst="rect">
            <a:avLst/>
          </a:prstGeom>
          <a:noFill/>
        </p:spPr>
      </p:pic>
      <p:sp>
        <p:nvSpPr>
          <p:cNvPr id="8" name="CuadroTexto 7">
            <a:extLst>
              <a:ext uri="{FF2B5EF4-FFF2-40B4-BE49-F238E27FC236}">
                <a16:creationId xmlns:a16="http://schemas.microsoft.com/office/drawing/2014/main" id="{1585C782-82A9-D6CB-288B-5665C299F412}"/>
              </a:ext>
            </a:extLst>
          </p:cNvPr>
          <p:cNvSpPr txBox="1"/>
          <p:nvPr/>
        </p:nvSpPr>
        <p:spPr>
          <a:xfrm>
            <a:off x="2029786" y="6170839"/>
            <a:ext cx="5353050" cy="553998"/>
          </a:xfrm>
          <a:prstGeom prst="rect">
            <a:avLst/>
          </a:prstGeom>
          <a:noFill/>
        </p:spPr>
        <p:txBody>
          <a:bodyPr wrap="square" rtlCol="0">
            <a:spAutoFit/>
          </a:bodyPr>
          <a:lstStyle>
            <a:defPPr>
              <a:defRPr lang="es-CL"/>
            </a:defPPr>
            <a:lvl1pPr>
              <a:defRPr sz="1000"/>
            </a:lvl1pPr>
          </a:lstStyle>
          <a:p>
            <a:r>
              <a:rPr lang="es-ES" dirty="0"/>
              <a:t>Fuente: BADECON CEPAL</a:t>
            </a:r>
          </a:p>
          <a:p>
            <a:r>
              <a:rPr lang="es-ES" dirty="0"/>
              <a:t>a: 12 divisiones dentro de manufactura, comercio e información y comunicaciones</a:t>
            </a:r>
          </a:p>
          <a:p>
            <a:r>
              <a:rPr lang="es-ES" dirty="0"/>
              <a:t>b: el coeficiente de México es el único estadísticamente significativo al 90%</a:t>
            </a:r>
          </a:p>
        </p:txBody>
      </p:sp>
      <p:sp>
        <p:nvSpPr>
          <p:cNvPr id="2" name="CuadroTexto 1">
            <a:extLst>
              <a:ext uri="{FF2B5EF4-FFF2-40B4-BE49-F238E27FC236}">
                <a16:creationId xmlns:a16="http://schemas.microsoft.com/office/drawing/2014/main" id="{4E153E26-4BFB-917F-7EEE-003377C58A4E}"/>
              </a:ext>
            </a:extLst>
          </p:cNvPr>
          <p:cNvSpPr txBox="1"/>
          <p:nvPr/>
        </p:nvSpPr>
        <p:spPr>
          <a:xfrm>
            <a:off x="9931337" y="763137"/>
            <a:ext cx="1746138" cy="4708981"/>
          </a:xfrm>
          <a:prstGeom prst="rect">
            <a:avLst/>
          </a:prstGeom>
          <a:noFill/>
        </p:spPr>
        <p:txBody>
          <a:bodyPr wrap="square" rtlCol="0">
            <a:spAutoFit/>
          </a:bodyPr>
          <a:lstStyle/>
          <a:p>
            <a:r>
              <a:rPr lang="es-ES" sz="1200" dirty="0"/>
              <a:t>Chile y México presentan una relación negativa entre el crecimiento del empleo y de la productividad laboral. En ambos casos, los periodos de expansión del empleo no se traducen en aumentos de productividad, lo que sugiere un efecto de sustitución (más trabajadores generando incrementos en producción extensiva, pero no necesariamente en eficiencia). La alta dispersión y las pendientes cercanas a cero reflejan que la relación es débil y responde principalmente a fluctuaciones coyunturales.</a:t>
            </a:r>
          </a:p>
          <a:p>
            <a:endParaRPr lang="es-CL" sz="1200" dirty="0"/>
          </a:p>
        </p:txBody>
      </p:sp>
    </p:spTree>
    <p:extLst>
      <p:ext uri="{BB962C8B-B14F-4D97-AF65-F5344CB8AC3E}">
        <p14:creationId xmlns:p14="http://schemas.microsoft.com/office/powerpoint/2010/main" val="484641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descr="Gráfico, Gráfico de líneas&#10;&#10;Descripción generada automáticamente">
            <a:extLst>
              <a:ext uri="{FF2B5EF4-FFF2-40B4-BE49-F238E27FC236}">
                <a16:creationId xmlns:a16="http://schemas.microsoft.com/office/drawing/2014/main" id="{E8CFB2D1-4EFD-4D3E-2E22-8AAB52E6E8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124" y="420478"/>
            <a:ext cx="7706676" cy="4940087"/>
          </a:xfrm>
          <a:prstGeom prst="rect">
            <a:avLst/>
          </a:prstGeom>
        </p:spPr>
      </p:pic>
      <p:sp>
        <p:nvSpPr>
          <p:cNvPr id="7" name="CuadroTexto 6">
            <a:extLst>
              <a:ext uri="{FF2B5EF4-FFF2-40B4-BE49-F238E27FC236}">
                <a16:creationId xmlns:a16="http://schemas.microsoft.com/office/drawing/2014/main" id="{8C041FA8-E956-0C8B-5270-F2C1407EA14C}"/>
              </a:ext>
            </a:extLst>
          </p:cNvPr>
          <p:cNvSpPr txBox="1"/>
          <p:nvPr/>
        </p:nvSpPr>
        <p:spPr>
          <a:xfrm>
            <a:off x="463791" y="5511567"/>
            <a:ext cx="11391878" cy="707886"/>
          </a:xfrm>
          <a:prstGeom prst="rect">
            <a:avLst/>
          </a:prstGeom>
          <a:noFill/>
        </p:spPr>
        <p:txBody>
          <a:bodyPr wrap="square" rtlCol="0">
            <a:spAutoFit/>
          </a:bodyPr>
          <a:lstStyle/>
          <a:p>
            <a:r>
              <a:rPr lang="es-CL" sz="1000" dirty="0"/>
              <a:t>Fuente: BADECON CEPAL</a:t>
            </a:r>
          </a:p>
          <a:p>
            <a:r>
              <a:rPr lang="es-CL" sz="1000" dirty="0"/>
              <a:t>Nota: Se calcula con el Valor agregado, el Valor bruto de producción, el consumo intermedio, las remuneraciones y el empleo. Siendo el promedio cero, sobre el promedio es mas productivo y bajo el promedio es menos productivo.  </a:t>
            </a:r>
          </a:p>
          <a:p>
            <a:r>
              <a:rPr lang="es-CL" sz="1000" dirty="0"/>
              <a:t>Se calcula para 23 industrias de la manufactura a dos dígitos, disponibles con información en ambos países.</a:t>
            </a:r>
          </a:p>
        </p:txBody>
      </p:sp>
      <p:sp>
        <p:nvSpPr>
          <p:cNvPr id="8" name="CuadroTexto 7">
            <a:extLst>
              <a:ext uri="{FF2B5EF4-FFF2-40B4-BE49-F238E27FC236}">
                <a16:creationId xmlns:a16="http://schemas.microsoft.com/office/drawing/2014/main" id="{91A0C65F-E389-139E-37E8-E4076F657B67}"/>
              </a:ext>
            </a:extLst>
          </p:cNvPr>
          <p:cNvSpPr txBox="1"/>
          <p:nvPr/>
        </p:nvSpPr>
        <p:spPr>
          <a:xfrm>
            <a:off x="8352889" y="1367027"/>
            <a:ext cx="3229761" cy="3046988"/>
          </a:xfrm>
          <a:prstGeom prst="rect">
            <a:avLst/>
          </a:prstGeom>
          <a:noFill/>
        </p:spPr>
        <p:txBody>
          <a:bodyPr wrap="square" rtlCol="0">
            <a:spAutoFit/>
          </a:bodyPr>
          <a:lstStyle/>
          <a:p>
            <a:r>
              <a:rPr lang="es-ES" sz="1600" dirty="0">
                <a:sym typeface="Wingdings" panose="05000000000000000000" pitchFamily="2" charset="2"/>
              </a:rPr>
              <a:t> </a:t>
            </a:r>
            <a:r>
              <a:rPr lang="es-ES" sz="1600" dirty="0"/>
              <a:t>México muestra una trayectoria ascendente y estable, pasando de valores negativos (menor productividad relativa) a positivos desde 2021–2023.</a:t>
            </a:r>
          </a:p>
          <a:p>
            <a:endParaRPr lang="es-ES" sz="1600" dirty="0"/>
          </a:p>
          <a:p>
            <a:r>
              <a:rPr lang="es-ES" sz="1600" dirty="0">
                <a:sym typeface="Wingdings" panose="05000000000000000000" pitchFamily="2" charset="2"/>
              </a:rPr>
              <a:t> </a:t>
            </a:r>
            <a:r>
              <a:rPr lang="es-ES" sz="1600" dirty="0"/>
              <a:t>Chile exhibe alta variabilidad, con mejoras puntuales (2018, 2021) pero sin consolidar una tendencia sostenida, permaneciendo en niveles por debajo del promedio general.</a:t>
            </a:r>
          </a:p>
        </p:txBody>
      </p:sp>
    </p:spTree>
    <p:extLst>
      <p:ext uri="{BB962C8B-B14F-4D97-AF65-F5344CB8AC3E}">
        <p14:creationId xmlns:p14="http://schemas.microsoft.com/office/powerpoint/2010/main" val="2783382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97650EC-B586-C7FF-3867-B1C1D6E57DDB}"/>
              </a:ext>
            </a:extLst>
          </p:cNvPr>
          <p:cNvSpPr>
            <a:spLocks noGrp="1"/>
          </p:cNvSpPr>
          <p:nvPr>
            <p:ph type="title"/>
          </p:nvPr>
        </p:nvSpPr>
        <p:spPr>
          <a:xfrm>
            <a:off x="838200" y="365125"/>
            <a:ext cx="10515600" cy="1325563"/>
          </a:xfrm>
        </p:spPr>
        <p:txBody>
          <a:bodyPr>
            <a:normAutofit/>
          </a:bodyPr>
          <a:lstStyle/>
          <a:p>
            <a:r>
              <a:rPr lang="es-ES" sz="5400"/>
              <a:t>En definitiva…</a:t>
            </a:r>
            <a:endParaRPr lang="es-CL"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0363CB31-C96D-3E6C-13E3-0390C5EAAAB3}"/>
              </a:ext>
            </a:extLst>
          </p:cNvPr>
          <p:cNvSpPr>
            <a:spLocks noGrp="1"/>
          </p:cNvSpPr>
          <p:nvPr>
            <p:ph idx="1"/>
          </p:nvPr>
        </p:nvSpPr>
        <p:spPr>
          <a:xfrm>
            <a:off x="838200" y="1929384"/>
            <a:ext cx="10515600" cy="4251960"/>
          </a:xfrm>
        </p:spPr>
        <p:txBody>
          <a:bodyPr>
            <a:normAutofit fontScale="77500" lnSpcReduction="20000"/>
          </a:bodyPr>
          <a:lstStyle/>
          <a:p>
            <a:r>
              <a:rPr lang="es-ES" sz="2300" dirty="0"/>
              <a:t>La información disponible permite identificar variables claves para un análisis de productividad, donde se puede estudiar tendencias y comportamientos relevantes, aunque requiere un mayor desarrollo para capturar los ciclos completos.</a:t>
            </a:r>
          </a:p>
          <a:p>
            <a:r>
              <a:rPr lang="es-ES" sz="2300" dirty="0"/>
              <a:t>El análisis por subsectores aporta una visión más granular del desempeño económico, clave para comprender las dinámicas internas del sector, dada la heterogeneidad de las actividades económicas contenidas en los agregados.</a:t>
            </a:r>
          </a:p>
          <a:p>
            <a:r>
              <a:rPr lang="es-ES" sz="2300" dirty="0"/>
              <a:t>Es necesario profundizar en los determinantes estructurales que explican los comportamientos extremos observados.</a:t>
            </a:r>
          </a:p>
          <a:p>
            <a:r>
              <a:rPr lang="es-ES" sz="2300" dirty="0"/>
              <a:t>Estos hallazgos constituyen una base técnica para el diseño de políticas públicas más informadas y específicas.</a:t>
            </a:r>
          </a:p>
          <a:p>
            <a:r>
              <a:rPr lang="es-ES" sz="2300" dirty="0"/>
              <a:t>En particular la productividad laboral ha mostrado una desaceleración en el ritmo de crecimiento en las 3 industrias estudiadas para el Caso de Chile, mientras que México muestra un aumento en la actividad de Comercio.</a:t>
            </a:r>
          </a:p>
          <a:p>
            <a:r>
              <a:rPr lang="es-ES" sz="2300" dirty="0"/>
              <a:t>Para las 3 industrias y los dos países, se evidencia un aumento en el costo laboral en el periodo de estudio</a:t>
            </a:r>
          </a:p>
          <a:p>
            <a:r>
              <a:rPr lang="es-ES" sz="2300" dirty="0"/>
              <a:t>El índice compuesto de la productividad en la Manufactura muestra a México como un país más competitivo dada su sostenida dinámica ascendente.</a:t>
            </a:r>
          </a:p>
          <a:p>
            <a:endParaRPr lang="es-ES" sz="2200" dirty="0"/>
          </a:p>
        </p:txBody>
      </p:sp>
    </p:spTree>
    <p:extLst>
      <p:ext uri="{BB962C8B-B14F-4D97-AF65-F5344CB8AC3E}">
        <p14:creationId xmlns:p14="http://schemas.microsoft.com/office/powerpoint/2010/main" val="6141527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6A8D81-BBD5-AE60-1059-59C8B3D8AEE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2405A7-AF03-F5D1-550A-936616C2B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71898F4-FE0B-543F-A498-2FFFB2E06F11}"/>
              </a:ext>
            </a:extLst>
          </p:cNvPr>
          <p:cNvSpPr>
            <a:spLocks noGrp="1"/>
          </p:cNvSpPr>
          <p:nvPr>
            <p:ph type="title"/>
          </p:nvPr>
        </p:nvSpPr>
        <p:spPr>
          <a:xfrm>
            <a:off x="838200" y="365125"/>
            <a:ext cx="10515600" cy="1325563"/>
          </a:xfrm>
        </p:spPr>
        <p:txBody>
          <a:bodyPr>
            <a:normAutofit/>
          </a:bodyPr>
          <a:lstStyle/>
          <a:p>
            <a:r>
              <a:rPr lang="es-ES" sz="5400" dirty="0"/>
              <a:t>Reflexiones…</a:t>
            </a:r>
            <a:endParaRPr lang="es-CL" sz="5400" dirty="0"/>
          </a:p>
        </p:txBody>
      </p:sp>
      <p:sp>
        <p:nvSpPr>
          <p:cNvPr id="10" name="sketch line">
            <a:extLst>
              <a:ext uri="{FF2B5EF4-FFF2-40B4-BE49-F238E27FC236}">
                <a16:creationId xmlns:a16="http://schemas.microsoft.com/office/drawing/2014/main" id="{C07F3266-C5AD-7DE1-ACEC-EBCE8CD97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0432B63-5113-EEE7-0F91-4CFC055A4D6C}"/>
              </a:ext>
            </a:extLst>
          </p:cNvPr>
          <p:cNvSpPr>
            <a:spLocks noGrp="1"/>
          </p:cNvSpPr>
          <p:nvPr>
            <p:ph idx="1"/>
          </p:nvPr>
        </p:nvSpPr>
        <p:spPr>
          <a:xfrm>
            <a:off x="838200" y="1929384"/>
            <a:ext cx="10515600" cy="4251960"/>
          </a:xfrm>
        </p:spPr>
        <p:txBody>
          <a:bodyPr>
            <a:normAutofit/>
          </a:bodyPr>
          <a:lstStyle/>
          <a:p>
            <a:r>
              <a:rPr lang="es-MX" sz="2300" dirty="0"/>
              <a:t>La evidencia sectorial generada a partir de BADECON constituye un insumo clave para el diagnóstico económico y la formulación de políticas públicas basadas en evidencia.</a:t>
            </a:r>
          </a:p>
          <a:p>
            <a:r>
              <a:rPr lang="es-MX" sz="2300" dirty="0"/>
              <a:t>El análisis de productividad y competitividad permite identificar sectores con potencial de crecimiento y aquellos que requieren atención específica.</a:t>
            </a:r>
          </a:p>
          <a:p>
            <a:r>
              <a:rPr lang="es-MX" sz="2300" dirty="0"/>
              <a:t>Avanzar en la estandarización y actualización de la información fortalece la capacidad de los países para monitorear su desempeño económico de manera continua y comparable.</a:t>
            </a:r>
          </a:p>
          <a:p>
            <a:r>
              <a:rPr lang="es-MX" sz="2300" dirty="0"/>
              <a:t>La información recolectada puede integrarse con otros marcos analíticos de la CEPAL, potenciando su uso por distintas divisiones y proyectos.</a:t>
            </a:r>
          </a:p>
          <a:p>
            <a:endParaRPr lang="es-ES" sz="2200" dirty="0"/>
          </a:p>
        </p:txBody>
      </p:sp>
    </p:spTree>
    <p:extLst>
      <p:ext uri="{BB962C8B-B14F-4D97-AF65-F5344CB8AC3E}">
        <p14:creationId xmlns:p14="http://schemas.microsoft.com/office/powerpoint/2010/main" val="26613001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EC71566-7A69-EB36-21FE-F04924EA86A8}"/>
              </a:ext>
            </a:extLst>
          </p:cNvPr>
          <p:cNvSpPr>
            <a:spLocks noGrp="1"/>
          </p:cNvSpPr>
          <p:nvPr>
            <p:ph type="title"/>
          </p:nvPr>
        </p:nvSpPr>
        <p:spPr>
          <a:xfrm>
            <a:off x="838200" y="365125"/>
            <a:ext cx="10515600" cy="1325563"/>
          </a:xfrm>
        </p:spPr>
        <p:txBody>
          <a:bodyPr>
            <a:normAutofit/>
          </a:bodyPr>
          <a:lstStyle/>
          <a:p>
            <a:r>
              <a:rPr lang="es-CL" sz="5400" dirty="0"/>
              <a:t>Anexos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83884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E64ECB87-F9EF-7864-03B4-B8CC31B2E2F9}"/>
              </a:ext>
            </a:extLst>
          </p:cNvPr>
          <p:cNvSpPr txBox="1"/>
          <p:nvPr/>
        </p:nvSpPr>
        <p:spPr>
          <a:xfrm>
            <a:off x="2337318" y="727788"/>
            <a:ext cx="2071396" cy="523220"/>
          </a:xfrm>
          <a:prstGeom prst="rect">
            <a:avLst/>
          </a:prstGeom>
          <a:noFill/>
        </p:spPr>
        <p:txBody>
          <a:bodyPr wrap="square" rtlCol="0">
            <a:spAutoFit/>
          </a:bodyPr>
          <a:lstStyle/>
          <a:p>
            <a:pPr algn="ctr"/>
            <a:r>
              <a:rPr lang="es-CL" sz="1400" dirty="0"/>
              <a:t>Valor agregado</a:t>
            </a:r>
          </a:p>
          <a:p>
            <a:pPr algn="ctr"/>
            <a:r>
              <a:rPr lang="es-CL" sz="1400" dirty="0"/>
              <a:t>(Índice, 2018=100)</a:t>
            </a:r>
          </a:p>
        </p:txBody>
      </p:sp>
      <p:sp>
        <p:nvSpPr>
          <p:cNvPr id="9" name="CuadroTexto 8">
            <a:extLst>
              <a:ext uri="{FF2B5EF4-FFF2-40B4-BE49-F238E27FC236}">
                <a16:creationId xmlns:a16="http://schemas.microsoft.com/office/drawing/2014/main" id="{8A449046-916F-E0B1-F606-3733A4236E76}"/>
              </a:ext>
            </a:extLst>
          </p:cNvPr>
          <p:cNvSpPr txBox="1"/>
          <p:nvPr/>
        </p:nvSpPr>
        <p:spPr>
          <a:xfrm>
            <a:off x="8135509" y="727788"/>
            <a:ext cx="2071396" cy="523220"/>
          </a:xfrm>
          <a:prstGeom prst="rect">
            <a:avLst/>
          </a:prstGeom>
          <a:noFill/>
        </p:spPr>
        <p:txBody>
          <a:bodyPr wrap="square" rtlCol="0">
            <a:spAutoFit/>
          </a:bodyPr>
          <a:lstStyle/>
          <a:p>
            <a:pPr algn="ctr"/>
            <a:r>
              <a:rPr lang="es-CL" sz="1400" dirty="0"/>
              <a:t>Ocupados</a:t>
            </a:r>
          </a:p>
          <a:p>
            <a:pPr algn="ctr"/>
            <a:r>
              <a:rPr lang="es-CL" sz="1400" dirty="0"/>
              <a:t>(Índice, 2018=100)</a:t>
            </a:r>
          </a:p>
        </p:txBody>
      </p:sp>
      <p:sp>
        <p:nvSpPr>
          <p:cNvPr id="10" name="CuadroTexto 9">
            <a:extLst>
              <a:ext uri="{FF2B5EF4-FFF2-40B4-BE49-F238E27FC236}">
                <a16:creationId xmlns:a16="http://schemas.microsoft.com/office/drawing/2014/main" id="{D73D4D9A-8416-C810-5736-F3EC1CA6BBBB}"/>
              </a:ext>
            </a:extLst>
          </p:cNvPr>
          <p:cNvSpPr txBox="1"/>
          <p:nvPr/>
        </p:nvSpPr>
        <p:spPr>
          <a:xfrm>
            <a:off x="427839" y="302004"/>
            <a:ext cx="1426128" cy="369332"/>
          </a:xfrm>
          <a:prstGeom prst="rect">
            <a:avLst/>
          </a:prstGeom>
          <a:noFill/>
        </p:spPr>
        <p:txBody>
          <a:bodyPr wrap="square" rtlCol="0">
            <a:spAutoFit/>
          </a:bodyPr>
          <a:lstStyle/>
          <a:p>
            <a:r>
              <a:rPr lang="es-CL" b="1" dirty="0"/>
              <a:t>Manufactura</a:t>
            </a:r>
          </a:p>
        </p:txBody>
      </p:sp>
      <p:pic>
        <p:nvPicPr>
          <p:cNvPr id="12" name="Imagen 11">
            <a:extLst>
              <a:ext uri="{FF2B5EF4-FFF2-40B4-BE49-F238E27FC236}">
                <a16:creationId xmlns:a16="http://schemas.microsoft.com/office/drawing/2014/main" id="{B83618DD-DEEA-EF1A-EDAF-DE4337F5C5EF}"/>
              </a:ext>
            </a:extLst>
          </p:cNvPr>
          <p:cNvPicPr>
            <a:picLocks noChangeAspect="1"/>
          </p:cNvPicPr>
          <p:nvPr/>
        </p:nvPicPr>
        <p:blipFill>
          <a:blip r:embed="rId2"/>
          <a:stretch>
            <a:fillRect/>
          </a:stretch>
        </p:blipFill>
        <p:spPr>
          <a:xfrm>
            <a:off x="1060103" y="1437048"/>
            <a:ext cx="4971288" cy="3782568"/>
          </a:xfrm>
          <a:prstGeom prst="rect">
            <a:avLst/>
          </a:prstGeom>
        </p:spPr>
      </p:pic>
      <p:pic>
        <p:nvPicPr>
          <p:cNvPr id="14" name="Imagen 13">
            <a:extLst>
              <a:ext uri="{FF2B5EF4-FFF2-40B4-BE49-F238E27FC236}">
                <a16:creationId xmlns:a16="http://schemas.microsoft.com/office/drawing/2014/main" id="{047B1DE4-D18C-84B6-E23D-334FC27EF379}"/>
              </a:ext>
            </a:extLst>
          </p:cNvPr>
          <p:cNvPicPr>
            <a:picLocks noChangeAspect="1"/>
          </p:cNvPicPr>
          <p:nvPr/>
        </p:nvPicPr>
        <p:blipFill>
          <a:blip r:embed="rId3"/>
          <a:stretch>
            <a:fillRect/>
          </a:stretch>
        </p:blipFill>
        <p:spPr>
          <a:xfrm>
            <a:off x="6510409" y="1434000"/>
            <a:ext cx="4621487" cy="3785616"/>
          </a:xfrm>
          <a:prstGeom prst="rect">
            <a:avLst/>
          </a:prstGeom>
        </p:spPr>
      </p:pic>
    </p:spTree>
    <p:extLst>
      <p:ext uri="{BB962C8B-B14F-4D97-AF65-F5344CB8AC3E}">
        <p14:creationId xmlns:p14="http://schemas.microsoft.com/office/powerpoint/2010/main" val="12948643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606bed3f-efae-4d70-a15b-866bb27c918d}" enabled="1" method="Privileged" siteId="{0f9e35db-544f-4f60-bdcc-5ea416e6dc70}" contentBits="0" removed="0"/>
</clbl:labelList>
</file>

<file path=docProps/app.xml><?xml version="1.0" encoding="utf-8"?>
<Properties xmlns="http://schemas.openxmlformats.org/officeDocument/2006/extended-properties" xmlns:vt="http://schemas.openxmlformats.org/officeDocument/2006/docPropsVTypes">
  <TotalTime>11539</TotalTime>
  <Words>1600</Words>
  <Application>Microsoft Office PowerPoint</Application>
  <PresentationFormat>Panorámica</PresentationFormat>
  <Paragraphs>99</Paragraphs>
  <Slides>16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16</vt:i4>
      </vt:variant>
    </vt:vector>
  </HeadingPairs>
  <TitlesOfParts>
    <vt:vector size="21" baseType="lpstr">
      <vt:lpstr>Arial</vt:lpstr>
      <vt:lpstr>Calibri</vt:lpstr>
      <vt:lpstr>Calibri Light</vt:lpstr>
      <vt:lpstr>Wingdings</vt:lpstr>
      <vt:lpstr>Tema de Office</vt:lpstr>
      <vt:lpstr>Productividad laboral y salarios a nivel sectorial en América Latina: 2016-2023  Evidencia en manufactura, comercio y comunicaciones</vt:lpstr>
      <vt:lpstr>Motivación</vt:lpstr>
      <vt:lpstr>Presentación de PowerPoint</vt:lpstr>
      <vt:lpstr>Productividad laboral  (Índice 2018=100)</vt:lpstr>
      <vt:lpstr>Productividad laboral  (Índice, 2018=100)</vt:lpstr>
      <vt:lpstr>Productividad laboral  (Índice, 2018=100)</vt:lpstr>
      <vt:lpstr>Presentación de PowerPoint</vt:lpstr>
      <vt:lpstr>Presentación de PowerPoint</vt:lpstr>
      <vt:lpstr>Presentación de PowerPoint</vt:lpstr>
      <vt:lpstr>El desacople entre productividad y costo laboral consideranado un grupo más numeroso de industrias.</vt:lpstr>
      <vt:lpstr>Trade off productividad-empleo-crecimiento</vt:lpstr>
      <vt:lpstr>Presentación de PowerPoint</vt:lpstr>
      <vt:lpstr>En definitiva…</vt:lpstr>
      <vt:lpstr>Reflexiones…</vt:lpstr>
      <vt:lpstr>Anexos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Productividad laboral y salarios en Chile y México: 2016-2023 Evidencia en manufactura, comercio y comunicaciones</dc:title>
  <dc:creator>Daymler Del Jesus O´Farrill Rolando</dc:creator>
  <cp:lastModifiedBy>Daymler Del Jesus O´Farrill Rolando</cp:lastModifiedBy>
  <cp:revision>60</cp:revision>
  <dcterms:created xsi:type="dcterms:W3CDTF">2025-09-26T15:44:52Z</dcterms:created>
  <dcterms:modified xsi:type="dcterms:W3CDTF">2025-10-15T04:38:30Z</dcterms:modified>
</cp:coreProperties>
</file>