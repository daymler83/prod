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62" r:id="rId6"/>
    <p:sldId id="263" r:id="rId7"/>
    <p:sldId id="265" r:id="rId8"/>
    <p:sldId id="266" r:id="rId9"/>
    <p:sldId id="264" r:id="rId10"/>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Daymler\7.%20Miscell&#225;neos\20.Cepal\Prod\Datos\export_CHL_MEX_divisiones_mal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Daymler\7.%20Miscell&#225;neos\20.Cepal\Prod\Datos\export_CHL_MEX_divisiones_mala.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Prod!$B$10</c:f>
              <c:strCache>
                <c:ptCount val="1"/>
                <c:pt idx="0">
                  <c:v>Chile</c:v>
                </c:pt>
              </c:strCache>
            </c:strRef>
          </c:tx>
          <c:spPr>
            <a:ln w="50800" cap="rnd">
              <a:solidFill>
                <a:schemeClr val="accent1"/>
              </a:solidFill>
              <a:round/>
            </a:ln>
            <a:effectLst/>
          </c:spPr>
          <c:marker>
            <c:symbol val="none"/>
          </c:marker>
          <c:trendline>
            <c:spPr>
              <a:ln w="19050" cap="rnd">
                <a:solidFill>
                  <a:schemeClr val="accent1"/>
                </a:solidFill>
                <a:prstDash val="sysDot"/>
              </a:ln>
              <a:effectLst/>
            </c:spPr>
            <c:trendlineType val="linear"/>
            <c:dispRSqr val="0"/>
            <c:dispEq val="0"/>
          </c:trendline>
          <c:cat>
            <c:numRef>
              <c:f>Prod!$C$5:$I$5</c:f>
              <c:numCache>
                <c:formatCode>General</c:formatCode>
                <c:ptCount val="7"/>
                <c:pt idx="0">
                  <c:v>2017</c:v>
                </c:pt>
                <c:pt idx="1">
                  <c:v>2018</c:v>
                </c:pt>
                <c:pt idx="2">
                  <c:v>2019</c:v>
                </c:pt>
                <c:pt idx="3">
                  <c:v>2020</c:v>
                </c:pt>
                <c:pt idx="4">
                  <c:v>2021</c:v>
                </c:pt>
                <c:pt idx="5">
                  <c:v>2022</c:v>
                </c:pt>
                <c:pt idx="6">
                  <c:v>2023</c:v>
                </c:pt>
              </c:numCache>
            </c:numRef>
          </c:cat>
          <c:val>
            <c:numRef>
              <c:f>Prod!$C$10:$I$10</c:f>
              <c:numCache>
                <c:formatCode>0.00</c:formatCode>
                <c:ptCount val="7"/>
                <c:pt idx="0">
                  <c:v>-18.039480341191066</c:v>
                </c:pt>
                <c:pt idx="1">
                  <c:v>-9.448431771065259</c:v>
                </c:pt>
                <c:pt idx="2">
                  <c:v>-21.807569914334096</c:v>
                </c:pt>
                <c:pt idx="3">
                  <c:v>-51.634030017262802</c:v>
                </c:pt>
                <c:pt idx="4">
                  <c:v>43.815740269872038</c:v>
                </c:pt>
                <c:pt idx="5">
                  <c:v>4.9504779267900858</c:v>
                </c:pt>
              </c:numCache>
            </c:numRef>
          </c:val>
          <c:smooth val="0"/>
          <c:extLst>
            <c:ext xmlns:c16="http://schemas.microsoft.com/office/drawing/2014/chart" uri="{C3380CC4-5D6E-409C-BE32-E72D297353CC}">
              <c16:uniqueId val="{00000001-B661-4B98-A63A-06B2A4F02563}"/>
            </c:ext>
          </c:extLst>
        </c:ser>
        <c:ser>
          <c:idx val="1"/>
          <c:order val="1"/>
          <c:tx>
            <c:strRef>
              <c:f>Prod!$B$11</c:f>
              <c:strCache>
                <c:ptCount val="1"/>
                <c:pt idx="0">
                  <c:v>México</c:v>
                </c:pt>
              </c:strCache>
            </c:strRef>
          </c:tx>
          <c:spPr>
            <a:ln w="50800" cap="rnd">
              <a:solidFill>
                <a:schemeClr val="accent2"/>
              </a:solidFill>
              <a:round/>
            </a:ln>
            <a:effectLst/>
          </c:spPr>
          <c:marker>
            <c:symbol val="none"/>
          </c:marker>
          <c:trendline>
            <c:spPr>
              <a:ln w="19050" cap="rnd">
                <a:solidFill>
                  <a:schemeClr val="accent2"/>
                </a:solidFill>
                <a:prstDash val="sysDot"/>
              </a:ln>
              <a:effectLst/>
            </c:spPr>
            <c:trendlineType val="linear"/>
            <c:dispRSqr val="0"/>
            <c:dispEq val="0"/>
          </c:trendline>
          <c:cat>
            <c:numRef>
              <c:f>Prod!$C$5:$I$5</c:f>
              <c:numCache>
                <c:formatCode>General</c:formatCode>
                <c:ptCount val="7"/>
                <c:pt idx="0">
                  <c:v>2017</c:v>
                </c:pt>
                <c:pt idx="1">
                  <c:v>2018</c:v>
                </c:pt>
                <c:pt idx="2">
                  <c:v>2019</c:v>
                </c:pt>
                <c:pt idx="3">
                  <c:v>2020</c:v>
                </c:pt>
                <c:pt idx="4">
                  <c:v>2021</c:v>
                </c:pt>
                <c:pt idx="5">
                  <c:v>2022</c:v>
                </c:pt>
                <c:pt idx="6">
                  <c:v>2023</c:v>
                </c:pt>
              </c:numCache>
            </c:numRef>
          </c:cat>
          <c:val>
            <c:numRef>
              <c:f>Prod!$C$11:$I$11</c:f>
              <c:numCache>
                <c:formatCode>0.00</c:formatCode>
                <c:ptCount val="7"/>
                <c:pt idx="0">
                  <c:v>-10.134906349647991</c:v>
                </c:pt>
                <c:pt idx="1">
                  <c:v>-42.271937878164202</c:v>
                </c:pt>
                <c:pt idx="2">
                  <c:v>-13.997016403848789</c:v>
                </c:pt>
                <c:pt idx="3">
                  <c:v>-3.8967053711477178</c:v>
                </c:pt>
                <c:pt idx="4">
                  <c:v>-59.617807351608128</c:v>
                </c:pt>
                <c:pt idx="5">
                  <c:v>41.577651272425982</c:v>
                </c:pt>
                <c:pt idx="6">
                  <c:v>29.928801346112834</c:v>
                </c:pt>
              </c:numCache>
            </c:numRef>
          </c:val>
          <c:smooth val="0"/>
          <c:extLst>
            <c:ext xmlns:c16="http://schemas.microsoft.com/office/drawing/2014/chart" uri="{C3380CC4-5D6E-409C-BE32-E72D297353CC}">
              <c16:uniqueId val="{00000003-B661-4B98-A63A-06B2A4F02563}"/>
            </c:ext>
          </c:extLst>
        </c:ser>
        <c:dLbls>
          <c:showLegendKey val="0"/>
          <c:showVal val="0"/>
          <c:showCatName val="0"/>
          <c:showSerName val="0"/>
          <c:showPercent val="0"/>
          <c:showBubbleSize val="0"/>
        </c:dLbls>
        <c:smooth val="0"/>
        <c:axId val="881089032"/>
        <c:axId val="881089392"/>
      </c:lineChart>
      <c:catAx>
        <c:axId val="881089032"/>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crossAx val="881089392"/>
        <c:crosses val="autoZero"/>
        <c:auto val="1"/>
        <c:lblAlgn val="ctr"/>
        <c:lblOffset val="100"/>
        <c:noMultiLvlLbl val="0"/>
      </c:catAx>
      <c:valAx>
        <c:axId val="881089392"/>
        <c:scaling>
          <c:orientation val="minMax"/>
        </c:scaling>
        <c:delete val="0"/>
        <c:axPos val="r"/>
        <c:majorGridlines>
          <c:spPr>
            <a:ln w="9525" cap="flat" cmpd="sng" algn="ctr">
              <a:noFill/>
              <a:round/>
            </a:ln>
            <a:effectLst/>
          </c:spPr>
        </c:majorGridlines>
        <c:numFmt formatCode="0" sourceLinked="0"/>
        <c:majorTickMark val="none"/>
        <c:minorTickMark val="none"/>
        <c:tickLblPos val="low"/>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crossAx val="881089032"/>
        <c:crosses val="max"/>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rem_emp!$B$9</c:f>
              <c:strCache>
                <c:ptCount val="1"/>
                <c:pt idx="0">
                  <c:v>Chile</c:v>
                </c:pt>
              </c:strCache>
            </c:strRef>
          </c:tx>
          <c:spPr>
            <a:ln w="50800" cap="rnd">
              <a:solidFill>
                <a:schemeClr val="accent1"/>
              </a:solidFill>
              <a:round/>
            </a:ln>
            <a:effectLst/>
          </c:spPr>
          <c:marker>
            <c:symbol val="none"/>
          </c:marker>
          <c:cat>
            <c:numRef>
              <c:f>rem_emp!$C$4:$I$4</c:f>
              <c:numCache>
                <c:formatCode>General</c:formatCode>
                <c:ptCount val="7"/>
                <c:pt idx="0">
                  <c:v>2017</c:v>
                </c:pt>
                <c:pt idx="1">
                  <c:v>2018</c:v>
                </c:pt>
                <c:pt idx="2">
                  <c:v>2019</c:v>
                </c:pt>
                <c:pt idx="3">
                  <c:v>2020</c:v>
                </c:pt>
                <c:pt idx="4">
                  <c:v>2021</c:v>
                </c:pt>
                <c:pt idx="5">
                  <c:v>2022</c:v>
                </c:pt>
                <c:pt idx="6">
                  <c:v>2023</c:v>
                </c:pt>
              </c:numCache>
            </c:numRef>
          </c:cat>
          <c:val>
            <c:numRef>
              <c:f>rem_emp!$C$9:$I$9</c:f>
              <c:numCache>
                <c:formatCode>General</c:formatCode>
                <c:ptCount val="7"/>
                <c:pt idx="0">
                  <c:v>-34.823119840728452</c:v>
                </c:pt>
                <c:pt idx="1">
                  <c:v>4.6250731940978369</c:v>
                </c:pt>
                <c:pt idx="2">
                  <c:v>-18.095986951412328</c:v>
                </c:pt>
                <c:pt idx="3">
                  <c:v>-30.319311455441749</c:v>
                </c:pt>
                <c:pt idx="4">
                  <c:v>42.159066357245678</c:v>
                </c:pt>
                <c:pt idx="5">
                  <c:v>6.4755803598325059</c:v>
                </c:pt>
              </c:numCache>
            </c:numRef>
          </c:val>
          <c:smooth val="0"/>
          <c:extLst>
            <c:ext xmlns:c16="http://schemas.microsoft.com/office/drawing/2014/chart" uri="{C3380CC4-5D6E-409C-BE32-E72D297353CC}">
              <c16:uniqueId val="{00000000-6DF4-4D37-BD91-330B17936DC8}"/>
            </c:ext>
          </c:extLst>
        </c:ser>
        <c:ser>
          <c:idx val="1"/>
          <c:order val="1"/>
          <c:tx>
            <c:strRef>
              <c:f>rem_emp!$B$10</c:f>
              <c:strCache>
                <c:ptCount val="1"/>
                <c:pt idx="0">
                  <c:v>México</c:v>
                </c:pt>
              </c:strCache>
            </c:strRef>
          </c:tx>
          <c:spPr>
            <a:ln w="50800" cap="rnd">
              <a:solidFill>
                <a:schemeClr val="accent2"/>
              </a:solidFill>
              <a:round/>
            </a:ln>
            <a:effectLst/>
          </c:spPr>
          <c:marker>
            <c:symbol val="none"/>
          </c:marker>
          <c:cat>
            <c:numRef>
              <c:f>rem_emp!$C$4:$I$4</c:f>
              <c:numCache>
                <c:formatCode>General</c:formatCode>
                <c:ptCount val="7"/>
                <c:pt idx="0">
                  <c:v>2017</c:v>
                </c:pt>
                <c:pt idx="1">
                  <c:v>2018</c:v>
                </c:pt>
                <c:pt idx="2">
                  <c:v>2019</c:v>
                </c:pt>
                <c:pt idx="3">
                  <c:v>2020</c:v>
                </c:pt>
                <c:pt idx="4">
                  <c:v>2021</c:v>
                </c:pt>
                <c:pt idx="5">
                  <c:v>2022</c:v>
                </c:pt>
                <c:pt idx="6">
                  <c:v>2023</c:v>
                </c:pt>
              </c:numCache>
            </c:numRef>
          </c:cat>
          <c:val>
            <c:numRef>
              <c:f>rem_emp!$C$10:$I$10</c:f>
              <c:numCache>
                <c:formatCode>General</c:formatCode>
                <c:ptCount val="7"/>
                <c:pt idx="0">
                  <c:v>-2.0791978555888164</c:v>
                </c:pt>
                <c:pt idx="1">
                  <c:v>-43.766902956471121</c:v>
                </c:pt>
                <c:pt idx="2">
                  <c:v>10.084913059844069</c:v>
                </c:pt>
                <c:pt idx="3">
                  <c:v>3.2295648162869952</c:v>
                </c:pt>
                <c:pt idx="4">
                  <c:v>-9.6365573849523116</c:v>
                </c:pt>
                <c:pt idx="5">
                  <c:v>25.425288180522827</c:v>
                </c:pt>
                <c:pt idx="6">
                  <c:v>38.789392303688004</c:v>
                </c:pt>
              </c:numCache>
            </c:numRef>
          </c:val>
          <c:smooth val="0"/>
          <c:extLst>
            <c:ext xmlns:c16="http://schemas.microsoft.com/office/drawing/2014/chart" uri="{C3380CC4-5D6E-409C-BE32-E72D297353CC}">
              <c16:uniqueId val="{00000001-6DF4-4D37-BD91-330B17936DC8}"/>
            </c:ext>
          </c:extLst>
        </c:ser>
        <c:dLbls>
          <c:showLegendKey val="0"/>
          <c:showVal val="0"/>
          <c:showCatName val="0"/>
          <c:showSerName val="0"/>
          <c:showPercent val="0"/>
          <c:showBubbleSize val="0"/>
        </c:dLbls>
        <c:smooth val="0"/>
        <c:axId val="1041236504"/>
        <c:axId val="1041245144"/>
      </c:lineChart>
      <c:catAx>
        <c:axId val="1041236504"/>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crossAx val="1041245144"/>
        <c:crosses val="autoZero"/>
        <c:auto val="1"/>
        <c:lblAlgn val="ctr"/>
        <c:lblOffset val="100"/>
        <c:noMultiLvlLbl val="0"/>
      </c:catAx>
      <c:valAx>
        <c:axId val="104124514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s-CL"/>
          </a:p>
        </c:txPr>
        <c:crossAx val="10412365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E7936A-AD9B-4341-81CC-EBDCA3C240F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06CDDB7-3BD2-4522-81FF-CF44CD29AB17}">
      <dgm:prSet/>
      <dgm:spPr/>
      <dgm:t>
        <a:bodyPr/>
        <a:lstStyle/>
        <a:p>
          <a:r>
            <a:rPr lang="es-ES" b="1"/>
            <a:t>Elaboración de alimentos</a:t>
          </a:r>
          <a:r>
            <a:rPr lang="es-ES"/>
            <a:t>: los salarios crecen más rápido que la productividad en ambos países (brecha &gt;0) </a:t>
          </a:r>
          <a:r>
            <a:rPr lang="es-ES">
              <a:sym typeface="Wingdings" panose="05000000000000000000" pitchFamily="2" charset="2"/>
            </a:rPr>
            <a:t></a:t>
          </a:r>
          <a:r>
            <a:rPr lang="es-ES"/>
            <a:t> presión sobre costos laborales unitarios; Chile es cinco veces el valor de México</a:t>
          </a:r>
          <a:endParaRPr lang="en-US"/>
        </a:p>
      </dgm:t>
    </dgm:pt>
    <dgm:pt modelId="{D5F3BB23-1894-40B5-BD35-78538DEFAC60}" type="parTrans" cxnId="{4A86A776-B0A8-4EAC-B28E-CDEAFFDB4505}">
      <dgm:prSet/>
      <dgm:spPr/>
      <dgm:t>
        <a:bodyPr/>
        <a:lstStyle/>
        <a:p>
          <a:endParaRPr lang="en-US"/>
        </a:p>
      </dgm:t>
    </dgm:pt>
    <dgm:pt modelId="{A4119984-D655-4EBD-A806-40E480A7501C}" type="sibTrans" cxnId="{4A86A776-B0A8-4EAC-B28E-CDEAFFDB4505}">
      <dgm:prSet/>
      <dgm:spPr/>
      <dgm:t>
        <a:bodyPr/>
        <a:lstStyle/>
        <a:p>
          <a:endParaRPr lang="en-US"/>
        </a:p>
      </dgm:t>
    </dgm:pt>
    <dgm:pt modelId="{594313BD-0812-4BFA-942D-64EC2E357466}">
      <dgm:prSet/>
      <dgm:spPr/>
      <dgm:t>
        <a:bodyPr/>
        <a:lstStyle/>
        <a:p>
          <a:r>
            <a:rPr lang="es-CL" b="1"/>
            <a:t>Comercio mayorista</a:t>
          </a:r>
          <a:r>
            <a:rPr lang="es-CL"/>
            <a:t>: En Chile la productividad crece más rápido que el salario lo que sugiere una leve ganancia de competitividad durante todo el periodo; en México el valor es positivo.</a:t>
          </a:r>
          <a:endParaRPr lang="en-US"/>
        </a:p>
      </dgm:t>
    </dgm:pt>
    <dgm:pt modelId="{C62DFA60-53F4-449A-BD15-17B0B4A82DD6}" type="parTrans" cxnId="{78752E78-7DA4-4B1E-ABC8-B7A737E7C9AF}">
      <dgm:prSet/>
      <dgm:spPr/>
      <dgm:t>
        <a:bodyPr/>
        <a:lstStyle/>
        <a:p>
          <a:endParaRPr lang="en-US"/>
        </a:p>
      </dgm:t>
    </dgm:pt>
    <dgm:pt modelId="{AF405E39-EE1F-48DE-BDC2-92249F7AAC03}" type="sibTrans" cxnId="{78752E78-7DA4-4B1E-ABC8-B7A737E7C9AF}">
      <dgm:prSet/>
      <dgm:spPr/>
      <dgm:t>
        <a:bodyPr/>
        <a:lstStyle/>
        <a:p>
          <a:endParaRPr lang="en-US"/>
        </a:p>
      </dgm:t>
    </dgm:pt>
    <dgm:pt modelId="{79E5C5BA-6866-4E6E-9DC2-B3C0B0DBCFDC}">
      <dgm:prSet/>
      <dgm:spPr/>
      <dgm:t>
        <a:bodyPr/>
        <a:lstStyle/>
        <a:p>
          <a:r>
            <a:rPr lang="es-CL" b="1" dirty="0"/>
            <a:t>Producción de películas..: </a:t>
          </a:r>
          <a:r>
            <a:rPr lang="es-CL" dirty="0"/>
            <a:t>Al igual que en la elaboración de alimentos ambos países muestran un incremento sobre la presión de los costos laborales unitarios y por tanto una posible pérdida de competitividad.</a:t>
          </a:r>
          <a:endParaRPr lang="en-US" dirty="0"/>
        </a:p>
      </dgm:t>
    </dgm:pt>
    <dgm:pt modelId="{9566BCC8-11BD-4AD0-8EA1-8F86BF042993}" type="parTrans" cxnId="{383A4C8E-A250-4CB3-9426-F07E23F2EE79}">
      <dgm:prSet/>
      <dgm:spPr/>
      <dgm:t>
        <a:bodyPr/>
        <a:lstStyle/>
        <a:p>
          <a:endParaRPr lang="en-US"/>
        </a:p>
      </dgm:t>
    </dgm:pt>
    <dgm:pt modelId="{E78EF030-3FB2-43A8-99C7-FDA03A438305}" type="sibTrans" cxnId="{383A4C8E-A250-4CB3-9426-F07E23F2EE79}">
      <dgm:prSet/>
      <dgm:spPr/>
      <dgm:t>
        <a:bodyPr/>
        <a:lstStyle/>
        <a:p>
          <a:endParaRPr lang="en-US"/>
        </a:p>
      </dgm:t>
    </dgm:pt>
    <dgm:pt modelId="{1C5514E8-ADC2-479C-85F4-F15EF5EFDADB}">
      <dgm:prSet/>
      <dgm:spPr/>
      <dgm:t>
        <a:bodyPr/>
        <a:lstStyle/>
        <a:p>
          <a:r>
            <a:rPr lang="es-CL"/>
            <a:t>En general, lo que vemos en estas tres divisiones, las más importante dentro de cada uno de los sectores es un claro desacople: se pagas más por trabajador, pero se produce menos.</a:t>
          </a:r>
          <a:endParaRPr lang="en-US"/>
        </a:p>
      </dgm:t>
    </dgm:pt>
    <dgm:pt modelId="{D98B5F40-8A8E-441B-936B-75EB783E9C2D}" type="parTrans" cxnId="{C51DBA45-A80D-48B3-B821-31DDE01A2CB5}">
      <dgm:prSet/>
      <dgm:spPr/>
      <dgm:t>
        <a:bodyPr/>
        <a:lstStyle/>
        <a:p>
          <a:endParaRPr lang="en-US"/>
        </a:p>
      </dgm:t>
    </dgm:pt>
    <dgm:pt modelId="{9B57BCC9-2431-4749-9FDA-F319C4DE7BD8}" type="sibTrans" cxnId="{C51DBA45-A80D-48B3-B821-31DDE01A2CB5}">
      <dgm:prSet/>
      <dgm:spPr/>
      <dgm:t>
        <a:bodyPr/>
        <a:lstStyle/>
        <a:p>
          <a:endParaRPr lang="en-US"/>
        </a:p>
      </dgm:t>
    </dgm:pt>
    <dgm:pt modelId="{C498BD8F-A870-432B-B338-F688D35AF8EE}" type="pres">
      <dgm:prSet presAssocID="{40E7936A-AD9B-4341-81CC-EBDCA3C240F4}" presName="linear" presStyleCnt="0">
        <dgm:presLayoutVars>
          <dgm:animLvl val="lvl"/>
          <dgm:resizeHandles val="exact"/>
        </dgm:presLayoutVars>
      </dgm:prSet>
      <dgm:spPr/>
    </dgm:pt>
    <dgm:pt modelId="{ADB57845-B286-4688-B7C0-FA3EF15A9ABA}" type="pres">
      <dgm:prSet presAssocID="{606CDDB7-3BD2-4522-81FF-CF44CD29AB17}" presName="parentText" presStyleLbl="node1" presStyleIdx="0" presStyleCnt="4">
        <dgm:presLayoutVars>
          <dgm:chMax val="0"/>
          <dgm:bulletEnabled val="1"/>
        </dgm:presLayoutVars>
      </dgm:prSet>
      <dgm:spPr/>
    </dgm:pt>
    <dgm:pt modelId="{CE734886-84C0-4ECD-BFA4-49414B2F733F}" type="pres">
      <dgm:prSet presAssocID="{A4119984-D655-4EBD-A806-40E480A7501C}" presName="spacer" presStyleCnt="0"/>
      <dgm:spPr/>
    </dgm:pt>
    <dgm:pt modelId="{E7EDE8B8-11F4-418A-9B12-06B236FBBF34}" type="pres">
      <dgm:prSet presAssocID="{594313BD-0812-4BFA-942D-64EC2E357466}" presName="parentText" presStyleLbl="node1" presStyleIdx="1" presStyleCnt="4">
        <dgm:presLayoutVars>
          <dgm:chMax val="0"/>
          <dgm:bulletEnabled val="1"/>
        </dgm:presLayoutVars>
      </dgm:prSet>
      <dgm:spPr/>
    </dgm:pt>
    <dgm:pt modelId="{21D150C7-A6F6-4CF9-A813-AAADC021E46C}" type="pres">
      <dgm:prSet presAssocID="{AF405E39-EE1F-48DE-BDC2-92249F7AAC03}" presName="spacer" presStyleCnt="0"/>
      <dgm:spPr/>
    </dgm:pt>
    <dgm:pt modelId="{505C81F2-0A5C-4CB4-8265-C35F5BEFE4AE}" type="pres">
      <dgm:prSet presAssocID="{79E5C5BA-6866-4E6E-9DC2-B3C0B0DBCFDC}" presName="parentText" presStyleLbl="node1" presStyleIdx="2" presStyleCnt="4">
        <dgm:presLayoutVars>
          <dgm:chMax val="0"/>
          <dgm:bulletEnabled val="1"/>
        </dgm:presLayoutVars>
      </dgm:prSet>
      <dgm:spPr/>
    </dgm:pt>
    <dgm:pt modelId="{20189AEA-E121-467E-B721-DD0DF5B93136}" type="pres">
      <dgm:prSet presAssocID="{E78EF030-3FB2-43A8-99C7-FDA03A438305}" presName="spacer" presStyleCnt="0"/>
      <dgm:spPr/>
    </dgm:pt>
    <dgm:pt modelId="{2E1EB21E-7823-4AEC-9FD2-3933AAB2893C}" type="pres">
      <dgm:prSet presAssocID="{1C5514E8-ADC2-479C-85F4-F15EF5EFDADB}" presName="parentText" presStyleLbl="node1" presStyleIdx="3" presStyleCnt="4">
        <dgm:presLayoutVars>
          <dgm:chMax val="0"/>
          <dgm:bulletEnabled val="1"/>
        </dgm:presLayoutVars>
      </dgm:prSet>
      <dgm:spPr/>
    </dgm:pt>
  </dgm:ptLst>
  <dgm:cxnLst>
    <dgm:cxn modelId="{680EEC33-5565-4277-9B73-6C5BCEE5F8CD}" type="presOf" srcId="{606CDDB7-3BD2-4522-81FF-CF44CD29AB17}" destId="{ADB57845-B286-4688-B7C0-FA3EF15A9ABA}" srcOrd="0" destOrd="0" presId="urn:microsoft.com/office/officeart/2005/8/layout/vList2"/>
    <dgm:cxn modelId="{C51DBA45-A80D-48B3-B821-31DDE01A2CB5}" srcId="{40E7936A-AD9B-4341-81CC-EBDCA3C240F4}" destId="{1C5514E8-ADC2-479C-85F4-F15EF5EFDADB}" srcOrd="3" destOrd="0" parTransId="{D98B5F40-8A8E-441B-936B-75EB783E9C2D}" sibTransId="{9B57BCC9-2431-4749-9FDA-F319C4DE7BD8}"/>
    <dgm:cxn modelId="{4A86A776-B0A8-4EAC-B28E-CDEAFFDB4505}" srcId="{40E7936A-AD9B-4341-81CC-EBDCA3C240F4}" destId="{606CDDB7-3BD2-4522-81FF-CF44CD29AB17}" srcOrd="0" destOrd="0" parTransId="{D5F3BB23-1894-40B5-BD35-78538DEFAC60}" sibTransId="{A4119984-D655-4EBD-A806-40E480A7501C}"/>
    <dgm:cxn modelId="{78752E78-7DA4-4B1E-ABC8-B7A737E7C9AF}" srcId="{40E7936A-AD9B-4341-81CC-EBDCA3C240F4}" destId="{594313BD-0812-4BFA-942D-64EC2E357466}" srcOrd="1" destOrd="0" parTransId="{C62DFA60-53F4-449A-BD15-17B0B4A82DD6}" sibTransId="{AF405E39-EE1F-48DE-BDC2-92249F7AAC03}"/>
    <dgm:cxn modelId="{EE1CFF7F-4888-4ACB-99F3-861A9E87862A}" type="presOf" srcId="{594313BD-0812-4BFA-942D-64EC2E357466}" destId="{E7EDE8B8-11F4-418A-9B12-06B236FBBF34}" srcOrd="0" destOrd="0" presId="urn:microsoft.com/office/officeart/2005/8/layout/vList2"/>
    <dgm:cxn modelId="{383A4C8E-A250-4CB3-9426-F07E23F2EE79}" srcId="{40E7936A-AD9B-4341-81CC-EBDCA3C240F4}" destId="{79E5C5BA-6866-4E6E-9DC2-B3C0B0DBCFDC}" srcOrd="2" destOrd="0" parTransId="{9566BCC8-11BD-4AD0-8EA1-8F86BF042993}" sibTransId="{E78EF030-3FB2-43A8-99C7-FDA03A438305}"/>
    <dgm:cxn modelId="{0C534594-AF73-40B8-95E9-F8559E2EF787}" type="presOf" srcId="{1C5514E8-ADC2-479C-85F4-F15EF5EFDADB}" destId="{2E1EB21E-7823-4AEC-9FD2-3933AAB2893C}" srcOrd="0" destOrd="0" presId="urn:microsoft.com/office/officeart/2005/8/layout/vList2"/>
    <dgm:cxn modelId="{4BA09197-0CB5-42EF-8574-E756AF9373F9}" type="presOf" srcId="{79E5C5BA-6866-4E6E-9DC2-B3C0B0DBCFDC}" destId="{505C81F2-0A5C-4CB4-8265-C35F5BEFE4AE}" srcOrd="0" destOrd="0" presId="urn:microsoft.com/office/officeart/2005/8/layout/vList2"/>
    <dgm:cxn modelId="{58020BF1-7B29-4B3F-8308-0D7E9E891ADB}" type="presOf" srcId="{40E7936A-AD9B-4341-81CC-EBDCA3C240F4}" destId="{C498BD8F-A870-432B-B338-F688D35AF8EE}" srcOrd="0" destOrd="0" presId="urn:microsoft.com/office/officeart/2005/8/layout/vList2"/>
    <dgm:cxn modelId="{C3E332C6-B65A-4876-B16F-8DFDD0557880}" type="presParOf" srcId="{C498BD8F-A870-432B-B338-F688D35AF8EE}" destId="{ADB57845-B286-4688-B7C0-FA3EF15A9ABA}" srcOrd="0" destOrd="0" presId="urn:microsoft.com/office/officeart/2005/8/layout/vList2"/>
    <dgm:cxn modelId="{34A1E43B-66A8-43B8-A686-B4340C91E2D1}" type="presParOf" srcId="{C498BD8F-A870-432B-B338-F688D35AF8EE}" destId="{CE734886-84C0-4ECD-BFA4-49414B2F733F}" srcOrd="1" destOrd="0" presId="urn:microsoft.com/office/officeart/2005/8/layout/vList2"/>
    <dgm:cxn modelId="{E9BDED8D-6CB2-4E7A-98C3-8672EB171C05}" type="presParOf" srcId="{C498BD8F-A870-432B-B338-F688D35AF8EE}" destId="{E7EDE8B8-11F4-418A-9B12-06B236FBBF34}" srcOrd="2" destOrd="0" presId="urn:microsoft.com/office/officeart/2005/8/layout/vList2"/>
    <dgm:cxn modelId="{45077F74-DF3A-4717-8511-CD17FEC31EA8}" type="presParOf" srcId="{C498BD8F-A870-432B-B338-F688D35AF8EE}" destId="{21D150C7-A6F6-4CF9-A813-AAADC021E46C}" srcOrd="3" destOrd="0" presId="urn:microsoft.com/office/officeart/2005/8/layout/vList2"/>
    <dgm:cxn modelId="{D10F9500-5D7B-4799-B014-93C5C7BEE602}" type="presParOf" srcId="{C498BD8F-A870-432B-B338-F688D35AF8EE}" destId="{505C81F2-0A5C-4CB4-8265-C35F5BEFE4AE}" srcOrd="4" destOrd="0" presId="urn:microsoft.com/office/officeart/2005/8/layout/vList2"/>
    <dgm:cxn modelId="{6E5896FB-8585-4025-9C3D-219158F8B571}" type="presParOf" srcId="{C498BD8F-A870-432B-B338-F688D35AF8EE}" destId="{20189AEA-E121-467E-B721-DD0DF5B93136}" srcOrd="5" destOrd="0" presId="urn:microsoft.com/office/officeart/2005/8/layout/vList2"/>
    <dgm:cxn modelId="{13EFC1C4-7749-46A4-A248-EDDEA70BD87B}" type="presParOf" srcId="{C498BD8F-A870-432B-B338-F688D35AF8EE}" destId="{2E1EB21E-7823-4AEC-9FD2-3933AAB2893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B57845-B286-4688-B7C0-FA3EF15A9ABA}">
      <dsp:nvSpPr>
        <dsp:cNvPr id="0" name=""/>
        <dsp:cNvSpPr/>
      </dsp:nvSpPr>
      <dsp:spPr>
        <a:xfrm>
          <a:off x="0" y="55269"/>
          <a:ext cx="8388220" cy="47735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s-ES" sz="1200" b="1" kern="1200"/>
            <a:t>Elaboración de alimentos</a:t>
          </a:r>
          <a:r>
            <a:rPr lang="es-ES" sz="1200" kern="1200"/>
            <a:t>: los salarios crecen más rápido que la productividad en ambos países (brecha &gt;0) </a:t>
          </a:r>
          <a:r>
            <a:rPr lang="es-ES" sz="1200" kern="1200">
              <a:sym typeface="Wingdings" panose="05000000000000000000" pitchFamily="2" charset="2"/>
            </a:rPr>
            <a:t></a:t>
          </a:r>
          <a:r>
            <a:rPr lang="es-ES" sz="1200" kern="1200"/>
            <a:t> presión sobre costos laborales unitarios; Chile es cinco veces el valor de México</a:t>
          </a:r>
          <a:endParaRPr lang="en-US" sz="1200" kern="1200"/>
        </a:p>
      </dsp:txBody>
      <dsp:txXfrm>
        <a:off x="23303" y="78572"/>
        <a:ext cx="8341614" cy="430753"/>
      </dsp:txXfrm>
    </dsp:sp>
    <dsp:sp modelId="{E7EDE8B8-11F4-418A-9B12-06B236FBBF34}">
      <dsp:nvSpPr>
        <dsp:cNvPr id="0" name=""/>
        <dsp:cNvSpPr/>
      </dsp:nvSpPr>
      <dsp:spPr>
        <a:xfrm>
          <a:off x="0" y="567189"/>
          <a:ext cx="8388220" cy="47735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s-CL" sz="1200" b="1" kern="1200"/>
            <a:t>Comercio mayorista</a:t>
          </a:r>
          <a:r>
            <a:rPr lang="es-CL" sz="1200" kern="1200"/>
            <a:t>: En Chile la productividad crece más rápido que el salario lo que sugiere una leve ganancia de competitividad durante todo el periodo; en México el valor es positivo.</a:t>
          </a:r>
          <a:endParaRPr lang="en-US" sz="1200" kern="1200"/>
        </a:p>
      </dsp:txBody>
      <dsp:txXfrm>
        <a:off x="23303" y="590492"/>
        <a:ext cx="8341614" cy="430753"/>
      </dsp:txXfrm>
    </dsp:sp>
    <dsp:sp modelId="{505C81F2-0A5C-4CB4-8265-C35F5BEFE4AE}">
      <dsp:nvSpPr>
        <dsp:cNvPr id="0" name=""/>
        <dsp:cNvSpPr/>
      </dsp:nvSpPr>
      <dsp:spPr>
        <a:xfrm>
          <a:off x="0" y="1079109"/>
          <a:ext cx="8388220" cy="47735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s-CL" sz="1200" b="1" kern="1200" dirty="0"/>
            <a:t>Producción de películas..: </a:t>
          </a:r>
          <a:r>
            <a:rPr lang="es-CL" sz="1200" kern="1200" dirty="0"/>
            <a:t>Al igual que en la elaboración de alimentos ambos países muestran un incremento sobre la presión de los costos laborales unitarios y por tanto una posible pérdida de competitividad.</a:t>
          </a:r>
          <a:endParaRPr lang="en-US" sz="1200" kern="1200" dirty="0"/>
        </a:p>
      </dsp:txBody>
      <dsp:txXfrm>
        <a:off x="23303" y="1102412"/>
        <a:ext cx="8341614" cy="430753"/>
      </dsp:txXfrm>
    </dsp:sp>
    <dsp:sp modelId="{2E1EB21E-7823-4AEC-9FD2-3933AAB2893C}">
      <dsp:nvSpPr>
        <dsp:cNvPr id="0" name=""/>
        <dsp:cNvSpPr/>
      </dsp:nvSpPr>
      <dsp:spPr>
        <a:xfrm>
          <a:off x="0" y="1591029"/>
          <a:ext cx="8388220" cy="47735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s-CL" sz="1200" kern="1200"/>
            <a:t>En general, lo que vemos en estas tres divisiones, las más importante dentro de cada uno de los sectores es un claro desacople: se pagas más por trabajador, pero se produce menos.</a:t>
          </a:r>
          <a:endParaRPr lang="en-US" sz="1200" kern="1200"/>
        </a:p>
      </dsp:txBody>
      <dsp:txXfrm>
        <a:off x="23303" y="1614332"/>
        <a:ext cx="8341614" cy="43075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37317A-FEB5-8646-78CC-0AD93C67097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5AF50C5E-D543-BE55-2619-2DBCA74CC0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6ACADFA0-C5C0-2B85-9E10-1A88F111DF3C}"/>
              </a:ext>
            </a:extLst>
          </p:cNvPr>
          <p:cNvSpPr>
            <a:spLocks noGrp="1"/>
          </p:cNvSpPr>
          <p:nvPr>
            <p:ph type="dt" sz="half" idx="10"/>
          </p:nvPr>
        </p:nvSpPr>
        <p:spPr/>
        <p:txBody>
          <a:bodyPr/>
          <a:lstStyle/>
          <a:p>
            <a:fld id="{B45F80A1-2993-4A46-9F67-73A84C445976}" type="datetimeFigureOut">
              <a:rPr lang="es-CL" smtClean="0"/>
              <a:t>30-09-2025</a:t>
            </a:fld>
            <a:endParaRPr lang="es-CL"/>
          </a:p>
        </p:txBody>
      </p:sp>
      <p:sp>
        <p:nvSpPr>
          <p:cNvPr id="5" name="Marcador de pie de página 4">
            <a:extLst>
              <a:ext uri="{FF2B5EF4-FFF2-40B4-BE49-F238E27FC236}">
                <a16:creationId xmlns:a16="http://schemas.microsoft.com/office/drawing/2014/main" id="{53C02812-1DEF-D3B4-4537-A6BCC94FCCE2}"/>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68C46856-E032-D249-A6BF-FE426B05EA9C}"/>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081602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1B7A5E-4615-2DEB-6B70-68DC116CD6BD}"/>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9BC0F39F-63AD-7359-6F30-B2001CEBAD9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562EF99B-DC43-9FFE-3D1D-3EF834035665}"/>
              </a:ext>
            </a:extLst>
          </p:cNvPr>
          <p:cNvSpPr>
            <a:spLocks noGrp="1"/>
          </p:cNvSpPr>
          <p:nvPr>
            <p:ph type="dt" sz="half" idx="10"/>
          </p:nvPr>
        </p:nvSpPr>
        <p:spPr/>
        <p:txBody>
          <a:bodyPr/>
          <a:lstStyle/>
          <a:p>
            <a:fld id="{B45F80A1-2993-4A46-9F67-73A84C445976}" type="datetimeFigureOut">
              <a:rPr lang="es-CL" smtClean="0"/>
              <a:t>30-09-2025</a:t>
            </a:fld>
            <a:endParaRPr lang="es-CL"/>
          </a:p>
        </p:txBody>
      </p:sp>
      <p:sp>
        <p:nvSpPr>
          <p:cNvPr id="5" name="Marcador de pie de página 4">
            <a:extLst>
              <a:ext uri="{FF2B5EF4-FFF2-40B4-BE49-F238E27FC236}">
                <a16:creationId xmlns:a16="http://schemas.microsoft.com/office/drawing/2014/main" id="{8B510323-BBA0-6B8D-3701-6616C085883F}"/>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FF7F7A4-CB40-24AC-803D-B272EBA07C41}"/>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71033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CC4FAF-939B-4589-A93A-B4CC26B71F9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6AAFE769-ADB8-E9DC-86BB-ACFDAF93EF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0E4B610-37C8-F973-7E9C-51902DDB9943}"/>
              </a:ext>
            </a:extLst>
          </p:cNvPr>
          <p:cNvSpPr>
            <a:spLocks noGrp="1"/>
          </p:cNvSpPr>
          <p:nvPr>
            <p:ph type="dt" sz="half" idx="10"/>
          </p:nvPr>
        </p:nvSpPr>
        <p:spPr/>
        <p:txBody>
          <a:bodyPr/>
          <a:lstStyle/>
          <a:p>
            <a:fld id="{B45F80A1-2993-4A46-9F67-73A84C445976}" type="datetimeFigureOut">
              <a:rPr lang="es-CL" smtClean="0"/>
              <a:t>30-09-2025</a:t>
            </a:fld>
            <a:endParaRPr lang="es-CL"/>
          </a:p>
        </p:txBody>
      </p:sp>
      <p:sp>
        <p:nvSpPr>
          <p:cNvPr id="5" name="Marcador de pie de página 4">
            <a:extLst>
              <a:ext uri="{FF2B5EF4-FFF2-40B4-BE49-F238E27FC236}">
                <a16:creationId xmlns:a16="http://schemas.microsoft.com/office/drawing/2014/main" id="{6BF6E6AC-C9C6-99B6-7965-23833A3421AE}"/>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B192BF87-70FF-EA71-F4A4-3EBD24BBE664}"/>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1559531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A7217E-5E1B-1925-D5A1-B074CD64DBD0}"/>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D3345F88-852E-5934-582C-4E2D128D737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36AB7D7E-6EBA-F9AD-C1A7-162AB6B96B8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91086649-C9B9-C12D-3D24-B39B94A63EBB}"/>
              </a:ext>
            </a:extLst>
          </p:cNvPr>
          <p:cNvSpPr>
            <a:spLocks noGrp="1"/>
          </p:cNvSpPr>
          <p:nvPr>
            <p:ph type="dt" sz="half" idx="10"/>
          </p:nvPr>
        </p:nvSpPr>
        <p:spPr/>
        <p:txBody>
          <a:bodyPr/>
          <a:lstStyle/>
          <a:p>
            <a:fld id="{B45F80A1-2993-4A46-9F67-73A84C445976}" type="datetimeFigureOut">
              <a:rPr lang="es-CL" smtClean="0"/>
              <a:t>30-09-2025</a:t>
            </a:fld>
            <a:endParaRPr lang="es-CL"/>
          </a:p>
        </p:txBody>
      </p:sp>
      <p:sp>
        <p:nvSpPr>
          <p:cNvPr id="6" name="Marcador de pie de página 5">
            <a:extLst>
              <a:ext uri="{FF2B5EF4-FFF2-40B4-BE49-F238E27FC236}">
                <a16:creationId xmlns:a16="http://schemas.microsoft.com/office/drawing/2014/main" id="{F8084561-44E6-5D5A-B331-9899D38DE42D}"/>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9F1F9FE4-DD56-A449-22B8-022096ABF8B2}"/>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1517845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1E4013-00EB-851B-3DF8-1064FCD5B8F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A88A6EC9-E6D2-7FED-FEF6-C066955D48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E4E9522-A729-9310-607E-96847E945E5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EC269263-E63C-25FB-A9B3-328B6D5385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00C4531-BE9F-1A7F-11A9-76D6D7631D7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7DF3081D-5D4A-749C-3C6A-07AD42D816F8}"/>
              </a:ext>
            </a:extLst>
          </p:cNvPr>
          <p:cNvSpPr>
            <a:spLocks noGrp="1"/>
          </p:cNvSpPr>
          <p:nvPr>
            <p:ph type="dt" sz="half" idx="10"/>
          </p:nvPr>
        </p:nvSpPr>
        <p:spPr/>
        <p:txBody>
          <a:bodyPr/>
          <a:lstStyle/>
          <a:p>
            <a:fld id="{B45F80A1-2993-4A46-9F67-73A84C445976}" type="datetimeFigureOut">
              <a:rPr lang="es-CL" smtClean="0"/>
              <a:t>30-09-2025</a:t>
            </a:fld>
            <a:endParaRPr lang="es-CL"/>
          </a:p>
        </p:txBody>
      </p:sp>
      <p:sp>
        <p:nvSpPr>
          <p:cNvPr id="8" name="Marcador de pie de página 7">
            <a:extLst>
              <a:ext uri="{FF2B5EF4-FFF2-40B4-BE49-F238E27FC236}">
                <a16:creationId xmlns:a16="http://schemas.microsoft.com/office/drawing/2014/main" id="{76B105ED-A54E-7F1F-DFA0-08B9463D18C4}"/>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B42367FD-9C07-EFBA-2E7E-19BE2784A89E}"/>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2742665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9A2795-8621-EF7D-FEDA-D312F11E16C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AB48328A-286D-04CC-8F54-D3537F8665EB}"/>
              </a:ext>
            </a:extLst>
          </p:cNvPr>
          <p:cNvSpPr>
            <a:spLocks noGrp="1"/>
          </p:cNvSpPr>
          <p:nvPr>
            <p:ph type="dt" sz="half" idx="10"/>
          </p:nvPr>
        </p:nvSpPr>
        <p:spPr/>
        <p:txBody>
          <a:bodyPr/>
          <a:lstStyle/>
          <a:p>
            <a:fld id="{B45F80A1-2993-4A46-9F67-73A84C445976}" type="datetimeFigureOut">
              <a:rPr lang="es-CL" smtClean="0"/>
              <a:t>30-09-2025</a:t>
            </a:fld>
            <a:endParaRPr lang="es-CL"/>
          </a:p>
        </p:txBody>
      </p:sp>
      <p:sp>
        <p:nvSpPr>
          <p:cNvPr id="4" name="Marcador de pie de página 3">
            <a:extLst>
              <a:ext uri="{FF2B5EF4-FFF2-40B4-BE49-F238E27FC236}">
                <a16:creationId xmlns:a16="http://schemas.microsoft.com/office/drawing/2014/main" id="{B510A87B-EBB1-F600-8DE5-29DA82E011B6}"/>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25A03AB3-FFE8-BBBF-2A31-BBA860FBBDB7}"/>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2735813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4CA4405-3475-94D1-B072-612D57991087}"/>
              </a:ext>
            </a:extLst>
          </p:cNvPr>
          <p:cNvSpPr>
            <a:spLocks noGrp="1"/>
          </p:cNvSpPr>
          <p:nvPr>
            <p:ph type="dt" sz="half" idx="10"/>
          </p:nvPr>
        </p:nvSpPr>
        <p:spPr/>
        <p:txBody>
          <a:bodyPr/>
          <a:lstStyle/>
          <a:p>
            <a:fld id="{B45F80A1-2993-4A46-9F67-73A84C445976}" type="datetimeFigureOut">
              <a:rPr lang="es-CL" smtClean="0"/>
              <a:t>30-09-2025</a:t>
            </a:fld>
            <a:endParaRPr lang="es-CL"/>
          </a:p>
        </p:txBody>
      </p:sp>
      <p:sp>
        <p:nvSpPr>
          <p:cNvPr id="3" name="Marcador de pie de página 2">
            <a:extLst>
              <a:ext uri="{FF2B5EF4-FFF2-40B4-BE49-F238E27FC236}">
                <a16:creationId xmlns:a16="http://schemas.microsoft.com/office/drawing/2014/main" id="{C5D65FB5-6F76-12CC-300E-7DD8534E8678}"/>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2424ABBE-D0BE-BFE9-6BC1-A96D1D801133}"/>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695711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632957-0616-6707-A9ED-6B4167BC1B1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39F5A90F-0758-03C2-F8E8-BB1C1E65A6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598E084B-04FF-376E-180E-436042B8BE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F1825F4-9314-48A7-BC62-64CC6C1D8F14}"/>
              </a:ext>
            </a:extLst>
          </p:cNvPr>
          <p:cNvSpPr>
            <a:spLocks noGrp="1"/>
          </p:cNvSpPr>
          <p:nvPr>
            <p:ph type="dt" sz="half" idx="10"/>
          </p:nvPr>
        </p:nvSpPr>
        <p:spPr/>
        <p:txBody>
          <a:bodyPr/>
          <a:lstStyle/>
          <a:p>
            <a:fld id="{B45F80A1-2993-4A46-9F67-73A84C445976}" type="datetimeFigureOut">
              <a:rPr lang="es-CL" smtClean="0"/>
              <a:t>30-09-2025</a:t>
            </a:fld>
            <a:endParaRPr lang="es-CL"/>
          </a:p>
        </p:txBody>
      </p:sp>
      <p:sp>
        <p:nvSpPr>
          <p:cNvPr id="6" name="Marcador de pie de página 5">
            <a:extLst>
              <a:ext uri="{FF2B5EF4-FFF2-40B4-BE49-F238E27FC236}">
                <a16:creationId xmlns:a16="http://schemas.microsoft.com/office/drawing/2014/main" id="{BA08D867-E36A-0551-F29B-1F7D56E8519F}"/>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7F984F76-FC20-A54B-F323-E3F06DB377F9}"/>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521371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D5D0E3-2A51-514F-B074-F80C94CE7AB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547C590F-7E19-13CA-6A35-130195E0F5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54B4AB76-B964-570D-97E0-F9C66B49E1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1DBCE67-B82A-253C-CD2C-90F7F5E7B4F1}"/>
              </a:ext>
            </a:extLst>
          </p:cNvPr>
          <p:cNvSpPr>
            <a:spLocks noGrp="1"/>
          </p:cNvSpPr>
          <p:nvPr>
            <p:ph type="dt" sz="half" idx="10"/>
          </p:nvPr>
        </p:nvSpPr>
        <p:spPr/>
        <p:txBody>
          <a:bodyPr/>
          <a:lstStyle/>
          <a:p>
            <a:fld id="{B45F80A1-2993-4A46-9F67-73A84C445976}" type="datetimeFigureOut">
              <a:rPr lang="es-CL" smtClean="0"/>
              <a:t>30-09-2025</a:t>
            </a:fld>
            <a:endParaRPr lang="es-CL"/>
          </a:p>
        </p:txBody>
      </p:sp>
      <p:sp>
        <p:nvSpPr>
          <p:cNvPr id="6" name="Marcador de pie de página 5">
            <a:extLst>
              <a:ext uri="{FF2B5EF4-FFF2-40B4-BE49-F238E27FC236}">
                <a16:creationId xmlns:a16="http://schemas.microsoft.com/office/drawing/2014/main" id="{4C276D23-40A3-FD50-4604-D04FF720F04B}"/>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C6F3D782-4EB5-F268-E256-F7C0ED062C77}"/>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2048616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3C43FC-5FF7-B142-676E-6B8A6362C09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1D55D0D0-B030-D908-69E3-F745844BE32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D148CD2C-7DD5-DA34-EC7F-DDF36023AC44}"/>
              </a:ext>
            </a:extLst>
          </p:cNvPr>
          <p:cNvSpPr>
            <a:spLocks noGrp="1"/>
          </p:cNvSpPr>
          <p:nvPr>
            <p:ph type="dt" sz="half" idx="10"/>
          </p:nvPr>
        </p:nvSpPr>
        <p:spPr/>
        <p:txBody>
          <a:bodyPr/>
          <a:lstStyle/>
          <a:p>
            <a:fld id="{B45F80A1-2993-4A46-9F67-73A84C445976}" type="datetimeFigureOut">
              <a:rPr lang="es-CL" smtClean="0"/>
              <a:t>30-09-2025</a:t>
            </a:fld>
            <a:endParaRPr lang="es-CL"/>
          </a:p>
        </p:txBody>
      </p:sp>
      <p:sp>
        <p:nvSpPr>
          <p:cNvPr id="5" name="Marcador de pie de página 4">
            <a:extLst>
              <a:ext uri="{FF2B5EF4-FFF2-40B4-BE49-F238E27FC236}">
                <a16:creationId xmlns:a16="http://schemas.microsoft.com/office/drawing/2014/main" id="{A2BC1B5F-B89F-D9F0-648C-03046A93496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C6A765E-A906-CF97-1F2D-5A08CD8663D6}"/>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3690454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407AC7F-ABBF-EC6B-7CEE-F4323A6F7A9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16A7FBA8-D4ED-CE24-682A-A7821597797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4088F5B5-1AF6-EE7A-D77E-F0F852ECBCC7}"/>
              </a:ext>
            </a:extLst>
          </p:cNvPr>
          <p:cNvSpPr>
            <a:spLocks noGrp="1"/>
          </p:cNvSpPr>
          <p:nvPr>
            <p:ph type="dt" sz="half" idx="10"/>
          </p:nvPr>
        </p:nvSpPr>
        <p:spPr/>
        <p:txBody>
          <a:bodyPr/>
          <a:lstStyle/>
          <a:p>
            <a:fld id="{B45F80A1-2993-4A46-9F67-73A84C445976}" type="datetimeFigureOut">
              <a:rPr lang="es-CL" smtClean="0"/>
              <a:t>30-09-2025</a:t>
            </a:fld>
            <a:endParaRPr lang="es-CL"/>
          </a:p>
        </p:txBody>
      </p:sp>
      <p:sp>
        <p:nvSpPr>
          <p:cNvPr id="5" name="Marcador de pie de página 4">
            <a:extLst>
              <a:ext uri="{FF2B5EF4-FFF2-40B4-BE49-F238E27FC236}">
                <a16:creationId xmlns:a16="http://schemas.microsoft.com/office/drawing/2014/main" id="{72A44EA9-4A38-2B98-503E-5BDFCABC23FB}"/>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5CF50DB6-73E0-255B-531E-C89117986DAD}"/>
              </a:ext>
            </a:extLst>
          </p:cNvPr>
          <p:cNvSpPr>
            <a:spLocks noGrp="1"/>
          </p:cNvSpPr>
          <p:nvPr>
            <p:ph type="sldNum" sz="quarter" idx="12"/>
          </p:nvPr>
        </p:nvSpPr>
        <p:spPr/>
        <p:txBody>
          <a:bodyPr/>
          <a:lstStyle/>
          <a:p>
            <a:fld id="{EAE14167-D45C-40EF-B1FB-71EF430185F2}" type="slidenum">
              <a:rPr lang="es-CL" smtClean="0"/>
              <a:t>‹Nº›</a:t>
            </a:fld>
            <a:endParaRPr lang="es-CL"/>
          </a:p>
        </p:txBody>
      </p:sp>
    </p:spTree>
    <p:extLst>
      <p:ext uri="{BB962C8B-B14F-4D97-AF65-F5344CB8AC3E}">
        <p14:creationId xmlns:p14="http://schemas.microsoft.com/office/powerpoint/2010/main" val="4289453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60545AD-414F-17BC-ED9D-7C9616032A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A63CF14C-121E-1943-C100-06E2AC47B7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044EA7A3-4D32-4F18-4327-30109A545D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5F80A1-2993-4A46-9F67-73A84C445976}" type="datetimeFigureOut">
              <a:rPr lang="es-CL" smtClean="0"/>
              <a:t>30-09-2025</a:t>
            </a:fld>
            <a:endParaRPr lang="es-CL"/>
          </a:p>
        </p:txBody>
      </p:sp>
      <p:sp>
        <p:nvSpPr>
          <p:cNvPr id="5" name="Marcador de pie de página 4">
            <a:extLst>
              <a:ext uri="{FF2B5EF4-FFF2-40B4-BE49-F238E27FC236}">
                <a16:creationId xmlns:a16="http://schemas.microsoft.com/office/drawing/2014/main" id="{FE8EA02C-B147-E62E-AA91-64F6AF12A8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AF7CA4AD-F4EA-C54F-96B4-3B377954E4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E14167-D45C-40EF-B1FB-71EF430185F2}" type="slidenum">
              <a:rPr lang="es-CL" smtClean="0"/>
              <a:t>‹Nº›</a:t>
            </a:fld>
            <a:endParaRPr lang="es-CL"/>
          </a:p>
        </p:txBody>
      </p:sp>
    </p:spTree>
    <p:extLst>
      <p:ext uri="{BB962C8B-B14F-4D97-AF65-F5344CB8AC3E}">
        <p14:creationId xmlns:p14="http://schemas.microsoft.com/office/powerpoint/2010/main" val="37223449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5.emf"/><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0491348-A0CA-2876-C085-08D749A428E8}"/>
              </a:ext>
            </a:extLst>
          </p:cNvPr>
          <p:cNvSpPr>
            <a:spLocks noGrp="1"/>
          </p:cNvSpPr>
          <p:nvPr>
            <p:ph type="ctrTitle"/>
          </p:nvPr>
        </p:nvSpPr>
        <p:spPr>
          <a:xfrm>
            <a:off x="838200" y="451381"/>
            <a:ext cx="10512552" cy="4066540"/>
          </a:xfrm>
        </p:spPr>
        <p:txBody>
          <a:bodyPr anchor="b">
            <a:normAutofit/>
          </a:bodyPr>
          <a:lstStyle/>
          <a:p>
            <a:pPr algn="l"/>
            <a:r>
              <a:rPr lang="es-ES" dirty="0"/>
              <a:t>Productividad laboral y salarios a nivel sectorial en Chile y México: 2016-2023</a:t>
            </a:r>
            <a:br>
              <a:rPr lang="es-ES" dirty="0"/>
            </a:br>
            <a:br>
              <a:rPr lang="es-ES" sz="6600" dirty="0"/>
            </a:br>
            <a:r>
              <a:rPr lang="es-ES" sz="3200" dirty="0"/>
              <a:t>Evidencia en manufactura, comercio y comunicaciones</a:t>
            </a:r>
            <a:endParaRPr lang="es-CL" sz="6600" dirty="0"/>
          </a:p>
        </p:txBody>
      </p:sp>
      <p:sp>
        <p:nvSpPr>
          <p:cNvPr id="3" name="Subtítulo 2">
            <a:extLst>
              <a:ext uri="{FF2B5EF4-FFF2-40B4-BE49-F238E27FC236}">
                <a16:creationId xmlns:a16="http://schemas.microsoft.com/office/drawing/2014/main" id="{03D1EF0D-D72D-085E-DA6D-90B9307E3E1C}"/>
              </a:ext>
            </a:extLst>
          </p:cNvPr>
          <p:cNvSpPr>
            <a:spLocks noGrp="1"/>
          </p:cNvSpPr>
          <p:nvPr>
            <p:ph type="subTitle" idx="1"/>
          </p:nvPr>
        </p:nvSpPr>
        <p:spPr>
          <a:xfrm>
            <a:off x="838199" y="4983276"/>
            <a:ext cx="10512552" cy="1126680"/>
          </a:xfrm>
        </p:spPr>
        <p:txBody>
          <a:bodyPr>
            <a:normAutofit/>
          </a:bodyPr>
          <a:lstStyle/>
          <a:p>
            <a:pPr algn="l"/>
            <a:r>
              <a:rPr lang="es-ES" dirty="0"/>
              <a:t>CEPAL 2025</a:t>
            </a:r>
            <a:endParaRPr lang="es-CL" dirty="0"/>
          </a:p>
        </p:txBody>
      </p:sp>
      <p:sp>
        <p:nvSpPr>
          <p:cNvPr id="23"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7801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859648B-37C0-B8D6-2838-C1F3E9A4659F}"/>
              </a:ext>
            </a:extLst>
          </p:cNvPr>
          <p:cNvSpPr>
            <a:spLocks noGrp="1"/>
          </p:cNvSpPr>
          <p:nvPr>
            <p:ph type="title"/>
          </p:nvPr>
        </p:nvSpPr>
        <p:spPr>
          <a:xfrm>
            <a:off x="838200" y="365125"/>
            <a:ext cx="10515600" cy="1325563"/>
          </a:xfrm>
        </p:spPr>
        <p:txBody>
          <a:bodyPr>
            <a:normAutofit/>
          </a:bodyPr>
          <a:lstStyle/>
          <a:p>
            <a:r>
              <a:rPr lang="es-ES" sz="5400" dirty="0"/>
              <a:t>Motivación</a:t>
            </a:r>
            <a:endParaRPr lang="es-CL" sz="5400" dirty="0"/>
          </a:p>
        </p:txBody>
      </p:sp>
      <p:sp>
        <p:nvSpPr>
          <p:cNvPr id="2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70007A9-52CF-E7B8-0113-1E3090031A9F}"/>
              </a:ext>
            </a:extLst>
          </p:cNvPr>
          <p:cNvSpPr>
            <a:spLocks noGrp="1"/>
          </p:cNvSpPr>
          <p:nvPr>
            <p:ph idx="1"/>
          </p:nvPr>
        </p:nvSpPr>
        <p:spPr>
          <a:xfrm>
            <a:off x="838200" y="1929384"/>
            <a:ext cx="10515600" cy="4563491"/>
          </a:xfrm>
        </p:spPr>
        <p:txBody>
          <a:bodyPr>
            <a:normAutofit fontScale="92500" lnSpcReduction="10000"/>
          </a:bodyPr>
          <a:lstStyle/>
          <a:p>
            <a:pPr marL="0" indent="0">
              <a:buNone/>
            </a:pPr>
            <a:r>
              <a:rPr lang="es-ES" sz="2200" i="1" dirty="0"/>
              <a:t>Motivación</a:t>
            </a:r>
          </a:p>
          <a:p>
            <a:r>
              <a:rPr lang="es-ES" sz="1800" dirty="0"/>
              <a:t>Pregunta central: ¿Cuál ha sido la dinámica de la productividad en AL?</a:t>
            </a:r>
            <a:endParaRPr lang="es-ES" sz="1800" b="1" dirty="0"/>
          </a:p>
          <a:p>
            <a:r>
              <a:rPr lang="es-ES" sz="1800" dirty="0"/>
              <a:t>Contexto: </a:t>
            </a:r>
            <a:r>
              <a:rPr lang="es-ES" sz="1800" dirty="0">
                <a:sym typeface="Wingdings" panose="05000000000000000000" pitchFamily="2" charset="2"/>
              </a:rPr>
              <a:t>salario mínimo en Chile y México; pandemia y recuperación post-2021; transformación tecnológica y cambios en la composición sectorial</a:t>
            </a:r>
            <a:endParaRPr lang="es-ES" sz="1800" b="1" dirty="0"/>
          </a:p>
          <a:p>
            <a:pPr marL="0" indent="0">
              <a:buNone/>
            </a:pPr>
            <a:r>
              <a:rPr lang="es-ES" sz="2200" i="1" dirty="0"/>
              <a:t>Racionalidad</a:t>
            </a:r>
          </a:p>
          <a:p>
            <a:pPr marL="0" indent="0">
              <a:buNone/>
            </a:pPr>
            <a:r>
              <a:rPr lang="es-ES" sz="1800" dirty="0"/>
              <a:t>Los agregados tienden a diluir las dinámicas sectoriales, de manera que este análisis se concentra en divisiones donde se observa patrones claros y la comparabilidad es mejor.</a:t>
            </a:r>
          </a:p>
          <a:p>
            <a:pPr marL="0" indent="0">
              <a:buNone/>
            </a:pPr>
            <a:r>
              <a:rPr lang="es-ES" sz="2200" i="1" dirty="0"/>
              <a:t>Metodología</a:t>
            </a:r>
          </a:p>
          <a:p>
            <a:pPr marL="0" indent="0">
              <a:buNone/>
            </a:pPr>
            <a:r>
              <a:rPr lang="es-ES" sz="1800" u="sng" dirty="0"/>
              <a:t>Productividad laboral</a:t>
            </a:r>
            <a:r>
              <a:rPr lang="es-ES" sz="1800" dirty="0"/>
              <a:t>: Valor agregado constante (2018=100)/Número de ocupados</a:t>
            </a:r>
          </a:p>
          <a:p>
            <a:pPr marL="0" indent="0">
              <a:buNone/>
            </a:pPr>
            <a:r>
              <a:rPr lang="es-CL" sz="1800" u="sng" dirty="0"/>
              <a:t>Costo de la mano de obra</a:t>
            </a:r>
            <a:r>
              <a:rPr lang="es-CL" sz="1800" dirty="0"/>
              <a:t>: Remuneraciones (USD corrientes)/Número de ocupados</a:t>
            </a:r>
          </a:p>
          <a:p>
            <a:pPr marL="0" indent="0">
              <a:buNone/>
            </a:pPr>
            <a:r>
              <a:rPr lang="es-ES" sz="1800" dirty="0"/>
              <a:t>Período: 2016–2023; países: Chile y México.</a:t>
            </a:r>
            <a:endParaRPr lang="es-ES" sz="2200" dirty="0"/>
          </a:p>
          <a:p>
            <a:pPr marL="0" indent="0">
              <a:buNone/>
            </a:pPr>
            <a:r>
              <a:rPr lang="es-ES" sz="2200" i="1" dirty="0"/>
              <a:t>Fuente de datos</a:t>
            </a:r>
          </a:p>
          <a:p>
            <a:r>
              <a:rPr lang="es-ES" sz="1800" dirty="0"/>
              <a:t>Base de datos económicos (BADECON) CEPAL</a:t>
            </a:r>
          </a:p>
          <a:p>
            <a:r>
              <a:rPr lang="es-ES" sz="1800" dirty="0"/>
              <a:t>CCNN CEPAL</a:t>
            </a:r>
          </a:p>
          <a:p>
            <a:pPr marL="0" indent="0">
              <a:buNone/>
            </a:pPr>
            <a:endParaRPr lang="es-ES" sz="2200" dirty="0"/>
          </a:p>
          <a:p>
            <a:pPr marL="0" indent="0">
              <a:buNone/>
            </a:pPr>
            <a:endParaRPr lang="es-ES" sz="2200" dirty="0"/>
          </a:p>
          <a:p>
            <a:pPr marL="0" indent="0">
              <a:buNone/>
            </a:pPr>
            <a:endParaRPr lang="es-ES" sz="2200" dirty="0"/>
          </a:p>
          <a:p>
            <a:pPr marL="0" indent="0">
              <a:buNone/>
            </a:pPr>
            <a:endParaRPr lang="es-ES" sz="2200" dirty="0">
              <a:sym typeface="Wingdings" panose="05000000000000000000" pitchFamily="2" charset="2"/>
            </a:endParaRPr>
          </a:p>
        </p:txBody>
      </p:sp>
    </p:spTree>
    <p:extLst>
      <p:ext uri="{BB962C8B-B14F-4D97-AF65-F5344CB8AC3E}">
        <p14:creationId xmlns:p14="http://schemas.microsoft.com/office/powerpoint/2010/main" val="3552067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7C47F7-678F-EB87-A744-7B5DDF1914DB}"/>
              </a:ext>
            </a:extLst>
          </p:cNvPr>
          <p:cNvSpPr>
            <a:spLocks noGrp="1"/>
          </p:cNvSpPr>
          <p:nvPr>
            <p:ph type="title"/>
          </p:nvPr>
        </p:nvSpPr>
        <p:spPr>
          <a:xfrm>
            <a:off x="1886135" y="352473"/>
            <a:ext cx="3221364" cy="289216"/>
          </a:xfrm>
        </p:spPr>
        <p:txBody>
          <a:bodyPr>
            <a:noAutofit/>
          </a:bodyPr>
          <a:lstStyle/>
          <a:p>
            <a:pPr algn="ctr"/>
            <a:r>
              <a:rPr lang="es-ES" sz="1100" b="1" dirty="0"/>
              <a:t>Productividad laboral </a:t>
            </a:r>
            <a:br>
              <a:rPr lang="es-ES" sz="1100" b="1" dirty="0"/>
            </a:br>
            <a:r>
              <a:rPr lang="es-ES" sz="1100" b="1" dirty="0"/>
              <a:t>(tasa de crecimiento porcentual)</a:t>
            </a:r>
            <a:endParaRPr lang="es-CL" sz="1100" b="1" dirty="0"/>
          </a:p>
        </p:txBody>
      </p:sp>
      <p:sp>
        <p:nvSpPr>
          <p:cNvPr id="13" name="Título 1">
            <a:extLst>
              <a:ext uri="{FF2B5EF4-FFF2-40B4-BE49-F238E27FC236}">
                <a16:creationId xmlns:a16="http://schemas.microsoft.com/office/drawing/2014/main" id="{B29625C2-7FE7-8987-2360-58F62771800F}"/>
              </a:ext>
            </a:extLst>
          </p:cNvPr>
          <p:cNvSpPr txBox="1">
            <a:spLocks/>
          </p:cNvSpPr>
          <p:nvPr/>
        </p:nvSpPr>
        <p:spPr>
          <a:xfrm>
            <a:off x="7325846" y="353584"/>
            <a:ext cx="3029331" cy="2892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1100" b="1" dirty="0"/>
              <a:t>Costo de la mano de obra </a:t>
            </a:r>
            <a:br>
              <a:rPr lang="es-ES" sz="1100" b="1" dirty="0"/>
            </a:br>
            <a:r>
              <a:rPr lang="es-ES" sz="1100" b="1" dirty="0"/>
              <a:t>(tasa de crecimiento porcentual)</a:t>
            </a:r>
            <a:endParaRPr lang="es-CL" sz="1100" b="1" dirty="0"/>
          </a:p>
        </p:txBody>
      </p:sp>
      <p:sp>
        <p:nvSpPr>
          <p:cNvPr id="15" name="CuadroTexto 14">
            <a:extLst>
              <a:ext uri="{FF2B5EF4-FFF2-40B4-BE49-F238E27FC236}">
                <a16:creationId xmlns:a16="http://schemas.microsoft.com/office/drawing/2014/main" id="{111F8EEF-B106-3EE1-C1A5-96BE955F6CC6}"/>
              </a:ext>
            </a:extLst>
          </p:cNvPr>
          <p:cNvSpPr txBox="1"/>
          <p:nvPr/>
        </p:nvSpPr>
        <p:spPr>
          <a:xfrm>
            <a:off x="453006" y="5234730"/>
            <a:ext cx="10452682" cy="1200329"/>
          </a:xfrm>
          <a:prstGeom prst="rect">
            <a:avLst/>
          </a:prstGeom>
          <a:noFill/>
        </p:spPr>
        <p:txBody>
          <a:bodyPr wrap="square" rtlCol="0">
            <a:spAutoFit/>
          </a:bodyPr>
          <a:lstStyle/>
          <a:p>
            <a:pPr>
              <a:buFont typeface="Arial" panose="020B0604020202020204" pitchFamily="34" charset="0"/>
              <a:buChar char="•"/>
            </a:pPr>
            <a:r>
              <a:rPr lang="es-ES" sz="1200" b="1" dirty="0"/>
              <a:t> Chile</a:t>
            </a:r>
            <a:r>
              <a:rPr lang="es-ES" sz="1200" dirty="0"/>
              <a:t> muestra una alta volatilidad: la productividad laboral (VA/EMP) cae fuerte en 2020 y 2022, mientras el costo de la mano de obra (REM/EMP) salta en 2021 de manera muy marcada. Esto refleja un desacople temporal entre productividad y salarios.</a:t>
            </a:r>
          </a:p>
          <a:p>
            <a:pPr>
              <a:buFont typeface="Arial" panose="020B0604020202020204" pitchFamily="34" charset="0"/>
              <a:buChar char="•"/>
            </a:pPr>
            <a:r>
              <a:rPr lang="es-ES" sz="1200" b="1" dirty="0"/>
              <a:t> México</a:t>
            </a:r>
            <a:r>
              <a:rPr lang="es-ES" sz="1200" dirty="0"/>
              <a:t> tiene trayectorias más estables: la productividad laboral se mantiene positiva desde 2020, y los costos laborales crecen sostenidamente después de 2021.</a:t>
            </a:r>
          </a:p>
          <a:p>
            <a:endParaRPr lang="es-ES" sz="1200" dirty="0"/>
          </a:p>
          <a:p>
            <a:r>
              <a:rPr lang="es-ES" sz="1200" dirty="0"/>
              <a:t>En general, en Chile se observa un choque de corto plazo (probablemente pandemia y recuperación), mientras en México destaca un patrón más persistente de salarios creciendo por encima de la productividad.</a:t>
            </a:r>
          </a:p>
        </p:txBody>
      </p:sp>
      <p:pic>
        <p:nvPicPr>
          <p:cNvPr id="6" name="Imagen 5">
            <a:extLst>
              <a:ext uri="{FF2B5EF4-FFF2-40B4-BE49-F238E27FC236}">
                <a16:creationId xmlns:a16="http://schemas.microsoft.com/office/drawing/2014/main" id="{3FDA3DE5-3943-C2D2-F623-F2310447AA1E}"/>
              </a:ext>
            </a:extLst>
          </p:cNvPr>
          <p:cNvPicPr>
            <a:picLocks noChangeAspect="1"/>
          </p:cNvPicPr>
          <p:nvPr/>
        </p:nvPicPr>
        <p:blipFill>
          <a:blip r:embed="rId2"/>
          <a:stretch>
            <a:fillRect/>
          </a:stretch>
        </p:blipFill>
        <p:spPr>
          <a:xfrm>
            <a:off x="897635" y="697485"/>
            <a:ext cx="5198364" cy="4341876"/>
          </a:xfrm>
          <a:prstGeom prst="rect">
            <a:avLst/>
          </a:prstGeom>
        </p:spPr>
      </p:pic>
      <p:pic>
        <p:nvPicPr>
          <p:cNvPr id="8" name="Imagen 7">
            <a:extLst>
              <a:ext uri="{FF2B5EF4-FFF2-40B4-BE49-F238E27FC236}">
                <a16:creationId xmlns:a16="http://schemas.microsoft.com/office/drawing/2014/main" id="{5467C621-5E4E-9019-45EC-127F1D569146}"/>
              </a:ext>
            </a:extLst>
          </p:cNvPr>
          <p:cNvPicPr>
            <a:picLocks noChangeAspect="1"/>
          </p:cNvPicPr>
          <p:nvPr/>
        </p:nvPicPr>
        <p:blipFill>
          <a:blip r:embed="rId3"/>
          <a:stretch>
            <a:fillRect/>
          </a:stretch>
        </p:blipFill>
        <p:spPr>
          <a:xfrm>
            <a:off x="6242092" y="712645"/>
            <a:ext cx="5196840" cy="4343400"/>
          </a:xfrm>
          <a:prstGeom prst="rect">
            <a:avLst/>
          </a:prstGeom>
        </p:spPr>
      </p:pic>
      <p:sp>
        <p:nvSpPr>
          <p:cNvPr id="9" name="CuadroTexto 8">
            <a:extLst>
              <a:ext uri="{FF2B5EF4-FFF2-40B4-BE49-F238E27FC236}">
                <a16:creationId xmlns:a16="http://schemas.microsoft.com/office/drawing/2014/main" id="{08471CCD-2B88-3B3E-85E5-207D297CE211}"/>
              </a:ext>
            </a:extLst>
          </p:cNvPr>
          <p:cNvSpPr txBox="1"/>
          <p:nvPr/>
        </p:nvSpPr>
        <p:spPr>
          <a:xfrm>
            <a:off x="151010" y="126675"/>
            <a:ext cx="1652631" cy="461665"/>
          </a:xfrm>
          <a:prstGeom prst="rect">
            <a:avLst/>
          </a:prstGeom>
          <a:noFill/>
        </p:spPr>
        <p:txBody>
          <a:bodyPr wrap="square" rtlCol="0">
            <a:spAutoFit/>
          </a:bodyPr>
          <a:lstStyle/>
          <a:p>
            <a:r>
              <a:rPr lang="es-ES" sz="1200" b="1" i="1" dirty="0"/>
              <a:t>Elaboración de </a:t>
            </a:r>
          </a:p>
          <a:p>
            <a:r>
              <a:rPr lang="es-ES" sz="1200" b="1" i="1" dirty="0"/>
              <a:t>alimentos</a:t>
            </a:r>
            <a:endParaRPr lang="es-CL" sz="1200" b="1" i="1" dirty="0"/>
          </a:p>
        </p:txBody>
      </p:sp>
    </p:spTree>
    <p:extLst>
      <p:ext uri="{BB962C8B-B14F-4D97-AF65-F5344CB8AC3E}">
        <p14:creationId xmlns:p14="http://schemas.microsoft.com/office/powerpoint/2010/main" val="1082854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6E134711-A48F-A2CE-D938-54FBCBC4A052}"/>
              </a:ext>
            </a:extLst>
          </p:cNvPr>
          <p:cNvSpPr>
            <a:spLocks noGrp="1"/>
          </p:cNvSpPr>
          <p:nvPr>
            <p:ph type="title"/>
          </p:nvPr>
        </p:nvSpPr>
        <p:spPr>
          <a:xfrm>
            <a:off x="1589015" y="520292"/>
            <a:ext cx="3594246" cy="289216"/>
          </a:xfrm>
        </p:spPr>
        <p:txBody>
          <a:bodyPr>
            <a:noAutofit/>
          </a:bodyPr>
          <a:lstStyle/>
          <a:p>
            <a:pPr algn="ctr"/>
            <a:r>
              <a:rPr lang="es-ES" sz="1100" b="1" dirty="0"/>
              <a:t>Productividad laboral </a:t>
            </a:r>
            <a:br>
              <a:rPr lang="es-ES" sz="1100" b="1" dirty="0"/>
            </a:br>
            <a:r>
              <a:rPr lang="es-ES" sz="1100" b="1" dirty="0"/>
              <a:t>(tasa de crecimiento porcentual)</a:t>
            </a:r>
            <a:endParaRPr lang="es-CL" sz="1100" b="1" dirty="0"/>
          </a:p>
        </p:txBody>
      </p:sp>
      <p:sp>
        <p:nvSpPr>
          <p:cNvPr id="7" name="Título 1">
            <a:extLst>
              <a:ext uri="{FF2B5EF4-FFF2-40B4-BE49-F238E27FC236}">
                <a16:creationId xmlns:a16="http://schemas.microsoft.com/office/drawing/2014/main" id="{A7CAFFB7-59F1-2793-2B55-EC053B4C664F}"/>
              </a:ext>
            </a:extLst>
          </p:cNvPr>
          <p:cNvSpPr txBox="1">
            <a:spLocks/>
          </p:cNvSpPr>
          <p:nvPr/>
        </p:nvSpPr>
        <p:spPr>
          <a:xfrm>
            <a:off x="6866833" y="483790"/>
            <a:ext cx="3594246" cy="289216"/>
          </a:xfrm>
          <a:prstGeom prst="rect">
            <a:avLst/>
          </a:prstGeom>
        </p:spPr>
        <p:txBody>
          <a:bodyPr vert="horz" lIns="91440" tIns="45720" rIns="91440" bIns="45720" rtlCol="0" anchor="ctr">
            <a:noAutofit/>
          </a:bodyPr>
          <a:lstStyle>
            <a:lvl1pPr algn="ctr">
              <a:lnSpc>
                <a:spcPct val="90000"/>
              </a:lnSpc>
              <a:spcBef>
                <a:spcPct val="0"/>
              </a:spcBef>
              <a:buNone/>
              <a:defRPr sz="1100" b="1">
                <a:latin typeface="+mj-lt"/>
                <a:ea typeface="+mj-ea"/>
                <a:cs typeface="+mj-cs"/>
              </a:defRPr>
            </a:lvl1pPr>
          </a:lstStyle>
          <a:p>
            <a:r>
              <a:rPr lang="es-ES" dirty="0"/>
              <a:t>Costo de la mano de obra </a:t>
            </a:r>
            <a:br>
              <a:rPr lang="es-ES" dirty="0"/>
            </a:br>
            <a:r>
              <a:rPr lang="es-ES" dirty="0"/>
              <a:t>(tasa de crecimiento porcentual)</a:t>
            </a:r>
            <a:endParaRPr lang="es-CL" dirty="0"/>
          </a:p>
        </p:txBody>
      </p:sp>
      <p:sp>
        <p:nvSpPr>
          <p:cNvPr id="12" name="CuadroTexto 11">
            <a:extLst>
              <a:ext uri="{FF2B5EF4-FFF2-40B4-BE49-F238E27FC236}">
                <a16:creationId xmlns:a16="http://schemas.microsoft.com/office/drawing/2014/main" id="{99BA03C9-BEEE-75FA-4652-E01AA9A9B5F3}"/>
              </a:ext>
            </a:extLst>
          </p:cNvPr>
          <p:cNvSpPr txBox="1"/>
          <p:nvPr/>
        </p:nvSpPr>
        <p:spPr>
          <a:xfrm>
            <a:off x="436228" y="5016617"/>
            <a:ext cx="10821798" cy="1384995"/>
          </a:xfrm>
          <a:prstGeom prst="rect">
            <a:avLst/>
          </a:prstGeom>
          <a:noFill/>
        </p:spPr>
        <p:txBody>
          <a:bodyPr wrap="square" rtlCol="0">
            <a:spAutoFit/>
          </a:bodyPr>
          <a:lstStyle/>
          <a:p>
            <a:pPr>
              <a:buFont typeface="Arial" panose="020B0604020202020204" pitchFamily="34" charset="0"/>
              <a:buChar char="•"/>
            </a:pPr>
            <a:r>
              <a:rPr lang="es-ES" sz="1200" b="1" dirty="0"/>
              <a:t> Chile</a:t>
            </a:r>
            <a:r>
              <a:rPr lang="es-ES" sz="1200" dirty="0"/>
              <a:t>: la productividad laboral presenta oscilaciones con varios años en negativo (2017, 2019, 2020, 2022–2023), mientras que el costo de la mano de obra mantiene una trayectoria al alza casi continua, con un salto fuerte en 2021. Esto muestra un claro desacople: salarios que crecen aunque la productividad cae.</a:t>
            </a:r>
          </a:p>
          <a:p>
            <a:pPr>
              <a:buFont typeface="Arial" panose="020B0604020202020204" pitchFamily="34" charset="0"/>
              <a:buChar char="•"/>
            </a:pPr>
            <a:r>
              <a:rPr lang="es-ES" sz="1200" b="1" dirty="0"/>
              <a:t> México</a:t>
            </a:r>
            <a:r>
              <a:rPr lang="es-ES" sz="1200" dirty="0"/>
              <a:t>: la productividad laboral muestra repuntes importantes en 2020–2021 y 2023, aunque con caídas en 2019 y 2022. Sin embargo, el costo de la mano de obra aumenta de forma muy marcada desde 2018, con un máximo en 2021 y niveles altos sostenidos en 2022–2023.</a:t>
            </a:r>
          </a:p>
          <a:p>
            <a:endParaRPr lang="es-ES" sz="1200" b="1" dirty="0"/>
          </a:p>
          <a:p>
            <a:r>
              <a:rPr lang="es-ES" sz="1200" dirty="0"/>
              <a:t>En ambos países el costo laboral crece más rápido que la productividad, pero el contraste es más agudo en Chile, donde los salarios se mantienen en alza en contextos de productividad persistentemente negativa o débil.</a:t>
            </a:r>
          </a:p>
        </p:txBody>
      </p:sp>
      <p:sp>
        <p:nvSpPr>
          <p:cNvPr id="8" name="CuadroTexto 7">
            <a:extLst>
              <a:ext uri="{FF2B5EF4-FFF2-40B4-BE49-F238E27FC236}">
                <a16:creationId xmlns:a16="http://schemas.microsoft.com/office/drawing/2014/main" id="{38A4ADFE-99E3-6C16-6A09-91266FD6997F}"/>
              </a:ext>
            </a:extLst>
          </p:cNvPr>
          <p:cNvSpPr txBox="1"/>
          <p:nvPr/>
        </p:nvSpPr>
        <p:spPr>
          <a:xfrm>
            <a:off x="151010" y="126675"/>
            <a:ext cx="2021739" cy="646331"/>
          </a:xfrm>
          <a:prstGeom prst="rect">
            <a:avLst/>
          </a:prstGeom>
          <a:noFill/>
        </p:spPr>
        <p:txBody>
          <a:bodyPr wrap="square" rtlCol="0">
            <a:spAutoFit/>
          </a:bodyPr>
          <a:lstStyle/>
          <a:p>
            <a:r>
              <a:rPr lang="es-ES" sz="1200" b="1" i="1" dirty="0"/>
              <a:t>Comercio al por mayor, excepto automotores y bicicletas</a:t>
            </a:r>
            <a:endParaRPr lang="es-CL" sz="1200" b="1" i="1" dirty="0"/>
          </a:p>
        </p:txBody>
      </p:sp>
      <p:pic>
        <p:nvPicPr>
          <p:cNvPr id="9" name="Imagen 8">
            <a:extLst>
              <a:ext uri="{FF2B5EF4-FFF2-40B4-BE49-F238E27FC236}">
                <a16:creationId xmlns:a16="http://schemas.microsoft.com/office/drawing/2014/main" id="{0D86B62E-BC9E-7D79-0F24-C49E9D4CD7EB}"/>
              </a:ext>
            </a:extLst>
          </p:cNvPr>
          <p:cNvPicPr>
            <a:picLocks noChangeAspect="1"/>
          </p:cNvPicPr>
          <p:nvPr/>
        </p:nvPicPr>
        <p:blipFill>
          <a:blip r:embed="rId2"/>
          <a:stretch>
            <a:fillRect/>
          </a:stretch>
        </p:blipFill>
        <p:spPr>
          <a:xfrm>
            <a:off x="722948" y="868792"/>
            <a:ext cx="5326380" cy="3837432"/>
          </a:xfrm>
          <a:prstGeom prst="rect">
            <a:avLst/>
          </a:prstGeom>
        </p:spPr>
      </p:pic>
      <p:pic>
        <p:nvPicPr>
          <p:cNvPr id="10" name="Imagen 9">
            <a:extLst>
              <a:ext uri="{FF2B5EF4-FFF2-40B4-BE49-F238E27FC236}">
                <a16:creationId xmlns:a16="http://schemas.microsoft.com/office/drawing/2014/main" id="{E1784A49-27B2-FDDD-13A9-1B6356FF62FC}"/>
              </a:ext>
            </a:extLst>
          </p:cNvPr>
          <p:cNvPicPr>
            <a:picLocks noChangeAspect="1"/>
          </p:cNvPicPr>
          <p:nvPr/>
        </p:nvPicPr>
        <p:blipFill>
          <a:blip r:embed="rId3"/>
          <a:stretch>
            <a:fillRect/>
          </a:stretch>
        </p:blipFill>
        <p:spPr>
          <a:xfrm>
            <a:off x="6142674" y="693532"/>
            <a:ext cx="5230368" cy="4012692"/>
          </a:xfrm>
          <a:prstGeom prst="rect">
            <a:avLst/>
          </a:prstGeom>
        </p:spPr>
      </p:pic>
    </p:spTree>
    <p:extLst>
      <p:ext uri="{BB962C8B-B14F-4D97-AF65-F5344CB8AC3E}">
        <p14:creationId xmlns:p14="http://schemas.microsoft.com/office/powerpoint/2010/main" val="3953297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1744A078-E48A-E08A-04DA-3288236ABBF4}"/>
              </a:ext>
            </a:extLst>
          </p:cNvPr>
          <p:cNvSpPr>
            <a:spLocks noGrp="1"/>
          </p:cNvSpPr>
          <p:nvPr>
            <p:ph type="title"/>
          </p:nvPr>
        </p:nvSpPr>
        <p:spPr>
          <a:xfrm>
            <a:off x="2147582" y="693542"/>
            <a:ext cx="2766028" cy="289216"/>
          </a:xfrm>
        </p:spPr>
        <p:txBody>
          <a:bodyPr>
            <a:noAutofit/>
          </a:bodyPr>
          <a:lstStyle/>
          <a:p>
            <a:pPr algn="ctr"/>
            <a:r>
              <a:rPr lang="es-ES" sz="1100" b="1" dirty="0"/>
              <a:t>Productividad laboral </a:t>
            </a:r>
            <a:br>
              <a:rPr lang="es-ES" sz="1100" b="1" dirty="0"/>
            </a:br>
            <a:r>
              <a:rPr lang="es-ES" sz="1100" b="1" dirty="0"/>
              <a:t>(tasa de crecimiento porcentual)</a:t>
            </a:r>
            <a:endParaRPr lang="es-CL" sz="1100" b="1" dirty="0"/>
          </a:p>
        </p:txBody>
      </p:sp>
      <p:sp>
        <p:nvSpPr>
          <p:cNvPr id="9" name="Título 1">
            <a:extLst>
              <a:ext uri="{FF2B5EF4-FFF2-40B4-BE49-F238E27FC236}">
                <a16:creationId xmlns:a16="http://schemas.microsoft.com/office/drawing/2014/main" id="{4682E2AF-15C9-92A6-7276-7A02B93903F3}"/>
              </a:ext>
            </a:extLst>
          </p:cNvPr>
          <p:cNvSpPr txBox="1">
            <a:spLocks/>
          </p:cNvSpPr>
          <p:nvPr/>
        </p:nvSpPr>
        <p:spPr>
          <a:xfrm>
            <a:off x="7428671" y="693542"/>
            <a:ext cx="2723667" cy="28921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1100" b="1" dirty="0"/>
              <a:t>Costo de la mano de obra </a:t>
            </a:r>
            <a:br>
              <a:rPr lang="es-ES" sz="1100" b="1" dirty="0"/>
            </a:br>
            <a:r>
              <a:rPr lang="es-ES" sz="1100" b="1" dirty="0"/>
              <a:t>(tasa de crecimiento porcentual)</a:t>
            </a:r>
            <a:endParaRPr lang="es-CL" sz="1100" b="1" dirty="0"/>
          </a:p>
        </p:txBody>
      </p:sp>
      <p:sp>
        <p:nvSpPr>
          <p:cNvPr id="11" name="CuadroTexto 10">
            <a:extLst>
              <a:ext uri="{FF2B5EF4-FFF2-40B4-BE49-F238E27FC236}">
                <a16:creationId xmlns:a16="http://schemas.microsoft.com/office/drawing/2014/main" id="{78F4030D-6446-76BC-7111-389ABA7F653F}"/>
              </a:ext>
            </a:extLst>
          </p:cNvPr>
          <p:cNvSpPr txBox="1"/>
          <p:nvPr/>
        </p:nvSpPr>
        <p:spPr>
          <a:xfrm>
            <a:off x="431543" y="5007513"/>
            <a:ext cx="10125512" cy="1754326"/>
          </a:xfrm>
          <a:prstGeom prst="rect">
            <a:avLst/>
          </a:prstGeom>
          <a:noFill/>
        </p:spPr>
        <p:txBody>
          <a:bodyPr wrap="square" rtlCol="0">
            <a:spAutoFit/>
          </a:bodyPr>
          <a:lstStyle/>
          <a:p>
            <a:pPr marL="171450" indent="-171450">
              <a:buFont typeface="Arial" panose="020B0604020202020204" pitchFamily="34" charset="0"/>
              <a:buChar char="•"/>
            </a:pPr>
            <a:r>
              <a:rPr lang="es-ES" sz="1200" b="1" dirty="0"/>
              <a:t>Chile</a:t>
            </a:r>
            <a:r>
              <a:rPr lang="es-ES" sz="1200" dirty="0"/>
              <a:t>: la productividad laboral es muy volátil, con caídas profundas en 2019 y 2020, pero también fuertes repuntes en 2021. En paralelo, el costo de la mano de obra mantiene un crecimiento sostenido (destaca el salto de 2021), lo que refleja un desajuste recurrente entre productividad y salarios.</a:t>
            </a:r>
          </a:p>
          <a:p>
            <a:endParaRPr lang="es-ES" sz="1200" dirty="0"/>
          </a:p>
          <a:p>
            <a:pPr marL="171450" indent="-171450">
              <a:buFont typeface="Arial" panose="020B0604020202020204" pitchFamily="34" charset="0"/>
              <a:buChar char="•"/>
            </a:pPr>
            <a:r>
              <a:rPr lang="es-ES" sz="1200" b="1" dirty="0"/>
              <a:t>México</a:t>
            </a:r>
            <a:r>
              <a:rPr lang="es-ES" sz="1200" dirty="0"/>
              <a:t>: se observa una divergencia marcada post-2021: la productividad laboral se mantiene positiva pero con altibajos, mientras que el costo de la mano de obra crece de manera continua y fuerte en 2021–2023. Esto sugiere un desacople estructural: salarios en ascenso sostenido incluso con productividad inestable.</a:t>
            </a:r>
          </a:p>
          <a:p>
            <a:pPr marL="171450" indent="-171450">
              <a:buFont typeface="Arial" panose="020B0604020202020204" pitchFamily="34" charset="0"/>
              <a:buChar char="•"/>
            </a:pPr>
            <a:endParaRPr lang="es-ES" sz="1200" dirty="0"/>
          </a:p>
          <a:p>
            <a:r>
              <a:rPr lang="es-ES" sz="1200" dirty="0"/>
              <a:t>Comunicaciones es el caso más claro de brecha positiva en México, con salarios creciendo persistentemente por encima de la productividad, lo que puede reflejar tecnificación y concentración en puestos especializados.</a:t>
            </a:r>
            <a:endParaRPr lang="es-CL" sz="1200" dirty="0"/>
          </a:p>
        </p:txBody>
      </p:sp>
      <p:graphicFrame>
        <p:nvGraphicFramePr>
          <p:cNvPr id="2" name="Gráfico 1">
            <a:extLst>
              <a:ext uri="{FF2B5EF4-FFF2-40B4-BE49-F238E27FC236}">
                <a16:creationId xmlns:a16="http://schemas.microsoft.com/office/drawing/2014/main" id="{B2E78F4E-5983-7002-024C-EF31DDCCC493}"/>
              </a:ext>
            </a:extLst>
          </p:cNvPr>
          <p:cNvGraphicFramePr>
            <a:graphicFrameLocks noGrp="1"/>
          </p:cNvGraphicFramePr>
          <p:nvPr>
            <p:extLst>
              <p:ext uri="{D42A27DB-BD31-4B8C-83A1-F6EECF244321}">
                <p14:modId xmlns:p14="http://schemas.microsoft.com/office/powerpoint/2010/main" val="1188379739"/>
              </p:ext>
            </p:extLst>
          </p:nvPr>
        </p:nvGraphicFramePr>
        <p:xfrm>
          <a:off x="593563" y="982758"/>
          <a:ext cx="5281089" cy="370797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Gráfico 2">
            <a:extLst>
              <a:ext uri="{FF2B5EF4-FFF2-40B4-BE49-F238E27FC236}">
                <a16:creationId xmlns:a16="http://schemas.microsoft.com/office/drawing/2014/main" id="{4105F101-A051-2DF6-FC0A-3DB8BF205CD2}"/>
              </a:ext>
            </a:extLst>
          </p:cNvPr>
          <p:cNvGraphicFramePr>
            <a:graphicFrameLocks noGrp="1"/>
          </p:cNvGraphicFramePr>
          <p:nvPr>
            <p:extLst>
              <p:ext uri="{D42A27DB-BD31-4B8C-83A1-F6EECF244321}">
                <p14:modId xmlns:p14="http://schemas.microsoft.com/office/powerpoint/2010/main" val="46393351"/>
              </p:ext>
            </p:extLst>
          </p:nvPr>
        </p:nvGraphicFramePr>
        <p:xfrm>
          <a:off x="6199465" y="1191431"/>
          <a:ext cx="5500817" cy="3499304"/>
        </p:xfrm>
        <a:graphic>
          <a:graphicData uri="http://schemas.openxmlformats.org/drawingml/2006/chart">
            <c:chart xmlns:c="http://schemas.openxmlformats.org/drawingml/2006/chart" xmlns:r="http://schemas.openxmlformats.org/officeDocument/2006/relationships" r:id="rId3"/>
          </a:graphicData>
        </a:graphic>
      </p:graphicFrame>
      <p:sp>
        <p:nvSpPr>
          <p:cNvPr id="4" name="CuadroTexto 3">
            <a:extLst>
              <a:ext uri="{FF2B5EF4-FFF2-40B4-BE49-F238E27FC236}">
                <a16:creationId xmlns:a16="http://schemas.microsoft.com/office/drawing/2014/main" id="{96ECB9FE-E01B-E470-3016-8B892FF92C44}"/>
              </a:ext>
            </a:extLst>
          </p:cNvPr>
          <p:cNvSpPr txBox="1"/>
          <p:nvPr/>
        </p:nvSpPr>
        <p:spPr>
          <a:xfrm>
            <a:off x="151010" y="126675"/>
            <a:ext cx="2021739" cy="830997"/>
          </a:xfrm>
          <a:prstGeom prst="rect">
            <a:avLst/>
          </a:prstGeom>
          <a:noFill/>
        </p:spPr>
        <p:txBody>
          <a:bodyPr wrap="square" rtlCol="0">
            <a:spAutoFit/>
          </a:bodyPr>
          <a:lstStyle/>
          <a:p>
            <a:r>
              <a:rPr lang="es-ES" sz="1200" b="1" i="1" dirty="0"/>
              <a:t>Producción de películas, videos y programas de TV, grabación de sonido y edición musical</a:t>
            </a:r>
            <a:endParaRPr lang="es-CL" sz="1200" b="1" i="1" dirty="0"/>
          </a:p>
        </p:txBody>
      </p:sp>
    </p:spTree>
    <p:extLst>
      <p:ext uri="{BB962C8B-B14F-4D97-AF65-F5344CB8AC3E}">
        <p14:creationId xmlns:p14="http://schemas.microsoft.com/office/powerpoint/2010/main" val="3830991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A556923C-B9F0-3321-0DAA-B51042F9EA78}"/>
              </a:ext>
            </a:extLst>
          </p:cNvPr>
          <p:cNvSpPr txBox="1"/>
          <p:nvPr/>
        </p:nvSpPr>
        <p:spPr>
          <a:xfrm>
            <a:off x="1029478" y="270587"/>
            <a:ext cx="5066522" cy="461665"/>
          </a:xfrm>
          <a:prstGeom prst="rect">
            <a:avLst/>
          </a:prstGeom>
          <a:noFill/>
        </p:spPr>
        <p:txBody>
          <a:bodyPr wrap="square" rtlCol="0">
            <a:spAutoFit/>
          </a:bodyPr>
          <a:lstStyle/>
          <a:p>
            <a:r>
              <a:rPr lang="es-ES" sz="2400" b="1"/>
              <a:t>Variación acumulada: 2016-2023</a:t>
            </a:r>
            <a:endParaRPr lang="es-CL" sz="2400" b="1" dirty="0"/>
          </a:p>
        </p:txBody>
      </p:sp>
      <p:graphicFrame>
        <p:nvGraphicFramePr>
          <p:cNvPr id="14" name="CuadroTexto 9">
            <a:extLst>
              <a:ext uri="{FF2B5EF4-FFF2-40B4-BE49-F238E27FC236}">
                <a16:creationId xmlns:a16="http://schemas.microsoft.com/office/drawing/2014/main" id="{89AD51E3-330E-F303-B495-F599E39D469E}"/>
              </a:ext>
            </a:extLst>
          </p:cNvPr>
          <p:cNvGraphicFramePr/>
          <p:nvPr/>
        </p:nvGraphicFramePr>
        <p:xfrm>
          <a:off x="1078528" y="4292672"/>
          <a:ext cx="8388220" cy="21236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Imagen 1">
            <a:extLst>
              <a:ext uri="{FF2B5EF4-FFF2-40B4-BE49-F238E27FC236}">
                <a16:creationId xmlns:a16="http://schemas.microsoft.com/office/drawing/2014/main" id="{CFC40A9A-F41C-F08F-BE9B-C919E51BB005}"/>
              </a:ext>
            </a:extLst>
          </p:cNvPr>
          <p:cNvPicPr>
            <a:picLocks noChangeAspect="1"/>
          </p:cNvPicPr>
          <p:nvPr/>
        </p:nvPicPr>
        <p:blipFill>
          <a:blip r:embed="rId7"/>
          <a:stretch>
            <a:fillRect/>
          </a:stretch>
        </p:blipFill>
        <p:spPr>
          <a:xfrm>
            <a:off x="1029478" y="1007706"/>
            <a:ext cx="9504527" cy="3009511"/>
          </a:xfrm>
          <a:prstGeom prst="rect">
            <a:avLst/>
          </a:prstGeom>
        </p:spPr>
      </p:pic>
    </p:spTree>
    <p:extLst>
      <p:ext uri="{BB962C8B-B14F-4D97-AF65-F5344CB8AC3E}">
        <p14:creationId xmlns:p14="http://schemas.microsoft.com/office/powerpoint/2010/main" val="3160126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ítulo 4">
            <a:extLst>
              <a:ext uri="{FF2B5EF4-FFF2-40B4-BE49-F238E27FC236}">
                <a16:creationId xmlns:a16="http://schemas.microsoft.com/office/drawing/2014/main" id="{A157EB07-3BB4-7D59-F30E-81E7F8C2AB27}"/>
              </a:ext>
            </a:extLst>
          </p:cNvPr>
          <p:cNvSpPr>
            <a:spLocks noGrp="1"/>
          </p:cNvSpPr>
          <p:nvPr>
            <p:ph type="title"/>
          </p:nvPr>
        </p:nvSpPr>
        <p:spPr>
          <a:xfrm>
            <a:off x="326472" y="144384"/>
            <a:ext cx="3406629" cy="258532"/>
          </a:xfrm>
          <a:noFill/>
        </p:spPr>
        <p:txBody>
          <a:bodyPr wrap="square" rtlCol="0">
            <a:spAutoFit/>
          </a:bodyPr>
          <a:lstStyle/>
          <a:p>
            <a:r>
              <a:rPr lang="en-US" sz="1200" b="1" i="1" dirty="0">
                <a:latin typeface="+mn-lt"/>
                <a:ea typeface="+mn-ea"/>
                <a:cs typeface="+mn-cs"/>
              </a:rPr>
              <a:t>Trade off </a:t>
            </a:r>
            <a:r>
              <a:rPr lang="en-US" sz="1200" b="1" i="1" dirty="0" err="1">
                <a:latin typeface="+mn-lt"/>
                <a:ea typeface="+mn-ea"/>
                <a:cs typeface="+mn-cs"/>
              </a:rPr>
              <a:t>productividad-empleo-crecimiento</a:t>
            </a:r>
            <a:endParaRPr lang="en-US" sz="1200" b="1" i="1" dirty="0">
              <a:latin typeface="+mn-lt"/>
              <a:ea typeface="+mn-ea"/>
              <a:cs typeface="+mn-cs"/>
            </a:endParaRPr>
          </a:p>
        </p:txBody>
      </p:sp>
      <p:pic>
        <p:nvPicPr>
          <p:cNvPr id="4" name="Imagen 3">
            <a:extLst>
              <a:ext uri="{FF2B5EF4-FFF2-40B4-BE49-F238E27FC236}">
                <a16:creationId xmlns:a16="http://schemas.microsoft.com/office/drawing/2014/main" id="{F65CD1FB-2164-F10E-3105-70F2AA2B3B5B}"/>
              </a:ext>
            </a:extLst>
          </p:cNvPr>
          <p:cNvPicPr>
            <a:picLocks noChangeAspect="1"/>
          </p:cNvPicPr>
          <p:nvPr/>
        </p:nvPicPr>
        <p:blipFill>
          <a:blip r:embed="rId2"/>
          <a:stretch>
            <a:fillRect/>
          </a:stretch>
        </p:blipFill>
        <p:spPr>
          <a:xfrm>
            <a:off x="1887522" y="612396"/>
            <a:ext cx="7648157" cy="5812599"/>
          </a:xfrm>
          <a:prstGeom prst="rect">
            <a:avLst/>
          </a:prstGeom>
          <a:noFill/>
        </p:spPr>
      </p:pic>
    </p:spTree>
    <p:extLst>
      <p:ext uri="{BB962C8B-B14F-4D97-AF65-F5344CB8AC3E}">
        <p14:creationId xmlns:p14="http://schemas.microsoft.com/office/powerpoint/2010/main" val="48464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45FD80-74C5-A7E8-75FC-5ADEFD6E902E}"/>
              </a:ext>
            </a:extLst>
          </p:cNvPr>
          <p:cNvSpPr>
            <a:spLocks noGrp="1"/>
          </p:cNvSpPr>
          <p:nvPr>
            <p:ph type="title"/>
          </p:nvPr>
        </p:nvSpPr>
        <p:spPr/>
        <p:txBody>
          <a:bodyPr/>
          <a:lstStyle/>
          <a:p>
            <a:r>
              <a:rPr lang="es-CL" dirty="0"/>
              <a:t>Cambio estructural regional?</a:t>
            </a:r>
          </a:p>
        </p:txBody>
      </p:sp>
      <p:sp>
        <p:nvSpPr>
          <p:cNvPr id="3" name="Marcador de contenido 2">
            <a:extLst>
              <a:ext uri="{FF2B5EF4-FFF2-40B4-BE49-F238E27FC236}">
                <a16:creationId xmlns:a16="http://schemas.microsoft.com/office/drawing/2014/main" id="{E6F29FB6-6987-531C-BADE-AD079BEAED66}"/>
              </a:ext>
            </a:extLst>
          </p:cNvPr>
          <p:cNvSpPr>
            <a:spLocks noGrp="1"/>
          </p:cNvSpPr>
          <p:nvPr>
            <p:ph idx="1"/>
          </p:nvPr>
        </p:nvSpPr>
        <p:spPr/>
        <p:txBody>
          <a:bodyPr/>
          <a:lstStyle/>
          <a:p>
            <a:endParaRPr lang="es-CL" dirty="0"/>
          </a:p>
        </p:txBody>
      </p:sp>
    </p:spTree>
    <p:extLst>
      <p:ext uri="{BB962C8B-B14F-4D97-AF65-F5344CB8AC3E}">
        <p14:creationId xmlns:p14="http://schemas.microsoft.com/office/powerpoint/2010/main" val="1662102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97650EC-B586-C7FF-3867-B1C1D6E57DDB}"/>
              </a:ext>
            </a:extLst>
          </p:cNvPr>
          <p:cNvSpPr>
            <a:spLocks noGrp="1"/>
          </p:cNvSpPr>
          <p:nvPr>
            <p:ph type="title"/>
          </p:nvPr>
        </p:nvSpPr>
        <p:spPr>
          <a:xfrm>
            <a:off x="838200" y="365125"/>
            <a:ext cx="10515600" cy="1325563"/>
          </a:xfrm>
        </p:spPr>
        <p:txBody>
          <a:bodyPr>
            <a:normAutofit/>
          </a:bodyPr>
          <a:lstStyle/>
          <a:p>
            <a:r>
              <a:rPr lang="es-ES" sz="5400" dirty="0"/>
              <a:t>En definitiva….</a:t>
            </a:r>
            <a:endParaRPr lang="es-CL"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363CB31-C96D-3E6C-13E3-0390C5EAAAB3}"/>
              </a:ext>
            </a:extLst>
          </p:cNvPr>
          <p:cNvSpPr>
            <a:spLocks noGrp="1"/>
          </p:cNvSpPr>
          <p:nvPr>
            <p:ph idx="1"/>
          </p:nvPr>
        </p:nvSpPr>
        <p:spPr>
          <a:xfrm>
            <a:off x="838200" y="1929384"/>
            <a:ext cx="10515600" cy="4251960"/>
          </a:xfrm>
        </p:spPr>
        <p:txBody>
          <a:bodyPr>
            <a:normAutofit/>
          </a:bodyPr>
          <a:lstStyle/>
          <a:p>
            <a:pPr marL="0" indent="0">
              <a:buNone/>
            </a:pPr>
            <a:r>
              <a:rPr lang="es-ES" sz="2200" dirty="0"/>
              <a:t>Este análisis muestra que los salarios promedio no están creciendo en línea con la productividad laboral. En varios casos (especialmente en México post-2021 y en divisiones como comercio y comunicaciones) los salarios han aumentado mientras la productividad se ha estancado o caído, mostrando un desacople claro entre remuneraciones y productividad.</a:t>
            </a:r>
          </a:p>
          <a:p>
            <a:endParaRPr lang="es-CL" sz="2200" dirty="0"/>
          </a:p>
        </p:txBody>
      </p:sp>
    </p:spTree>
    <p:extLst>
      <p:ext uri="{BB962C8B-B14F-4D97-AF65-F5344CB8AC3E}">
        <p14:creationId xmlns:p14="http://schemas.microsoft.com/office/powerpoint/2010/main" val="61415270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4931</TotalTime>
  <Words>851</Words>
  <Application>Microsoft Office PowerPoint</Application>
  <PresentationFormat>Panorámica</PresentationFormat>
  <Paragraphs>49</Paragraphs>
  <Slides>9</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Arial</vt:lpstr>
      <vt:lpstr>Calibri</vt:lpstr>
      <vt:lpstr>Calibri Light</vt:lpstr>
      <vt:lpstr>Wingdings</vt:lpstr>
      <vt:lpstr>Tema de Office</vt:lpstr>
      <vt:lpstr>Productividad laboral y salarios a nivel sectorial en Chile y México: 2016-2023  Evidencia en manufactura, comercio y comunicaciones</vt:lpstr>
      <vt:lpstr>Motivación</vt:lpstr>
      <vt:lpstr>Productividad laboral  (tasa de crecimiento porcentual)</vt:lpstr>
      <vt:lpstr>Productividad laboral  (tasa de crecimiento porcentual)</vt:lpstr>
      <vt:lpstr>Productividad laboral  (tasa de crecimiento porcentual)</vt:lpstr>
      <vt:lpstr>Presentación de PowerPoint</vt:lpstr>
      <vt:lpstr>Trade off productividad-empleo-crecimiento</vt:lpstr>
      <vt:lpstr>Cambio estructural regional?</vt:lpstr>
      <vt:lpstr>En definitiva….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Productividad laboral y salarios en Chile y México: 2016-2023 Evidencia en manufactura, comercio y comunicaciones</dc:title>
  <dc:creator>Daymler Del Jesus O´Farrill Rolando</dc:creator>
  <cp:lastModifiedBy>Daymler Del Jesus O´Farrill Rolando</cp:lastModifiedBy>
  <cp:revision>18</cp:revision>
  <dcterms:created xsi:type="dcterms:W3CDTF">2025-09-26T15:44:52Z</dcterms:created>
  <dcterms:modified xsi:type="dcterms:W3CDTF">2025-10-01T02:47:59Z</dcterms:modified>
</cp:coreProperties>
</file>