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5" r:id="rId8"/>
    <p:sldId id="266" r:id="rId9"/>
    <p:sldId id="267" r:id="rId10"/>
    <p:sldId id="264" r:id="rId11"/>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Prod!$B$10</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Prod!$C$5:$I$5</c:f>
              <c:numCache>
                <c:formatCode>General</c:formatCode>
                <c:ptCount val="7"/>
                <c:pt idx="0">
                  <c:v>2017</c:v>
                </c:pt>
                <c:pt idx="1">
                  <c:v>2018</c:v>
                </c:pt>
                <c:pt idx="2">
                  <c:v>2019</c:v>
                </c:pt>
                <c:pt idx="3">
                  <c:v>2020</c:v>
                </c:pt>
                <c:pt idx="4">
                  <c:v>2021</c:v>
                </c:pt>
                <c:pt idx="5">
                  <c:v>2022</c:v>
                </c:pt>
                <c:pt idx="6">
                  <c:v>2023</c:v>
                </c:pt>
              </c:numCache>
            </c:numRef>
          </c:cat>
          <c:val>
            <c:numRef>
              <c:f>Prod!$C$10:$I$10</c:f>
              <c:numCache>
                <c:formatCode>0.00</c:formatCode>
                <c:ptCount val="7"/>
                <c:pt idx="0">
                  <c:v>-18.039480341191066</c:v>
                </c:pt>
                <c:pt idx="1">
                  <c:v>-9.448431771065259</c:v>
                </c:pt>
                <c:pt idx="2">
                  <c:v>-21.807569914334096</c:v>
                </c:pt>
                <c:pt idx="3">
                  <c:v>-51.634030017262802</c:v>
                </c:pt>
                <c:pt idx="4">
                  <c:v>43.815740269872038</c:v>
                </c:pt>
                <c:pt idx="5">
                  <c:v>4.9504779267900858</c:v>
                </c:pt>
              </c:numCache>
            </c:numRef>
          </c:val>
          <c:smooth val="0"/>
          <c:extLst>
            <c:ext xmlns:c16="http://schemas.microsoft.com/office/drawing/2014/chart" uri="{C3380CC4-5D6E-409C-BE32-E72D297353CC}">
              <c16:uniqueId val="{00000001-B661-4B98-A63A-06B2A4F02563}"/>
            </c:ext>
          </c:extLst>
        </c:ser>
        <c:ser>
          <c:idx val="1"/>
          <c:order val="1"/>
          <c:tx>
            <c:strRef>
              <c:f>Prod!$B$11</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Prod!$C$5:$I$5</c:f>
              <c:numCache>
                <c:formatCode>General</c:formatCode>
                <c:ptCount val="7"/>
                <c:pt idx="0">
                  <c:v>2017</c:v>
                </c:pt>
                <c:pt idx="1">
                  <c:v>2018</c:v>
                </c:pt>
                <c:pt idx="2">
                  <c:v>2019</c:v>
                </c:pt>
                <c:pt idx="3">
                  <c:v>2020</c:v>
                </c:pt>
                <c:pt idx="4">
                  <c:v>2021</c:v>
                </c:pt>
                <c:pt idx="5">
                  <c:v>2022</c:v>
                </c:pt>
                <c:pt idx="6">
                  <c:v>2023</c:v>
                </c:pt>
              </c:numCache>
            </c:numRef>
          </c:cat>
          <c:val>
            <c:numRef>
              <c:f>Prod!$C$11:$I$11</c:f>
              <c:numCache>
                <c:formatCode>0.00</c:formatCode>
                <c:ptCount val="7"/>
                <c:pt idx="0">
                  <c:v>-10.134906349647991</c:v>
                </c:pt>
                <c:pt idx="1">
                  <c:v>-42.271937878164202</c:v>
                </c:pt>
                <c:pt idx="2">
                  <c:v>-13.997016403848789</c:v>
                </c:pt>
                <c:pt idx="3">
                  <c:v>-3.8967053711477178</c:v>
                </c:pt>
                <c:pt idx="4">
                  <c:v>-59.617807351608128</c:v>
                </c:pt>
                <c:pt idx="5">
                  <c:v>41.577651272425982</c:v>
                </c:pt>
                <c:pt idx="6">
                  <c:v>29.928801346112834</c:v>
                </c:pt>
              </c:numCache>
            </c:numRef>
          </c:val>
          <c:smooth val="0"/>
          <c:extLst>
            <c:ext xmlns:c16="http://schemas.microsoft.com/office/drawing/2014/chart" uri="{C3380CC4-5D6E-409C-BE32-E72D297353CC}">
              <c16:uniqueId val="{00000003-B661-4B98-A63A-06B2A4F02563}"/>
            </c:ext>
          </c:extLst>
        </c:ser>
        <c:dLbls>
          <c:showLegendKey val="0"/>
          <c:showVal val="0"/>
          <c:showCatName val="0"/>
          <c:showSerName val="0"/>
          <c:showPercent val="0"/>
          <c:showBubbleSize val="0"/>
        </c:dLbls>
        <c:smooth val="0"/>
        <c:axId val="881089032"/>
        <c:axId val="881089392"/>
      </c:lineChart>
      <c:catAx>
        <c:axId val="88108903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881089392"/>
        <c:crosses val="autoZero"/>
        <c:auto val="1"/>
        <c:lblAlgn val="ctr"/>
        <c:lblOffset val="100"/>
        <c:noMultiLvlLbl val="0"/>
      </c:catAx>
      <c:valAx>
        <c:axId val="881089392"/>
        <c:scaling>
          <c:orientation val="minMax"/>
        </c:scaling>
        <c:delete val="0"/>
        <c:axPos val="r"/>
        <c:majorGridlines>
          <c:spPr>
            <a:ln w="9525" cap="flat" cmpd="sng" algn="ctr">
              <a:noFill/>
              <a:round/>
            </a:ln>
            <a:effectLst/>
          </c:spPr>
        </c:majorGridlines>
        <c:numFmt formatCode="0" sourceLinked="0"/>
        <c:majorTickMark val="none"/>
        <c:minorTickMark val="none"/>
        <c:tickLblPos val="low"/>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88108903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rem_emp!$B$9</c:f>
              <c:strCache>
                <c:ptCount val="1"/>
                <c:pt idx="0">
                  <c:v>Chile</c:v>
                </c:pt>
              </c:strCache>
            </c:strRef>
          </c:tx>
          <c:spPr>
            <a:ln w="50800" cap="rnd">
              <a:solidFill>
                <a:schemeClr val="accent1"/>
              </a:solidFill>
              <a:round/>
            </a:ln>
            <a:effectLst/>
          </c:spPr>
          <c:marker>
            <c:symbol val="none"/>
          </c:marker>
          <c:cat>
            <c:numRef>
              <c:f>rem_emp!$C$4:$I$4</c:f>
              <c:numCache>
                <c:formatCode>General</c:formatCode>
                <c:ptCount val="7"/>
                <c:pt idx="0">
                  <c:v>2017</c:v>
                </c:pt>
                <c:pt idx="1">
                  <c:v>2018</c:v>
                </c:pt>
                <c:pt idx="2">
                  <c:v>2019</c:v>
                </c:pt>
                <c:pt idx="3">
                  <c:v>2020</c:v>
                </c:pt>
                <c:pt idx="4">
                  <c:v>2021</c:v>
                </c:pt>
                <c:pt idx="5">
                  <c:v>2022</c:v>
                </c:pt>
                <c:pt idx="6">
                  <c:v>2023</c:v>
                </c:pt>
              </c:numCache>
            </c:numRef>
          </c:cat>
          <c:val>
            <c:numRef>
              <c:f>rem_emp!$C$9:$I$9</c:f>
              <c:numCache>
                <c:formatCode>General</c:formatCode>
                <c:ptCount val="7"/>
                <c:pt idx="0">
                  <c:v>-34.823119840728452</c:v>
                </c:pt>
                <c:pt idx="1">
                  <c:v>4.6250731940978369</c:v>
                </c:pt>
                <c:pt idx="2">
                  <c:v>-18.095986951412328</c:v>
                </c:pt>
                <c:pt idx="3">
                  <c:v>-30.319311455441749</c:v>
                </c:pt>
                <c:pt idx="4">
                  <c:v>42.159066357245678</c:v>
                </c:pt>
                <c:pt idx="5">
                  <c:v>6.4755803598325059</c:v>
                </c:pt>
              </c:numCache>
            </c:numRef>
          </c:val>
          <c:smooth val="0"/>
          <c:extLst>
            <c:ext xmlns:c16="http://schemas.microsoft.com/office/drawing/2014/chart" uri="{C3380CC4-5D6E-409C-BE32-E72D297353CC}">
              <c16:uniqueId val="{00000000-6DF4-4D37-BD91-330B17936DC8}"/>
            </c:ext>
          </c:extLst>
        </c:ser>
        <c:ser>
          <c:idx val="1"/>
          <c:order val="1"/>
          <c:tx>
            <c:strRef>
              <c:f>rem_emp!$B$10</c:f>
              <c:strCache>
                <c:ptCount val="1"/>
                <c:pt idx="0">
                  <c:v>México</c:v>
                </c:pt>
              </c:strCache>
            </c:strRef>
          </c:tx>
          <c:spPr>
            <a:ln w="50800" cap="rnd">
              <a:solidFill>
                <a:schemeClr val="accent2"/>
              </a:solidFill>
              <a:round/>
            </a:ln>
            <a:effectLst/>
          </c:spPr>
          <c:marker>
            <c:symbol val="none"/>
          </c:marker>
          <c:cat>
            <c:numRef>
              <c:f>rem_emp!$C$4:$I$4</c:f>
              <c:numCache>
                <c:formatCode>General</c:formatCode>
                <c:ptCount val="7"/>
                <c:pt idx="0">
                  <c:v>2017</c:v>
                </c:pt>
                <c:pt idx="1">
                  <c:v>2018</c:v>
                </c:pt>
                <c:pt idx="2">
                  <c:v>2019</c:v>
                </c:pt>
                <c:pt idx="3">
                  <c:v>2020</c:v>
                </c:pt>
                <c:pt idx="4">
                  <c:v>2021</c:v>
                </c:pt>
                <c:pt idx="5">
                  <c:v>2022</c:v>
                </c:pt>
                <c:pt idx="6">
                  <c:v>2023</c:v>
                </c:pt>
              </c:numCache>
            </c:numRef>
          </c:cat>
          <c:val>
            <c:numRef>
              <c:f>rem_emp!$C$10:$I$10</c:f>
              <c:numCache>
                <c:formatCode>General</c:formatCode>
                <c:ptCount val="7"/>
                <c:pt idx="0">
                  <c:v>-2.0791978555888164</c:v>
                </c:pt>
                <c:pt idx="1">
                  <c:v>-43.766902956471121</c:v>
                </c:pt>
                <c:pt idx="2">
                  <c:v>10.084913059844069</c:v>
                </c:pt>
                <c:pt idx="3">
                  <c:v>3.2295648162869952</c:v>
                </c:pt>
                <c:pt idx="4">
                  <c:v>-9.6365573849523116</c:v>
                </c:pt>
                <c:pt idx="5">
                  <c:v>25.425288180522827</c:v>
                </c:pt>
                <c:pt idx="6">
                  <c:v>38.789392303688004</c:v>
                </c:pt>
              </c:numCache>
            </c:numRef>
          </c:val>
          <c:smooth val="0"/>
          <c:extLst>
            <c:ext xmlns:c16="http://schemas.microsoft.com/office/drawing/2014/chart" uri="{C3380CC4-5D6E-409C-BE32-E72D297353CC}">
              <c16:uniqueId val="{00000001-6DF4-4D37-BD91-330B17936DC8}"/>
            </c:ext>
          </c:extLst>
        </c:ser>
        <c:dLbls>
          <c:showLegendKey val="0"/>
          <c:showVal val="0"/>
          <c:showCatName val="0"/>
          <c:showSerName val="0"/>
          <c:showPercent val="0"/>
          <c:showBubbleSize val="0"/>
        </c:dLbls>
        <c:smooth val="0"/>
        <c:axId val="1041236504"/>
        <c:axId val="1041245144"/>
      </c:lineChart>
      <c:catAx>
        <c:axId val="104123650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041245144"/>
        <c:crosses val="autoZero"/>
        <c:auto val="1"/>
        <c:lblAlgn val="ctr"/>
        <c:lblOffset val="100"/>
        <c:noMultiLvlLbl val="0"/>
      </c:catAx>
      <c:valAx>
        <c:axId val="10412451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041236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E7936A-AD9B-4341-81CC-EBDCA3C240F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06CDDB7-3BD2-4522-81FF-CF44CD29AB17}">
      <dgm:prSet/>
      <dgm:spPr/>
      <dgm:t>
        <a:bodyPr/>
        <a:lstStyle/>
        <a:p>
          <a:pPr>
            <a:lnSpc>
              <a:spcPct val="100000"/>
            </a:lnSpc>
          </a:pPr>
          <a:r>
            <a:rPr lang="es-ES" b="1"/>
            <a:t>Elaboración de alimentos</a:t>
          </a:r>
          <a:r>
            <a:rPr lang="es-ES"/>
            <a:t>: los salarios crecen más rápido que la productividad en ambos países (brecha &gt;0) </a:t>
          </a:r>
          <a:r>
            <a:rPr lang="es-ES">
              <a:sym typeface="Wingdings" panose="05000000000000000000" pitchFamily="2" charset="2"/>
            </a:rPr>
            <a:t></a:t>
          </a:r>
          <a:r>
            <a:rPr lang="es-ES"/>
            <a:t> presión sobre costos laborales unitarios; Chile es seis veces el valor de México</a:t>
          </a:r>
          <a:endParaRPr lang="en-US"/>
        </a:p>
      </dgm:t>
    </dgm:pt>
    <dgm:pt modelId="{D5F3BB23-1894-40B5-BD35-78538DEFAC60}" type="parTrans" cxnId="{4A86A776-B0A8-4EAC-B28E-CDEAFFDB4505}">
      <dgm:prSet/>
      <dgm:spPr/>
      <dgm:t>
        <a:bodyPr/>
        <a:lstStyle/>
        <a:p>
          <a:endParaRPr lang="en-US"/>
        </a:p>
      </dgm:t>
    </dgm:pt>
    <dgm:pt modelId="{A4119984-D655-4EBD-A806-40E480A7501C}" type="sibTrans" cxnId="{4A86A776-B0A8-4EAC-B28E-CDEAFFDB4505}">
      <dgm:prSet/>
      <dgm:spPr/>
      <dgm:t>
        <a:bodyPr/>
        <a:lstStyle/>
        <a:p>
          <a:endParaRPr lang="en-US"/>
        </a:p>
      </dgm:t>
    </dgm:pt>
    <dgm:pt modelId="{594313BD-0812-4BFA-942D-64EC2E357466}">
      <dgm:prSet/>
      <dgm:spPr/>
      <dgm:t>
        <a:bodyPr/>
        <a:lstStyle/>
        <a:p>
          <a:pPr>
            <a:lnSpc>
              <a:spcPct val="100000"/>
            </a:lnSpc>
          </a:pPr>
          <a:r>
            <a:rPr lang="es-CL" b="1" dirty="0"/>
            <a:t>Comercio mayorista</a:t>
          </a:r>
          <a:r>
            <a:rPr lang="es-CL"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dirty="0"/>
        </a:p>
      </dgm:t>
    </dgm:pt>
    <dgm:pt modelId="{C62DFA60-53F4-449A-BD15-17B0B4A82DD6}" type="parTrans" cxnId="{78752E78-7DA4-4B1E-ABC8-B7A737E7C9AF}">
      <dgm:prSet/>
      <dgm:spPr/>
      <dgm:t>
        <a:bodyPr/>
        <a:lstStyle/>
        <a:p>
          <a:endParaRPr lang="en-US"/>
        </a:p>
      </dgm:t>
    </dgm:pt>
    <dgm:pt modelId="{AF405E39-EE1F-48DE-BDC2-92249F7AAC03}" type="sibTrans" cxnId="{78752E78-7DA4-4B1E-ABC8-B7A737E7C9AF}">
      <dgm:prSet/>
      <dgm:spPr/>
      <dgm:t>
        <a:bodyPr/>
        <a:lstStyle/>
        <a:p>
          <a:endParaRPr lang="en-US"/>
        </a:p>
      </dgm:t>
    </dgm:pt>
    <dgm:pt modelId="{79E5C5BA-6866-4E6E-9DC2-B3C0B0DBCFDC}">
      <dgm:prSet/>
      <dgm:spPr/>
      <dgm:t>
        <a:bodyPr/>
        <a:lstStyle/>
        <a:p>
          <a:pPr>
            <a:lnSpc>
              <a:spcPct val="100000"/>
            </a:lnSpc>
          </a:pPr>
          <a:r>
            <a:rPr lang="es-CL" b="1" dirty="0"/>
            <a:t>Producción audiovisual: </a:t>
          </a:r>
          <a:r>
            <a:rPr lang="es-CL" dirty="0"/>
            <a:t>Al igual que en la elaboración de alimentos ambos países muestran un incremento sobre la presión de los costos laborales unitarios y por tanto una posible pérdida de competitividad. </a:t>
          </a:r>
          <a:endParaRPr lang="en-US" dirty="0"/>
        </a:p>
      </dgm:t>
    </dgm:pt>
    <dgm:pt modelId="{9566BCC8-11BD-4AD0-8EA1-8F86BF042993}" type="parTrans" cxnId="{383A4C8E-A250-4CB3-9426-F07E23F2EE79}">
      <dgm:prSet/>
      <dgm:spPr/>
      <dgm:t>
        <a:bodyPr/>
        <a:lstStyle/>
        <a:p>
          <a:endParaRPr lang="en-US"/>
        </a:p>
      </dgm:t>
    </dgm:pt>
    <dgm:pt modelId="{E78EF030-3FB2-43A8-99C7-FDA03A438305}" type="sibTrans" cxnId="{383A4C8E-A250-4CB3-9426-F07E23F2EE79}">
      <dgm:prSet/>
      <dgm:spPr/>
      <dgm:t>
        <a:bodyPr/>
        <a:lstStyle/>
        <a:p>
          <a:endParaRPr lang="en-US"/>
        </a:p>
      </dgm:t>
    </dgm:pt>
    <dgm:pt modelId="{1C5514E8-ADC2-479C-85F4-F15EF5EFDADB}">
      <dgm:prSet/>
      <dgm:spPr/>
      <dgm:t>
        <a:bodyPr/>
        <a:lstStyle/>
        <a:p>
          <a:pPr>
            <a:lnSpc>
              <a:spcPct val="100000"/>
            </a:lnSpc>
          </a:pPr>
          <a:r>
            <a:rPr lang="es-CL" dirty="0"/>
            <a:t>En general, lo que vemos en estas tres divisiones, las más importante dentro de cada uno de los sectores es un claro desacople: se pagas más por trabajador, pero se produce menos.</a:t>
          </a:r>
          <a:endParaRPr lang="en-US" dirty="0"/>
        </a:p>
      </dgm:t>
    </dgm:pt>
    <dgm:pt modelId="{D98B5F40-8A8E-441B-936B-75EB783E9C2D}" type="parTrans" cxnId="{C51DBA45-A80D-48B3-B821-31DDE01A2CB5}">
      <dgm:prSet/>
      <dgm:spPr/>
      <dgm:t>
        <a:bodyPr/>
        <a:lstStyle/>
        <a:p>
          <a:endParaRPr lang="en-US"/>
        </a:p>
      </dgm:t>
    </dgm:pt>
    <dgm:pt modelId="{9B57BCC9-2431-4749-9FDA-F319C4DE7BD8}" type="sibTrans" cxnId="{C51DBA45-A80D-48B3-B821-31DDE01A2CB5}">
      <dgm:prSet/>
      <dgm:spPr/>
      <dgm:t>
        <a:bodyPr/>
        <a:lstStyle/>
        <a:p>
          <a:endParaRPr lang="en-US"/>
        </a:p>
      </dgm:t>
    </dgm:pt>
    <dgm:pt modelId="{9EE4039A-28B8-457D-A1B5-41EDF782F9EB}" type="pres">
      <dgm:prSet presAssocID="{40E7936A-AD9B-4341-81CC-EBDCA3C240F4}" presName="root" presStyleCnt="0">
        <dgm:presLayoutVars>
          <dgm:dir/>
          <dgm:resizeHandles val="exact"/>
        </dgm:presLayoutVars>
      </dgm:prSet>
      <dgm:spPr/>
    </dgm:pt>
    <dgm:pt modelId="{74D09046-7255-41E6-B0E5-3BE83A8F5364}" type="pres">
      <dgm:prSet presAssocID="{606CDDB7-3BD2-4522-81FF-CF44CD29AB17}" presName="compNode" presStyleCnt="0"/>
      <dgm:spPr/>
    </dgm:pt>
    <dgm:pt modelId="{88824EBB-2B65-46DE-9D5B-C5C2301C80F9}" type="pres">
      <dgm:prSet presAssocID="{606CDDB7-3BD2-4522-81FF-CF44CD29AB17}" presName="bgRect" presStyleLbl="bgShp" presStyleIdx="0" presStyleCnt="4"/>
      <dgm:spPr/>
    </dgm:pt>
    <dgm:pt modelId="{45075B7E-2F71-4567-B66D-3A20311AAD42}" type="pres">
      <dgm:prSet presAssocID="{606CDDB7-3BD2-4522-81FF-CF44CD29AB1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rger and Drink"/>
        </a:ext>
      </dgm:extLst>
    </dgm:pt>
    <dgm:pt modelId="{6F557391-9321-4604-B328-32DDEE6B3340}" type="pres">
      <dgm:prSet presAssocID="{606CDDB7-3BD2-4522-81FF-CF44CD29AB17}" presName="spaceRect" presStyleCnt="0"/>
      <dgm:spPr/>
    </dgm:pt>
    <dgm:pt modelId="{1C5D148A-D48E-4487-AAAF-42917411A8C6}" type="pres">
      <dgm:prSet presAssocID="{606CDDB7-3BD2-4522-81FF-CF44CD29AB17}" presName="parTx" presStyleLbl="revTx" presStyleIdx="0" presStyleCnt="4">
        <dgm:presLayoutVars>
          <dgm:chMax val="0"/>
          <dgm:chPref val="0"/>
        </dgm:presLayoutVars>
      </dgm:prSet>
      <dgm:spPr/>
    </dgm:pt>
    <dgm:pt modelId="{AA099F26-95BF-46A2-AABD-C458872ED248}" type="pres">
      <dgm:prSet presAssocID="{A4119984-D655-4EBD-A806-40E480A7501C}" presName="sibTrans" presStyleCnt="0"/>
      <dgm:spPr/>
    </dgm:pt>
    <dgm:pt modelId="{BCF9DAF4-802B-4AF5-A299-064D6476F3DE}" type="pres">
      <dgm:prSet presAssocID="{594313BD-0812-4BFA-942D-64EC2E357466}" presName="compNode" presStyleCnt="0"/>
      <dgm:spPr/>
    </dgm:pt>
    <dgm:pt modelId="{7DE2D9A9-1CD7-4E26-9630-112E33D5AA76}" type="pres">
      <dgm:prSet presAssocID="{594313BD-0812-4BFA-942D-64EC2E357466}" presName="bgRect" presStyleLbl="bgShp" presStyleIdx="1" presStyleCnt="4"/>
      <dgm:spPr/>
    </dgm:pt>
    <dgm:pt modelId="{8CCC19BB-4953-4A3A-9998-A7CED0C3DF9F}" type="pres">
      <dgm:prSet presAssocID="{594313BD-0812-4BFA-942D-64EC2E35746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ienda"/>
        </a:ext>
      </dgm:extLst>
    </dgm:pt>
    <dgm:pt modelId="{9CFCB151-3693-4FC2-85FA-1150C74C90F5}" type="pres">
      <dgm:prSet presAssocID="{594313BD-0812-4BFA-942D-64EC2E357466}" presName="spaceRect" presStyleCnt="0"/>
      <dgm:spPr/>
    </dgm:pt>
    <dgm:pt modelId="{43A4BD57-3C8F-450D-AC2A-9CD39DF71AF9}" type="pres">
      <dgm:prSet presAssocID="{594313BD-0812-4BFA-942D-64EC2E357466}" presName="parTx" presStyleLbl="revTx" presStyleIdx="1" presStyleCnt="4">
        <dgm:presLayoutVars>
          <dgm:chMax val="0"/>
          <dgm:chPref val="0"/>
        </dgm:presLayoutVars>
      </dgm:prSet>
      <dgm:spPr/>
    </dgm:pt>
    <dgm:pt modelId="{66209564-E3FD-46F9-B2E2-23184529C41D}" type="pres">
      <dgm:prSet presAssocID="{AF405E39-EE1F-48DE-BDC2-92249F7AAC03}" presName="sibTrans" presStyleCnt="0"/>
      <dgm:spPr/>
    </dgm:pt>
    <dgm:pt modelId="{210AFCB8-F9A0-44DC-A4A3-FE9D57679F16}" type="pres">
      <dgm:prSet presAssocID="{79E5C5BA-6866-4E6E-9DC2-B3C0B0DBCFDC}" presName="compNode" presStyleCnt="0"/>
      <dgm:spPr/>
    </dgm:pt>
    <dgm:pt modelId="{2AB37EC4-35B2-44B8-B55E-4AAB085524BD}" type="pres">
      <dgm:prSet presAssocID="{79E5C5BA-6866-4E6E-9DC2-B3C0B0DBCFDC}" presName="bgRect" presStyleLbl="bgShp" presStyleIdx="2" presStyleCnt="4"/>
      <dgm:spPr/>
    </dgm:pt>
    <dgm:pt modelId="{AFC8B8DC-ECBD-442B-B29F-3D91320D253A}" type="pres">
      <dgm:prSet presAssocID="{79E5C5BA-6866-4E6E-9DC2-B3C0B0DBCFD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Video camera"/>
        </a:ext>
      </dgm:extLst>
    </dgm:pt>
    <dgm:pt modelId="{B92D6AF4-7D75-475B-B71F-9205A192B476}" type="pres">
      <dgm:prSet presAssocID="{79E5C5BA-6866-4E6E-9DC2-B3C0B0DBCFDC}" presName="spaceRect" presStyleCnt="0"/>
      <dgm:spPr/>
    </dgm:pt>
    <dgm:pt modelId="{6121C489-E15D-49B6-9411-BC114BA68F02}" type="pres">
      <dgm:prSet presAssocID="{79E5C5BA-6866-4E6E-9DC2-B3C0B0DBCFDC}" presName="parTx" presStyleLbl="revTx" presStyleIdx="2" presStyleCnt="4">
        <dgm:presLayoutVars>
          <dgm:chMax val="0"/>
          <dgm:chPref val="0"/>
        </dgm:presLayoutVars>
      </dgm:prSet>
      <dgm:spPr/>
    </dgm:pt>
    <dgm:pt modelId="{4FC0C45A-3363-4FA6-80D1-4C6104D717AF}" type="pres">
      <dgm:prSet presAssocID="{E78EF030-3FB2-43A8-99C7-FDA03A438305}" presName="sibTrans" presStyleCnt="0"/>
      <dgm:spPr/>
    </dgm:pt>
    <dgm:pt modelId="{BE0187D3-B5AC-4089-A162-7FA56C796946}" type="pres">
      <dgm:prSet presAssocID="{1C5514E8-ADC2-479C-85F4-F15EF5EFDADB}" presName="compNode" presStyleCnt="0"/>
      <dgm:spPr/>
    </dgm:pt>
    <dgm:pt modelId="{D5B5DA92-B7B7-42EE-A2B4-938BF3364762}" type="pres">
      <dgm:prSet presAssocID="{1C5514E8-ADC2-479C-85F4-F15EF5EFDADB}" presName="bgRect" presStyleLbl="bgShp" presStyleIdx="3" presStyleCnt="4"/>
      <dgm:spPr/>
    </dgm:pt>
    <dgm:pt modelId="{86B670F9-3CD5-4A7B-AD2A-4648906CE097}" type="pres">
      <dgm:prSet presAssocID="{1C5514E8-ADC2-479C-85F4-F15EF5EFDA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ranching Diagram"/>
        </a:ext>
      </dgm:extLst>
    </dgm:pt>
    <dgm:pt modelId="{BFBE6FCA-1FE8-4A09-9709-0AA7CEA42043}" type="pres">
      <dgm:prSet presAssocID="{1C5514E8-ADC2-479C-85F4-F15EF5EFDADB}" presName="spaceRect" presStyleCnt="0"/>
      <dgm:spPr/>
    </dgm:pt>
    <dgm:pt modelId="{F7FD8413-E310-42D2-94F7-2A9A5708EDAA}" type="pres">
      <dgm:prSet presAssocID="{1C5514E8-ADC2-479C-85F4-F15EF5EFDADB}" presName="parTx" presStyleLbl="revTx" presStyleIdx="3" presStyleCnt="4">
        <dgm:presLayoutVars>
          <dgm:chMax val="0"/>
          <dgm:chPref val="0"/>
        </dgm:presLayoutVars>
      </dgm:prSet>
      <dgm:spPr/>
    </dgm:pt>
  </dgm:ptLst>
  <dgm:cxnLst>
    <dgm:cxn modelId="{F79E6A0D-0BCF-4A94-ACF5-EAE34B0C9681}" type="presOf" srcId="{1C5514E8-ADC2-479C-85F4-F15EF5EFDADB}" destId="{F7FD8413-E310-42D2-94F7-2A9A5708EDAA}" srcOrd="0" destOrd="0" presId="urn:microsoft.com/office/officeart/2018/2/layout/IconVerticalSolidList"/>
    <dgm:cxn modelId="{C51DBA45-A80D-48B3-B821-31DDE01A2CB5}" srcId="{40E7936A-AD9B-4341-81CC-EBDCA3C240F4}" destId="{1C5514E8-ADC2-479C-85F4-F15EF5EFDADB}" srcOrd="3" destOrd="0" parTransId="{D98B5F40-8A8E-441B-936B-75EB783E9C2D}" sibTransId="{9B57BCC9-2431-4749-9FDA-F319C4DE7BD8}"/>
    <dgm:cxn modelId="{D9D29076-3401-48EA-A519-B3563DB13A37}" type="presOf" srcId="{79E5C5BA-6866-4E6E-9DC2-B3C0B0DBCFDC}" destId="{6121C489-E15D-49B6-9411-BC114BA68F02}" srcOrd="0" destOrd="0" presId="urn:microsoft.com/office/officeart/2018/2/layout/IconVerticalSolidList"/>
    <dgm:cxn modelId="{4A86A776-B0A8-4EAC-B28E-CDEAFFDB4505}" srcId="{40E7936A-AD9B-4341-81CC-EBDCA3C240F4}" destId="{606CDDB7-3BD2-4522-81FF-CF44CD29AB17}" srcOrd="0" destOrd="0" parTransId="{D5F3BB23-1894-40B5-BD35-78538DEFAC60}" sibTransId="{A4119984-D655-4EBD-A806-40E480A7501C}"/>
    <dgm:cxn modelId="{78752E78-7DA4-4B1E-ABC8-B7A737E7C9AF}" srcId="{40E7936A-AD9B-4341-81CC-EBDCA3C240F4}" destId="{594313BD-0812-4BFA-942D-64EC2E357466}" srcOrd="1" destOrd="0" parTransId="{C62DFA60-53F4-449A-BD15-17B0B4A82DD6}" sibTransId="{AF405E39-EE1F-48DE-BDC2-92249F7AAC03}"/>
    <dgm:cxn modelId="{383A4C8E-A250-4CB3-9426-F07E23F2EE79}" srcId="{40E7936A-AD9B-4341-81CC-EBDCA3C240F4}" destId="{79E5C5BA-6866-4E6E-9DC2-B3C0B0DBCFDC}" srcOrd="2" destOrd="0" parTransId="{9566BCC8-11BD-4AD0-8EA1-8F86BF042993}" sibTransId="{E78EF030-3FB2-43A8-99C7-FDA03A438305}"/>
    <dgm:cxn modelId="{C9AF7692-A507-40A1-AC35-1B86C250565E}" type="presOf" srcId="{606CDDB7-3BD2-4522-81FF-CF44CD29AB17}" destId="{1C5D148A-D48E-4487-AAAF-42917411A8C6}" srcOrd="0" destOrd="0" presId="urn:microsoft.com/office/officeart/2018/2/layout/IconVerticalSolidList"/>
    <dgm:cxn modelId="{282F0BAC-316C-4F20-A690-842D29481C20}" type="presOf" srcId="{594313BD-0812-4BFA-942D-64EC2E357466}" destId="{43A4BD57-3C8F-450D-AC2A-9CD39DF71AF9}" srcOrd="0" destOrd="0" presId="urn:microsoft.com/office/officeart/2018/2/layout/IconVerticalSolidList"/>
    <dgm:cxn modelId="{01DA7CC2-5A56-40B7-8D6F-9A86376757F0}" type="presOf" srcId="{40E7936A-AD9B-4341-81CC-EBDCA3C240F4}" destId="{9EE4039A-28B8-457D-A1B5-41EDF782F9EB}" srcOrd="0" destOrd="0" presId="urn:microsoft.com/office/officeart/2018/2/layout/IconVerticalSolidList"/>
    <dgm:cxn modelId="{24C6A49D-122F-4792-855C-D6FC39447A7C}" type="presParOf" srcId="{9EE4039A-28B8-457D-A1B5-41EDF782F9EB}" destId="{74D09046-7255-41E6-B0E5-3BE83A8F5364}" srcOrd="0" destOrd="0" presId="urn:microsoft.com/office/officeart/2018/2/layout/IconVerticalSolidList"/>
    <dgm:cxn modelId="{9DCC91C6-86C5-4F28-8A13-9B0ABF2EC4FD}" type="presParOf" srcId="{74D09046-7255-41E6-B0E5-3BE83A8F5364}" destId="{88824EBB-2B65-46DE-9D5B-C5C2301C80F9}" srcOrd="0" destOrd="0" presId="urn:microsoft.com/office/officeart/2018/2/layout/IconVerticalSolidList"/>
    <dgm:cxn modelId="{F4125D68-E7BA-4727-B859-C5F8386BC030}" type="presParOf" srcId="{74D09046-7255-41E6-B0E5-3BE83A8F5364}" destId="{45075B7E-2F71-4567-B66D-3A20311AAD42}" srcOrd="1" destOrd="0" presId="urn:microsoft.com/office/officeart/2018/2/layout/IconVerticalSolidList"/>
    <dgm:cxn modelId="{54EDE561-2842-442D-9FC5-C05BBB544129}" type="presParOf" srcId="{74D09046-7255-41E6-B0E5-3BE83A8F5364}" destId="{6F557391-9321-4604-B328-32DDEE6B3340}" srcOrd="2" destOrd="0" presId="urn:microsoft.com/office/officeart/2018/2/layout/IconVerticalSolidList"/>
    <dgm:cxn modelId="{A202248E-BD8F-437B-ACB3-E23E63396E36}" type="presParOf" srcId="{74D09046-7255-41E6-B0E5-3BE83A8F5364}" destId="{1C5D148A-D48E-4487-AAAF-42917411A8C6}" srcOrd="3" destOrd="0" presId="urn:microsoft.com/office/officeart/2018/2/layout/IconVerticalSolidList"/>
    <dgm:cxn modelId="{348D00C0-2058-4490-BC42-2E8266E755D5}" type="presParOf" srcId="{9EE4039A-28B8-457D-A1B5-41EDF782F9EB}" destId="{AA099F26-95BF-46A2-AABD-C458872ED248}" srcOrd="1" destOrd="0" presId="urn:microsoft.com/office/officeart/2018/2/layout/IconVerticalSolidList"/>
    <dgm:cxn modelId="{159E4DF7-AE27-4172-8A72-81505AD73D45}" type="presParOf" srcId="{9EE4039A-28B8-457D-A1B5-41EDF782F9EB}" destId="{BCF9DAF4-802B-4AF5-A299-064D6476F3DE}" srcOrd="2" destOrd="0" presId="urn:microsoft.com/office/officeart/2018/2/layout/IconVerticalSolidList"/>
    <dgm:cxn modelId="{366E7D47-5500-4834-B551-A3922F418E2B}" type="presParOf" srcId="{BCF9DAF4-802B-4AF5-A299-064D6476F3DE}" destId="{7DE2D9A9-1CD7-4E26-9630-112E33D5AA76}" srcOrd="0" destOrd="0" presId="urn:microsoft.com/office/officeart/2018/2/layout/IconVerticalSolidList"/>
    <dgm:cxn modelId="{FA67CA8E-965D-4BD3-87F7-3BF4B9011940}" type="presParOf" srcId="{BCF9DAF4-802B-4AF5-A299-064D6476F3DE}" destId="{8CCC19BB-4953-4A3A-9998-A7CED0C3DF9F}" srcOrd="1" destOrd="0" presId="urn:microsoft.com/office/officeart/2018/2/layout/IconVerticalSolidList"/>
    <dgm:cxn modelId="{35F04646-73DF-4FEA-AAE3-17286756F872}" type="presParOf" srcId="{BCF9DAF4-802B-4AF5-A299-064D6476F3DE}" destId="{9CFCB151-3693-4FC2-85FA-1150C74C90F5}" srcOrd="2" destOrd="0" presId="urn:microsoft.com/office/officeart/2018/2/layout/IconVerticalSolidList"/>
    <dgm:cxn modelId="{85645D19-F559-4481-BF54-064C916AEB58}" type="presParOf" srcId="{BCF9DAF4-802B-4AF5-A299-064D6476F3DE}" destId="{43A4BD57-3C8F-450D-AC2A-9CD39DF71AF9}" srcOrd="3" destOrd="0" presId="urn:microsoft.com/office/officeart/2018/2/layout/IconVerticalSolidList"/>
    <dgm:cxn modelId="{2B6017BA-FD78-4ED3-8A6F-DE1A02F6A164}" type="presParOf" srcId="{9EE4039A-28B8-457D-A1B5-41EDF782F9EB}" destId="{66209564-E3FD-46F9-B2E2-23184529C41D}" srcOrd="3" destOrd="0" presId="urn:microsoft.com/office/officeart/2018/2/layout/IconVerticalSolidList"/>
    <dgm:cxn modelId="{53B24E7B-43EF-4C74-8E23-8FB36F1C5B6D}" type="presParOf" srcId="{9EE4039A-28B8-457D-A1B5-41EDF782F9EB}" destId="{210AFCB8-F9A0-44DC-A4A3-FE9D57679F16}" srcOrd="4" destOrd="0" presId="urn:microsoft.com/office/officeart/2018/2/layout/IconVerticalSolidList"/>
    <dgm:cxn modelId="{C2880544-4D75-4995-9E9E-700FB378652F}" type="presParOf" srcId="{210AFCB8-F9A0-44DC-A4A3-FE9D57679F16}" destId="{2AB37EC4-35B2-44B8-B55E-4AAB085524BD}" srcOrd="0" destOrd="0" presId="urn:microsoft.com/office/officeart/2018/2/layout/IconVerticalSolidList"/>
    <dgm:cxn modelId="{CF62B312-D459-4C9A-80C0-0AE287095C78}" type="presParOf" srcId="{210AFCB8-F9A0-44DC-A4A3-FE9D57679F16}" destId="{AFC8B8DC-ECBD-442B-B29F-3D91320D253A}" srcOrd="1" destOrd="0" presId="urn:microsoft.com/office/officeart/2018/2/layout/IconVerticalSolidList"/>
    <dgm:cxn modelId="{C1670D92-F567-40E0-9525-0AEA2428F554}" type="presParOf" srcId="{210AFCB8-F9A0-44DC-A4A3-FE9D57679F16}" destId="{B92D6AF4-7D75-475B-B71F-9205A192B476}" srcOrd="2" destOrd="0" presId="urn:microsoft.com/office/officeart/2018/2/layout/IconVerticalSolidList"/>
    <dgm:cxn modelId="{567154B5-46DA-489A-8357-C87E77F6F4D7}" type="presParOf" srcId="{210AFCB8-F9A0-44DC-A4A3-FE9D57679F16}" destId="{6121C489-E15D-49B6-9411-BC114BA68F02}" srcOrd="3" destOrd="0" presId="urn:microsoft.com/office/officeart/2018/2/layout/IconVerticalSolidList"/>
    <dgm:cxn modelId="{1634E0D0-5444-4DBE-A573-A2AC0357A1BB}" type="presParOf" srcId="{9EE4039A-28B8-457D-A1B5-41EDF782F9EB}" destId="{4FC0C45A-3363-4FA6-80D1-4C6104D717AF}" srcOrd="5" destOrd="0" presId="urn:microsoft.com/office/officeart/2018/2/layout/IconVerticalSolidList"/>
    <dgm:cxn modelId="{15196CC6-E010-40D3-A86B-AC2B94AECB9F}" type="presParOf" srcId="{9EE4039A-28B8-457D-A1B5-41EDF782F9EB}" destId="{BE0187D3-B5AC-4089-A162-7FA56C796946}" srcOrd="6" destOrd="0" presId="urn:microsoft.com/office/officeart/2018/2/layout/IconVerticalSolidList"/>
    <dgm:cxn modelId="{95662364-9EC4-4660-B78A-393E73E3C439}" type="presParOf" srcId="{BE0187D3-B5AC-4089-A162-7FA56C796946}" destId="{D5B5DA92-B7B7-42EE-A2B4-938BF3364762}" srcOrd="0" destOrd="0" presId="urn:microsoft.com/office/officeart/2018/2/layout/IconVerticalSolidList"/>
    <dgm:cxn modelId="{37914C67-17DB-448C-A8B2-19F47FE58B4B}" type="presParOf" srcId="{BE0187D3-B5AC-4089-A162-7FA56C796946}" destId="{86B670F9-3CD5-4A7B-AD2A-4648906CE097}" srcOrd="1" destOrd="0" presId="urn:microsoft.com/office/officeart/2018/2/layout/IconVerticalSolidList"/>
    <dgm:cxn modelId="{FF0005EA-A2E8-4FBC-98BC-E9514A41EBE8}" type="presParOf" srcId="{BE0187D3-B5AC-4089-A162-7FA56C796946}" destId="{BFBE6FCA-1FE8-4A09-9709-0AA7CEA42043}" srcOrd="2" destOrd="0" presId="urn:microsoft.com/office/officeart/2018/2/layout/IconVerticalSolidList"/>
    <dgm:cxn modelId="{B31CBD03-7303-4F0B-9D04-2D54F98ED9C1}" type="presParOf" srcId="{BE0187D3-B5AC-4089-A162-7FA56C796946}" destId="{F7FD8413-E310-42D2-94F7-2A9A5708ED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824EBB-2B65-46DE-9D5B-C5C2301C80F9}">
      <dsp:nvSpPr>
        <dsp:cNvPr id="0" name=""/>
        <dsp:cNvSpPr/>
      </dsp:nvSpPr>
      <dsp:spPr>
        <a:xfrm>
          <a:off x="0" y="2308"/>
          <a:ext cx="9713298" cy="509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075B7E-2F71-4567-B66D-3A20311AAD42}">
      <dsp:nvSpPr>
        <dsp:cNvPr id="0" name=""/>
        <dsp:cNvSpPr/>
      </dsp:nvSpPr>
      <dsp:spPr>
        <a:xfrm>
          <a:off x="154031" y="116877"/>
          <a:ext cx="280331" cy="2800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5D148A-D48E-4487-AAAF-42917411A8C6}">
      <dsp:nvSpPr>
        <dsp:cNvPr id="0" name=""/>
        <dsp:cNvSpPr/>
      </dsp:nvSpPr>
      <dsp:spPr>
        <a:xfrm>
          <a:off x="588394" y="2308"/>
          <a:ext cx="8941180" cy="50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943" tIns="53943" rIns="53943" bIns="53943" numCol="1" spcCol="1270" anchor="ctr" anchorCtr="0">
          <a:noAutofit/>
        </a:bodyPr>
        <a:lstStyle/>
        <a:p>
          <a:pPr marL="0" lvl="0" indent="0" algn="l" defTabSz="622300">
            <a:lnSpc>
              <a:spcPct val="100000"/>
            </a:lnSpc>
            <a:spcBef>
              <a:spcPct val="0"/>
            </a:spcBef>
            <a:spcAft>
              <a:spcPct val="35000"/>
            </a:spcAft>
            <a:buNone/>
          </a:pPr>
          <a:r>
            <a:rPr lang="es-ES" sz="1400" b="1" kern="1200"/>
            <a:t>Elaboración de alimentos</a:t>
          </a:r>
          <a:r>
            <a:rPr lang="es-ES" sz="1400" kern="1200"/>
            <a:t>: los salarios crecen más rápido que la productividad en ambos países (brecha &gt;0) </a:t>
          </a:r>
          <a:r>
            <a:rPr lang="es-ES" sz="1400" kern="1200">
              <a:sym typeface="Wingdings" panose="05000000000000000000" pitchFamily="2" charset="2"/>
            </a:rPr>
            <a:t></a:t>
          </a:r>
          <a:r>
            <a:rPr lang="es-ES" sz="1400" kern="1200"/>
            <a:t> presión sobre costos laborales unitarios; Chile es seis veces el valor de México</a:t>
          </a:r>
          <a:endParaRPr lang="en-US" sz="1400" kern="1200"/>
        </a:p>
      </dsp:txBody>
      <dsp:txXfrm>
        <a:off x="588394" y="2308"/>
        <a:ext cx="8941180" cy="509693"/>
      </dsp:txXfrm>
    </dsp:sp>
    <dsp:sp modelId="{7DE2D9A9-1CD7-4E26-9630-112E33D5AA76}">
      <dsp:nvSpPr>
        <dsp:cNvPr id="0" name=""/>
        <dsp:cNvSpPr/>
      </dsp:nvSpPr>
      <dsp:spPr>
        <a:xfrm>
          <a:off x="0" y="619306"/>
          <a:ext cx="9713298" cy="509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CC19BB-4953-4A3A-9998-A7CED0C3DF9F}">
      <dsp:nvSpPr>
        <dsp:cNvPr id="0" name=""/>
        <dsp:cNvSpPr/>
      </dsp:nvSpPr>
      <dsp:spPr>
        <a:xfrm>
          <a:off x="154031" y="733875"/>
          <a:ext cx="280331" cy="2800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A4BD57-3C8F-450D-AC2A-9CD39DF71AF9}">
      <dsp:nvSpPr>
        <dsp:cNvPr id="0" name=""/>
        <dsp:cNvSpPr/>
      </dsp:nvSpPr>
      <dsp:spPr>
        <a:xfrm>
          <a:off x="588394" y="619306"/>
          <a:ext cx="8941180" cy="50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943" tIns="53943" rIns="53943" bIns="53943" numCol="1" spcCol="1270" anchor="ctr" anchorCtr="0">
          <a:noAutofit/>
        </a:bodyPr>
        <a:lstStyle/>
        <a:p>
          <a:pPr marL="0" lvl="0" indent="0" algn="l" defTabSz="622300">
            <a:lnSpc>
              <a:spcPct val="100000"/>
            </a:lnSpc>
            <a:spcBef>
              <a:spcPct val="0"/>
            </a:spcBef>
            <a:spcAft>
              <a:spcPct val="35000"/>
            </a:spcAft>
            <a:buNone/>
          </a:pPr>
          <a:r>
            <a:rPr lang="es-CL" sz="1400" b="1" kern="1200" dirty="0"/>
            <a:t>Comercio mayorista</a:t>
          </a:r>
          <a:r>
            <a:rPr lang="es-CL" sz="1400" kern="1200"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sz="1400" kern="1200" dirty="0"/>
        </a:p>
      </dsp:txBody>
      <dsp:txXfrm>
        <a:off x="588394" y="619306"/>
        <a:ext cx="8941180" cy="509693"/>
      </dsp:txXfrm>
    </dsp:sp>
    <dsp:sp modelId="{2AB37EC4-35B2-44B8-B55E-4AAB085524BD}">
      <dsp:nvSpPr>
        <dsp:cNvPr id="0" name=""/>
        <dsp:cNvSpPr/>
      </dsp:nvSpPr>
      <dsp:spPr>
        <a:xfrm>
          <a:off x="0" y="1236303"/>
          <a:ext cx="9713298" cy="509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C8B8DC-ECBD-442B-B29F-3D91320D253A}">
      <dsp:nvSpPr>
        <dsp:cNvPr id="0" name=""/>
        <dsp:cNvSpPr/>
      </dsp:nvSpPr>
      <dsp:spPr>
        <a:xfrm>
          <a:off x="154031" y="1350872"/>
          <a:ext cx="280331" cy="2800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21C489-E15D-49B6-9411-BC114BA68F02}">
      <dsp:nvSpPr>
        <dsp:cNvPr id="0" name=""/>
        <dsp:cNvSpPr/>
      </dsp:nvSpPr>
      <dsp:spPr>
        <a:xfrm>
          <a:off x="588394" y="1236303"/>
          <a:ext cx="8941180" cy="50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943" tIns="53943" rIns="53943" bIns="53943" numCol="1" spcCol="1270" anchor="ctr" anchorCtr="0">
          <a:noAutofit/>
        </a:bodyPr>
        <a:lstStyle/>
        <a:p>
          <a:pPr marL="0" lvl="0" indent="0" algn="l" defTabSz="622300">
            <a:lnSpc>
              <a:spcPct val="100000"/>
            </a:lnSpc>
            <a:spcBef>
              <a:spcPct val="0"/>
            </a:spcBef>
            <a:spcAft>
              <a:spcPct val="35000"/>
            </a:spcAft>
            <a:buNone/>
          </a:pPr>
          <a:r>
            <a:rPr lang="es-CL" sz="1400" b="1" kern="1200" dirty="0"/>
            <a:t>Producción audiovisual: </a:t>
          </a:r>
          <a:r>
            <a:rPr lang="es-CL" sz="1400" kern="1200" dirty="0"/>
            <a:t>Al igual que en la elaboración de alimentos ambos países muestran un incremento sobre la presión de los costos laborales unitarios y por tanto una posible pérdida de competitividad. </a:t>
          </a:r>
          <a:endParaRPr lang="en-US" sz="1400" kern="1200" dirty="0"/>
        </a:p>
      </dsp:txBody>
      <dsp:txXfrm>
        <a:off x="588394" y="1236303"/>
        <a:ext cx="8941180" cy="509693"/>
      </dsp:txXfrm>
    </dsp:sp>
    <dsp:sp modelId="{D5B5DA92-B7B7-42EE-A2B4-938BF3364762}">
      <dsp:nvSpPr>
        <dsp:cNvPr id="0" name=""/>
        <dsp:cNvSpPr/>
      </dsp:nvSpPr>
      <dsp:spPr>
        <a:xfrm>
          <a:off x="0" y="1853300"/>
          <a:ext cx="9713298" cy="509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B670F9-3CD5-4A7B-AD2A-4648906CE097}">
      <dsp:nvSpPr>
        <dsp:cNvPr id="0" name=""/>
        <dsp:cNvSpPr/>
      </dsp:nvSpPr>
      <dsp:spPr>
        <a:xfrm>
          <a:off x="154031" y="1967869"/>
          <a:ext cx="280331" cy="2800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FD8413-E310-42D2-94F7-2A9A5708EDAA}">
      <dsp:nvSpPr>
        <dsp:cNvPr id="0" name=""/>
        <dsp:cNvSpPr/>
      </dsp:nvSpPr>
      <dsp:spPr>
        <a:xfrm>
          <a:off x="588394" y="1853300"/>
          <a:ext cx="8941180" cy="50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943" tIns="53943" rIns="53943" bIns="53943" numCol="1" spcCol="1270" anchor="ctr" anchorCtr="0">
          <a:noAutofit/>
        </a:bodyPr>
        <a:lstStyle/>
        <a:p>
          <a:pPr marL="0" lvl="0" indent="0" algn="l" defTabSz="622300">
            <a:lnSpc>
              <a:spcPct val="100000"/>
            </a:lnSpc>
            <a:spcBef>
              <a:spcPct val="0"/>
            </a:spcBef>
            <a:spcAft>
              <a:spcPct val="35000"/>
            </a:spcAft>
            <a:buNone/>
          </a:pPr>
          <a:r>
            <a:rPr lang="es-CL" sz="1400" kern="1200" dirty="0"/>
            <a:t>En general, lo que vemos en estas tres divisiones, las más importante dentro de cada uno de los sectores es un claro desacople: se pagas más por trabajador, pero se produce menos.</a:t>
          </a:r>
          <a:endParaRPr lang="en-US" sz="1400" kern="1200" dirty="0"/>
        </a:p>
      </dsp:txBody>
      <dsp:txXfrm>
        <a:off x="588394" y="1853300"/>
        <a:ext cx="8941180" cy="5096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7317A-FEB5-8646-78CC-0AD93C6709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5AF50C5E-D543-BE55-2619-2DBCA74CC0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6ACADFA0-C5C0-2B85-9E10-1A88F111DF3C}"/>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53C02812-1DEF-D3B4-4537-A6BCC94FCC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8C46856-E032-D249-A6BF-FE426B05EA9C}"/>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08160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B7A5E-4615-2DEB-6B70-68DC116CD6B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BC0F39F-63AD-7359-6F30-B2001CEBAD9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562EF99B-DC43-9FFE-3D1D-3EF834035665}"/>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8B510323-BBA0-6B8D-3701-6616C085883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FF7F7A4-CB40-24AC-803D-B272EBA07C41}"/>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7103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CC4FAF-939B-4589-A93A-B4CC26B71F9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AAFE769-ADB8-E9DC-86BB-ACFDAF93EF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E4B610-37C8-F973-7E9C-51902DDB9943}"/>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6BF6E6AC-C9C6-99B6-7965-23833A3421A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192BF87-70FF-EA71-F4A4-3EBD24BBE664}"/>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59531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A7217E-5E1B-1925-D5A1-B074CD64DBD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D3345F88-852E-5934-582C-4E2D128D737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36AB7D7E-6EBA-F9AD-C1A7-162AB6B96B8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91086649-C9B9-C12D-3D24-B39B94A63EBB}"/>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6" name="Marcador de pie de página 5">
            <a:extLst>
              <a:ext uri="{FF2B5EF4-FFF2-40B4-BE49-F238E27FC236}">
                <a16:creationId xmlns:a16="http://schemas.microsoft.com/office/drawing/2014/main" id="{F8084561-44E6-5D5A-B331-9899D38DE42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1F9FE4-DD56-A449-22B8-022096ABF8B2}"/>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1784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1E4013-00EB-851B-3DF8-1064FCD5B8F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A6EC9-E6D2-7FED-FEF6-C066955D48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E4E9522-A729-9310-607E-96847E945E5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EC269263-E63C-25FB-A9B3-328B6D5385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00C4531-BE9F-1A7F-11A9-76D6D7631D7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DF3081D-5D4A-749C-3C6A-07AD42D816F8}"/>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8" name="Marcador de pie de página 7">
            <a:extLst>
              <a:ext uri="{FF2B5EF4-FFF2-40B4-BE49-F238E27FC236}">
                <a16:creationId xmlns:a16="http://schemas.microsoft.com/office/drawing/2014/main" id="{76B105ED-A54E-7F1F-DFA0-08B9463D18C4}"/>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42367FD-9C07-EFBA-2E7E-19BE2784A89E}"/>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4266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A2795-8621-EF7D-FEDA-D312F11E16C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B48328A-286D-04CC-8F54-D3537F8665EB}"/>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4" name="Marcador de pie de página 3">
            <a:extLst>
              <a:ext uri="{FF2B5EF4-FFF2-40B4-BE49-F238E27FC236}">
                <a16:creationId xmlns:a16="http://schemas.microsoft.com/office/drawing/2014/main" id="{B510A87B-EBB1-F600-8DE5-29DA82E011B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5A03AB3-FFE8-BBBF-2A31-BBA860FBBDB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3581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CA4405-3475-94D1-B072-612D57991087}"/>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3" name="Marcador de pie de página 2">
            <a:extLst>
              <a:ext uri="{FF2B5EF4-FFF2-40B4-BE49-F238E27FC236}">
                <a16:creationId xmlns:a16="http://schemas.microsoft.com/office/drawing/2014/main" id="{C5D65FB5-6F76-12CC-300E-7DD8534E86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2424ABBE-D0BE-BFE9-6BC1-A96D1D801133}"/>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571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632957-0616-6707-A9ED-6B4167BC1B1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9F5A90F-0758-03C2-F8E8-BB1C1E65A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598E084B-04FF-376E-180E-436042B8B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1825F4-9314-48A7-BC62-64CC6C1D8F14}"/>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6" name="Marcador de pie de página 5">
            <a:extLst>
              <a:ext uri="{FF2B5EF4-FFF2-40B4-BE49-F238E27FC236}">
                <a16:creationId xmlns:a16="http://schemas.microsoft.com/office/drawing/2014/main" id="{BA08D867-E36A-0551-F29B-1F7D56E8519F}"/>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F984F76-FC20-A54B-F323-E3F06DB377F9}"/>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52137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D5D0E3-2A51-514F-B074-F80C94CE7A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47C590F-7E19-13CA-6A35-130195E0F5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54B4AB76-B964-570D-97E0-F9C66B49E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DBCE67-B82A-253C-CD2C-90F7F5E7B4F1}"/>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6" name="Marcador de pie de página 5">
            <a:extLst>
              <a:ext uri="{FF2B5EF4-FFF2-40B4-BE49-F238E27FC236}">
                <a16:creationId xmlns:a16="http://schemas.microsoft.com/office/drawing/2014/main" id="{4C276D23-40A3-FD50-4604-D04FF720F04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6F3D782-4EB5-F268-E256-F7C0ED062C7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048616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C43FC-5FF7-B142-676E-6B8A6362C09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D55D0D0-B030-D908-69E3-F745844BE32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8CD2C-7DD5-DA34-EC7F-DDF36023AC44}"/>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A2BC1B5F-B89F-D9F0-648C-03046A9349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C6A765E-A906-CF97-1F2D-5A08CD8663D6}"/>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045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407AC7F-ABBF-EC6B-7CEE-F4323A6F7A9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6A7FBA8-D4ED-CE24-682A-A782159779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088F5B5-1AF6-EE7A-D77E-F0F852ECBCC7}"/>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72A44EA9-4A38-2B98-503E-5BDFCABC23F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CF50DB6-73E0-255B-531E-C89117986DAD}"/>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4289453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60545AD-414F-17BC-ED9D-7C9616032A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63CF14C-121E-1943-C100-06E2AC47B7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44EA7A3-4D32-4F18-4327-30109A545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FE8EA02C-B147-E62E-AA91-64F6AF12A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F7CA4AD-F4EA-C54F-96B4-3B377954E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E14167-D45C-40EF-B1FB-71EF430185F2}" type="slidenum">
              <a:rPr lang="es-CL" smtClean="0"/>
              <a:t>‹Nº›</a:t>
            </a:fld>
            <a:endParaRPr lang="es-CL"/>
          </a:p>
        </p:txBody>
      </p:sp>
    </p:spTree>
    <p:extLst>
      <p:ext uri="{BB962C8B-B14F-4D97-AF65-F5344CB8AC3E}">
        <p14:creationId xmlns:p14="http://schemas.microsoft.com/office/powerpoint/2010/main" val="3722344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3.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491348-A0CA-2876-C085-08D749A428E8}"/>
              </a:ext>
            </a:extLst>
          </p:cNvPr>
          <p:cNvSpPr>
            <a:spLocks noGrp="1"/>
          </p:cNvSpPr>
          <p:nvPr>
            <p:ph type="ctrTitle"/>
          </p:nvPr>
        </p:nvSpPr>
        <p:spPr>
          <a:xfrm>
            <a:off x="838200" y="451381"/>
            <a:ext cx="10512552" cy="4066540"/>
          </a:xfrm>
        </p:spPr>
        <p:txBody>
          <a:bodyPr anchor="b">
            <a:normAutofit/>
          </a:bodyPr>
          <a:lstStyle/>
          <a:p>
            <a:pPr algn="l"/>
            <a:r>
              <a:rPr lang="es-ES" dirty="0"/>
              <a:t>Productividad laboral y salarios a nivel sectorial en Chile y México: 2016-2023</a:t>
            </a:r>
            <a:br>
              <a:rPr lang="es-ES" dirty="0"/>
            </a:br>
            <a:br>
              <a:rPr lang="es-ES" sz="6600" dirty="0"/>
            </a:br>
            <a:r>
              <a:rPr lang="es-ES" sz="3200" dirty="0"/>
              <a:t>Evidencia en manufactura, comercio y comunicaciones</a:t>
            </a:r>
            <a:endParaRPr lang="es-CL" sz="6600" dirty="0"/>
          </a:p>
        </p:txBody>
      </p:sp>
      <p:sp>
        <p:nvSpPr>
          <p:cNvPr id="3" name="Subtítulo 2">
            <a:extLst>
              <a:ext uri="{FF2B5EF4-FFF2-40B4-BE49-F238E27FC236}">
                <a16:creationId xmlns:a16="http://schemas.microsoft.com/office/drawing/2014/main" id="{03D1EF0D-D72D-085E-DA6D-90B9307E3E1C}"/>
              </a:ext>
            </a:extLst>
          </p:cNvPr>
          <p:cNvSpPr>
            <a:spLocks noGrp="1"/>
          </p:cNvSpPr>
          <p:nvPr>
            <p:ph type="subTitle" idx="1"/>
          </p:nvPr>
        </p:nvSpPr>
        <p:spPr>
          <a:xfrm>
            <a:off x="838199" y="4983276"/>
            <a:ext cx="10512552" cy="1126680"/>
          </a:xfrm>
        </p:spPr>
        <p:txBody>
          <a:bodyPr>
            <a:normAutofit/>
          </a:bodyPr>
          <a:lstStyle/>
          <a:p>
            <a:pPr algn="l"/>
            <a:r>
              <a:rPr lang="es-ES" dirty="0"/>
              <a:t>CEPAL 2025</a:t>
            </a:r>
            <a:endParaRPr lang="es-CL" dirty="0"/>
          </a:p>
        </p:txBody>
      </p:sp>
      <p:sp>
        <p:nvSpPr>
          <p:cNvPr id="23"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7801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859648B-37C0-B8D6-2838-C1F3E9A4659F}"/>
              </a:ext>
            </a:extLst>
          </p:cNvPr>
          <p:cNvSpPr>
            <a:spLocks noGrp="1"/>
          </p:cNvSpPr>
          <p:nvPr>
            <p:ph type="title"/>
          </p:nvPr>
        </p:nvSpPr>
        <p:spPr>
          <a:xfrm>
            <a:off x="838200" y="365125"/>
            <a:ext cx="10515600" cy="1325563"/>
          </a:xfrm>
        </p:spPr>
        <p:txBody>
          <a:bodyPr>
            <a:normAutofit/>
          </a:bodyPr>
          <a:lstStyle/>
          <a:p>
            <a:r>
              <a:rPr lang="es-ES" sz="5400" dirty="0"/>
              <a:t>Motivación</a:t>
            </a:r>
            <a:endParaRPr lang="es-CL" sz="5400" dirty="0"/>
          </a:p>
        </p:txBody>
      </p:sp>
      <p:sp>
        <p:nvSpPr>
          <p:cNvPr id="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70007A9-52CF-E7B8-0113-1E3090031A9F}"/>
              </a:ext>
            </a:extLst>
          </p:cNvPr>
          <p:cNvSpPr>
            <a:spLocks noGrp="1"/>
          </p:cNvSpPr>
          <p:nvPr>
            <p:ph idx="1"/>
          </p:nvPr>
        </p:nvSpPr>
        <p:spPr>
          <a:xfrm>
            <a:off x="838200" y="1929384"/>
            <a:ext cx="10515600" cy="4563491"/>
          </a:xfrm>
        </p:spPr>
        <p:txBody>
          <a:bodyPr>
            <a:normAutofit fontScale="92500" lnSpcReduction="10000"/>
          </a:bodyPr>
          <a:lstStyle/>
          <a:p>
            <a:pPr marL="0" indent="0">
              <a:buNone/>
            </a:pPr>
            <a:r>
              <a:rPr lang="es-ES" sz="2200" i="1" dirty="0"/>
              <a:t>Motivación</a:t>
            </a:r>
          </a:p>
          <a:p>
            <a:r>
              <a:rPr lang="es-ES" sz="1800" dirty="0"/>
              <a:t>Pregunta central: ¿Cuál ha sido la dinámica de la productividad en AL?</a:t>
            </a:r>
            <a:endParaRPr lang="es-ES" sz="1800" b="1" dirty="0"/>
          </a:p>
          <a:p>
            <a:r>
              <a:rPr lang="es-ES" sz="1800" dirty="0"/>
              <a:t>Contexto: </a:t>
            </a:r>
            <a:r>
              <a:rPr lang="es-ES" sz="1800" dirty="0">
                <a:sym typeface="Wingdings" panose="05000000000000000000" pitchFamily="2" charset="2"/>
              </a:rPr>
              <a:t>salario mínimo en Chile y México; pandemia y recuperación post-2021; transformación tecnológica y cambios en la composición sectorial</a:t>
            </a:r>
            <a:endParaRPr lang="es-ES" sz="1800" b="1" dirty="0"/>
          </a:p>
          <a:p>
            <a:pPr marL="0" indent="0">
              <a:buNone/>
            </a:pPr>
            <a:r>
              <a:rPr lang="es-ES" sz="2200" i="1" dirty="0"/>
              <a:t>Racionalidad</a:t>
            </a:r>
          </a:p>
          <a:p>
            <a:pPr marL="0" indent="0">
              <a:buNone/>
            </a:pPr>
            <a:r>
              <a:rPr lang="es-ES" sz="1800" dirty="0"/>
              <a:t>Los agregados tienden a diluir las dinámicas sectoriales, de manera que este análisis se concentra en divisiones donde se observa patrones claros y la comparabilidad es mejor.</a:t>
            </a:r>
          </a:p>
          <a:p>
            <a:pPr marL="0" indent="0">
              <a:buNone/>
            </a:pPr>
            <a:r>
              <a:rPr lang="es-ES" sz="2200" i="1" dirty="0"/>
              <a:t>Metodología</a:t>
            </a:r>
          </a:p>
          <a:p>
            <a:pPr marL="0" indent="0">
              <a:buNone/>
            </a:pPr>
            <a:r>
              <a:rPr lang="es-ES" sz="1800" u="sng" dirty="0"/>
              <a:t>Productividad laboral</a:t>
            </a:r>
            <a:r>
              <a:rPr lang="es-ES" sz="1800" dirty="0"/>
              <a:t>: Valor agregado constante (2018=100)/Número de ocupados</a:t>
            </a:r>
          </a:p>
          <a:p>
            <a:pPr marL="0" indent="0">
              <a:buNone/>
            </a:pPr>
            <a:r>
              <a:rPr lang="es-CL" sz="1800" u="sng" dirty="0"/>
              <a:t>Costo de la mano de obra</a:t>
            </a:r>
            <a:r>
              <a:rPr lang="es-CL" sz="1800" dirty="0"/>
              <a:t>: Remuneraciones (USD corrientes)/Número de ocupados</a:t>
            </a:r>
          </a:p>
          <a:p>
            <a:pPr marL="0" indent="0">
              <a:buNone/>
            </a:pPr>
            <a:r>
              <a:rPr lang="es-ES" sz="1800" dirty="0"/>
              <a:t>Período: 2016–2023; países: Chile y México.</a:t>
            </a:r>
            <a:endParaRPr lang="es-ES" sz="2200" dirty="0"/>
          </a:p>
          <a:p>
            <a:pPr marL="0" indent="0">
              <a:buNone/>
            </a:pPr>
            <a:r>
              <a:rPr lang="es-ES" sz="2200" i="1" dirty="0"/>
              <a:t>Fuente de datos</a:t>
            </a:r>
          </a:p>
          <a:p>
            <a:r>
              <a:rPr lang="es-ES" sz="1800" dirty="0"/>
              <a:t>Base de datos económicos (BADECON) CEPAL</a:t>
            </a:r>
          </a:p>
          <a:p>
            <a:r>
              <a:rPr lang="es-ES" sz="1800" dirty="0"/>
              <a:t>CCNN CEPAL</a:t>
            </a:r>
          </a:p>
          <a:p>
            <a:pPr marL="0" indent="0">
              <a:buNone/>
            </a:pPr>
            <a:endParaRPr lang="es-ES" sz="2200" dirty="0"/>
          </a:p>
          <a:p>
            <a:pPr marL="0" indent="0">
              <a:buNone/>
            </a:pPr>
            <a:endParaRPr lang="es-ES" sz="2200" dirty="0"/>
          </a:p>
          <a:p>
            <a:pPr marL="0" indent="0">
              <a:buNone/>
            </a:pPr>
            <a:endParaRPr lang="es-ES" sz="2200" dirty="0"/>
          </a:p>
          <a:p>
            <a:pPr marL="0" indent="0">
              <a:buNone/>
            </a:pPr>
            <a:endParaRPr lang="es-ES" sz="2200" dirty="0">
              <a:sym typeface="Wingdings" panose="05000000000000000000" pitchFamily="2" charset="2"/>
            </a:endParaRPr>
          </a:p>
        </p:txBody>
      </p:sp>
    </p:spTree>
    <p:extLst>
      <p:ext uri="{BB962C8B-B14F-4D97-AF65-F5344CB8AC3E}">
        <p14:creationId xmlns:p14="http://schemas.microsoft.com/office/powerpoint/2010/main" val="3552067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C47F7-678F-EB87-A744-7B5DDF1914DB}"/>
              </a:ext>
            </a:extLst>
          </p:cNvPr>
          <p:cNvSpPr>
            <a:spLocks noGrp="1"/>
          </p:cNvSpPr>
          <p:nvPr>
            <p:ph type="title"/>
          </p:nvPr>
        </p:nvSpPr>
        <p:spPr>
          <a:xfrm>
            <a:off x="1886135" y="352473"/>
            <a:ext cx="3221364" cy="289216"/>
          </a:xfrm>
        </p:spPr>
        <p:txBody>
          <a:bodyPr>
            <a:noAutofit/>
          </a:bodyPr>
          <a:lstStyle/>
          <a:p>
            <a:pPr algn="ctr"/>
            <a:r>
              <a:rPr lang="es-ES" sz="1100" b="1" dirty="0"/>
              <a:t>Productividad laboral </a:t>
            </a:r>
            <a:br>
              <a:rPr lang="es-ES" sz="1100" b="1" dirty="0"/>
            </a:br>
            <a:r>
              <a:rPr lang="es-ES" sz="1100" b="1" dirty="0"/>
              <a:t>(tasa de crecimiento porcentual)</a:t>
            </a:r>
            <a:endParaRPr lang="es-CL" sz="1100" b="1" dirty="0"/>
          </a:p>
        </p:txBody>
      </p:sp>
      <p:sp>
        <p:nvSpPr>
          <p:cNvPr id="13" name="Título 1">
            <a:extLst>
              <a:ext uri="{FF2B5EF4-FFF2-40B4-BE49-F238E27FC236}">
                <a16:creationId xmlns:a16="http://schemas.microsoft.com/office/drawing/2014/main" id="{B29625C2-7FE7-8987-2360-58F62771800F}"/>
              </a:ext>
            </a:extLst>
          </p:cNvPr>
          <p:cNvSpPr txBox="1">
            <a:spLocks/>
          </p:cNvSpPr>
          <p:nvPr/>
        </p:nvSpPr>
        <p:spPr>
          <a:xfrm>
            <a:off x="7325846" y="353584"/>
            <a:ext cx="3029331"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(tasa de crecimiento porcentual)</a:t>
            </a:r>
            <a:endParaRPr lang="es-CL" sz="1100" b="1" dirty="0"/>
          </a:p>
        </p:txBody>
      </p:sp>
      <p:sp>
        <p:nvSpPr>
          <p:cNvPr id="15" name="CuadroTexto 14">
            <a:extLst>
              <a:ext uri="{FF2B5EF4-FFF2-40B4-BE49-F238E27FC236}">
                <a16:creationId xmlns:a16="http://schemas.microsoft.com/office/drawing/2014/main" id="{111F8EEF-B106-3EE1-C1A5-96BE955F6CC6}"/>
              </a:ext>
            </a:extLst>
          </p:cNvPr>
          <p:cNvSpPr txBox="1"/>
          <p:nvPr/>
        </p:nvSpPr>
        <p:spPr>
          <a:xfrm>
            <a:off x="453006" y="5234730"/>
            <a:ext cx="10452682" cy="1200329"/>
          </a:xfrm>
          <a:prstGeom prst="rect">
            <a:avLst/>
          </a:prstGeom>
          <a:noFill/>
        </p:spPr>
        <p:txBody>
          <a:bodyPr wrap="square" rtlCol="0">
            <a:spAutoFit/>
          </a:bodyPr>
          <a:lstStyle/>
          <a:p>
            <a:pPr>
              <a:buFont typeface="Arial" panose="020B0604020202020204" pitchFamily="34" charset="0"/>
              <a:buChar char="•"/>
            </a:pPr>
            <a:r>
              <a:rPr lang="es-ES" sz="1200" b="1" dirty="0"/>
              <a:t> Chile</a:t>
            </a:r>
            <a:r>
              <a:rPr lang="es-ES" sz="1200" dirty="0"/>
              <a:t> muestra una alta volatilidad: la productividad laboral (VA/EMP) cae fuerte en 2020 y 2022, mientras el costo de la mano de obra (REM/EMP) salta en 2021 de manera muy marcada. Esto refleja un desacople temporal entre productividad y salarios.</a:t>
            </a:r>
          </a:p>
          <a:p>
            <a:pPr>
              <a:buFont typeface="Arial" panose="020B0604020202020204" pitchFamily="34" charset="0"/>
              <a:buChar char="•"/>
            </a:pPr>
            <a:r>
              <a:rPr lang="es-ES" sz="1200" b="1" dirty="0"/>
              <a:t> México</a:t>
            </a:r>
            <a:r>
              <a:rPr lang="es-ES" sz="1200" dirty="0"/>
              <a:t> tiene trayectorias más estables: la productividad laboral se mantiene positiva desde 2020, y los costos laborales crecen sostenidamente después de 2021.</a:t>
            </a:r>
          </a:p>
          <a:p>
            <a:endParaRPr lang="es-ES" sz="1200" dirty="0"/>
          </a:p>
          <a:p>
            <a:r>
              <a:rPr lang="es-ES" sz="1200" dirty="0"/>
              <a:t>En general, en Chile se observa un choque de corto plazo (probablemente pandemia y recuperación), mientras en México destaca un patrón más persistente de salarios creciendo por encima de la productividad.</a:t>
            </a:r>
          </a:p>
        </p:txBody>
      </p:sp>
      <p:pic>
        <p:nvPicPr>
          <p:cNvPr id="6" name="Imagen 5">
            <a:extLst>
              <a:ext uri="{FF2B5EF4-FFF2-40B4-BE49-F238E27FC236}">
                <a16:creationId xmlns:a16="http://schemas.microsoft.com/office/drawing/2014/main" id="{3FDA3DE5-3943-C2D2-F623-F2310447AA1E}"/>
              </a:ext>
            </a:extLst>
          </p:cNvPr>
          <p:cNvPicPr>
            <a:picLocks noChangeAspect="1"/>
          </p:cNvPicPr>
          <p:nvPr/>
        </p:nvPicPr>
        <p:blipFill>
          <a:blip r:embed="rId2"/>
          <a:stretch>
            <a:fillRect/>
          </a:stretch>
        </p:blipFill>
        <p:spPr>
          <a:xfrm>
            <a:off x="897635" y="697485"/>
            <a:ext cx="5198364" cy="4341876"/>
          </a:xfrm>
          <a:prstGeom prst="rect">
            <a:avLst/>
          </a:prstGeom>
        </p:spPr>
      </p:pic>
      <p:pic>
        <p:nvPicPr>
          <p:cNvPr id="8" name="Imagen 7">
            <a:extLst>
              <a:ext uri="{FF2B5EF4-FFF2-40B4-BE49-F238E27FC236}">
                <a16:creationId xmlns:a16="http://schemas.microsoft.com/office/drawing/2014/main" id="{5467C621-5E4E-9019-45EC-127F1D569146}"/>
              </a:ext>
            </a:extLst>
          </p:cNvPr>
          <p:cNvPicPr>
            <a:picLocks noChangeAspect="1"/>
          </p:cNvPicPr>
          <p:nvPr/>
        </p:nvPicPr>
        <p:blipFill>
          <a:blip r:embed="rId3"/>
          <a:stretch>
            <a:fillRect/>
          </a:stretch>
        </p:blipFill>
        <p:spPr>
          <a:xfrm>
            <a:off x="6242092" y="712645"/>
            <a:ext cx="5196840" cy="4343400"/>
          </a:xfrm>
          <a:prstGeom prst="rect">
            <a:avLst/>
          </a:prstGeom>
        </p:spPr>
      </p:pic>
      <p:sp>
        <p:nvSpPr>
          <p:cNvPr id="9" name="CuadroTexto 8">
            <a:extLst>
              <a:ext uri="{FF2B5EF4-FFF2-40B4-BE49-F238E27FC236}">
                <a16:creationId xmlns:a16="http://schemas.microsoft.com/office/drawing/2014/main" id="{08471CCD-2B88-3B3E-85E5-207D297CE211}"/>
              </a:ext>
            </a:extLst>
          </p:cNvPr>
          <p:cNvSpPr txBox="1"/>
          <p:nvPr/>
        </p:nvSpPr>
        <p:spPr>
          <a:xfrm>
            <a:off x="151010" y="126675"/>
            <a:ext cx="1652631" cy="461665"/>
          </a:xfrm>
          <a:prstGeom prst="rect">
            <a:avLst/>
          </a:prstGeom>
          <a:noFill/>
        </p:spPr>
        <p:txBody>
          <a:bodyPr wrap="square" rtlCol="0">
            <a:spAutoFit/>
          </a:bodyPr>
          <a:lstStyle/>
          <a:p>
            <a:r>
              <a:rPr lang="es-ES" sz="1200" b="1" i="1" dirty="0"/>
              <a:t>Elaboración de </a:t>
            </a:r>
          </a:p>
          <a:p>
            <a:r>
              <a:rPr lang="es-ES" sz="1200" b="1" i="1" dirty="0"/>
              <a:t>alimentos</a:t>
            </a:r>
            <a:endParaRPr lang="es-CL" sz="1200" b="1" i="1" dirty="0"/>
          </a:p>
        </p:txBody>
      </p:sp>
    </p:spTree>
    <p:extLst>
      <p:ext uri="{BB962C8B-B14F-4D97-AF65-F5344CB8AC3E}">
        <p14:creationId xmlns:p14="http://schemas.microsoft.com/office/powerpoint/2010/main" val="108285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6E134711-A48F-A2CE-D938-54FBCBC4A052}"/>
              </a:ext>
            </a:extLst>
          </p:cNvPr>
          <p:cNvSpPr>
            <a:spLocks noGrp="1"/>
          </p:cNvSpPr>
          <p:nvPr>
            <p:ph type="title"/>
          </p:nvPr>
        </p:nvSpPr>
        <p:spPr>
          <a:xfrm>
            <a:off x="1589015" y="520292"/>
            <a:ext cx="3594246" cy="289216"/>
          </a:xfrm>
        </p:spPr>
        <p:txBody>
          <a:bodyPr>
            <a:noAutofit/>
          </a:bodyPr>
          <a:lstStyle/>
          <a:p>
            <a:pPr algn="ctr"/>
            <a:r>
              <a:rPr lang="es-ES" sz="1100" b="1" dirty="0"/>
              <a:t>Productividad laboral </a:t>
            </a:r>
            <a:br>
              <a:rPr lang="es-ES" sz="1100" b="1" dirty="0"/>
            </a:br>
            <a:r>
              <a:rPr lang="es-ES" sz="1100" b="1" dirty="0"/>
              <a:t>(tasa de crecimiento porcentual)</a:t>
            </a:r>
            <a:endParaRPr lang="es-CL" sz="1100" b="1" dirty="0"/>
          </a:p>
        </p:txBody>
      </p:sp>
      <p:sp>
        <p:nvSpPr>
          <p:cNvPr id="7" name="Título 1">
            <a:extLst>
              <a:ext uri="{FF2B5EF4-FFF2-40B4-BE49-F238E27FC236}">
                <a16:creationId xmlns:a16="http://schemas.microsoft.com/office/drawing/2014/main" id="{A7CAFFB7-59F1-2793-2B55-EC053B4C664F}"/>
              </a:ext>
            </a:extLst>
          </p:cNvPr>
          <p:cNvSpPr txBox="1">
            <a:spLocks/>
          </p:cNvSpPr>
          <p:nvPr/>
        </p:nvSpPr>
        <p:spPr>
          <a:xfrm>
            <a:off x="6866833" y="483790"/>
            <a:ext cx="3594246" cy="289216"/>
          </a:xfrm>
          <a:prstGeom prst="rect">
            <a:avLst/>
          </a:prstGeom>
        </p:spPr>
        <p:txBody>
          <a:bodyPr vert="horz" lIns="91440" tIns="45720" rIns="91440" bIns="45720" rtlCol="0" anchor="ctr">
            <a:noAutofit/>
          </a:bodyPr>
          <a:lstStyle>
            <a:lvl1pPr algn="ctr">
              <a:lnSpc>
                <a:spcPct val="90000"/>
              </a:lnSpc>
              <a:spcBef>
                <a:spcPct val="0"/>
              </a:spcBef>
              <a:buNone/>
              <a:defRPr sz="1100" b="1">
                <a:latin typeface="+mj-lt"/>
                <a:ea typeface="+mj-ea"/>
                <a:cs typeface="+mj-cs"/>
              </a:defRPr>
            </a:lvl1pPr>
          </a:lstStyle>
          <a:p>
            <a:r>
              <a:rPr lang="es-ES" dirty="0"/>
              <a:t>Costo de la mano de obra </a:t>
            </a:r>
            <a:br>
              <a:rPr lang="es-ES" dirty="0"/>
            </a:br>
            <a:r>
              <a:rPr lang="es-ES" dirty="0"/>
              <a:t>(tasa de crecimiento porcentual)</a:t>
            </a:r>
            <a:endParaRPr lang="es-CL" dirty="0"/>
          </a:p>
        </p:txBody>
      </p:sp>
      <p:sp>
        <p:nvSpPr>
          <p:cNvPr id="12" name="CuadroTexto 11">
            <a:extLst>
              <a:ext uri="{FF2B5EF4-FFF2-40B4-BE49-F238E27FC236}">
                <a16:creationId xmlns:a16="http://schemas.microsoft.com/office/drawing/2014/main" id="{99BA03C9-BEEE-75FA-4652-E01AA9A9B5F3}"/>
              </a:ext>
            </a:extLst>
          </p:cNvPr>
          <p:cNvSpPr txBox="1"/>
          <p:nvPr/>
        </p:nvSpPr>
        <p:spPr>
          <a:xfrm>
            <a:off x="436228" y="5016617"/>
            <a:ext cx="10821798" cy="1938992"/>
          </a:xfrm>
          <a:prstGeom prst="rect">
            <a:avLst/>
          </a:prstGeom>
          <a:noFill/>
        </p:spPr>
        <p:txBody>
          <a:bodyPr wrap="square" rtlCol="0">
            <a:spAutoFit/>
          </a:bodyPr>
          <a:lstStyle/>
          <a:p>
            <a:pPr marL="171450" indent="-171450">
              <a:buFont typeface="Arial" panose="020B0604020202020204" pitchFamily="34" charset="0"/>
              <a:buChar char="•"/>
            </a:pPr>
            <a:r>
              <a:rPr lang="es-ES" sz="1200" b="1" dirty="0"/>
              <a:t>Chile:</a:t>
            </a:r>
            <a:r>
              <a:rPr lang="es-ES" sz="1200" dirty="0"/>
              <a:t> la productividad laboral muestra alta volatilidad, con varios años en negativo (2017, 2019, 2020, 2022–2023). El costo de la mano de obra, en cambio, mantiene un crecimiento casi ininterrumpido, con un salto marcado en 2021. Esto refleja un desacople persistente, donde los salarios aumentan pese al estancamiento productivo.</a:t>
            </a:r>
          </a:p>
          <a:p>
            <a:pPr marL="171450" indent="-171450">
              <a:buFont typeface="Arial" panose="020B0604020202020204" pitchFamily="34" charset="0"/>
              <a:buChar char="•"/>
            </a:pPr>
            <a:endParaRPr lang="es-ES" sz="1200" dirty="0"/>
          </a:p>
          <a:p>
            <a:pPr marL="171450" indent="-171450">
              <a:buFont typeface="Arial" panose="020B0604020202020204" pitchFamily="34" charset="0"/>
              <a:buChar char="•"/>
            </a:pPr>
            <a:r>
              <a:rPr lang="es-ES" sz="1200" b="1" dirty="0"/>
              <a:t>México:</a:t>
            </a:r>
            <a:r>
              <a:rPr lang="es-ES" sz="1200" dirty="0"/>
              <a:t> la productividad laboral registra caídas en 2019, 2020 y 2022, pero también repuntes fuertes en 2018, 2021 y 2023, delineando una tendencia más positiva que en Chile. No obstante, el costo de la mano de obra crece con mucha mayor fuerza y volatilidad desde 2018, alcanzando un máximo en 2021 y manteniéndose elevado en 2022–2023.</a:t>
            </a:r>
          </a:p>
          <a:p>
            <a:endParaRPr lang="es-ES" sz="1200" dirty="0"/>
          </a:p>
          <a:p>
            <a:r>
              <a:rPr lang="es-ES" sz="1200" dirty="0"/>
              <a:t>En general para ambos países los costos laborales crecen más rápido que la productividad, aunque el contraste es más severo en Chile, donde los salarios se sostienen al alza en un contexto de productividad persistentemente débil.</a:t>
            </a:r>
          </a:p>
          <a:p>
            <a:endParaRPr lang="es-ES" sz="1200" dirty="0"/>
          </a:p>
        </p:txBody>
      </p:sp>
      <p:sp>
        <p:nvSpPr>
          <p:cNvPr id="8" name="CuadroTexto 7">
            <a:extLst>
              <a:ext uri="{FF2B5EF4-FFF2-40B4-BE49-F238E27FC236}">
                <a16:creationId xmlns:a16="http://schemas.microsoft.com/office/drawing/2014/main" id="{38A4ADFE-99E3-6C16-6A09-91266FD6997F}"/>
              </a:ext>
            </a:extLst>
          </p:cNvPr>
          <p:cNvSpPr txBox="1"/>
          <p:nvPr/>
        </p:nvSpPr>
        <p:spPr>
          <a:xfrm>
            <a:off x="151010" y="126675"/>
            <a:ext cx="2021739" cy="646331"/>
          </a:xfrm>
          <a:prstGeom prst="rect">
            <a:avLst/>
          </a:prstGeom>
          <a:noFill/>
        </p:spPr>
        <p:txBody>
          <a:bodyPr wrap="square" rtlCol="0">
            <a:spAutoFit/>
          </a:bodyPr>
          <a:lstStyle/>
          <a:p>
            <a:r>
              <a:rPr lang="es-ES" sz="1200" b="1" i="1" dirty="0"/>
              <a:t>Comercio al por mayor, excepto automotores y bicicletas</a:t>
            </a:r>
            <a:endParaRPr lang="es-CL" sz="1200" b="1" i="1" dirty="0"/>
          </a:p>
        </p:txBody>
      </p:sp>
      <p:pic>
        <p:nvPicPr>
          <p:cNvPr id="9" name="Imagen 8">
            <a:extLst>
              <a:ext uri="{FF2B5EF4-FFF2-40B4-BE49-F238E27FC236}">
                <a16:creationId xmlns:a16="http://schemas.microsoft.com/office/drawing/2014/main" id="{0D86B62E-BC9E-7D79-0F24-C49E9D4CD7EB}"/>
              </a:ext>
            </a:extLst>
          </p:cNvPr>
          <p:cNvPicPr>
            <a:picLocks noChangeAspect="1"/>
          </p:cNvPicPr>
          <p:nvPr/>
        </p:nvPicPr>
        <p:blipFill>
          <a:blip r:embed="rId2"/>
          <a:stretch>
            <a:fillRect/>
          </a:stretch>
        </p:blipFill>
        <p:spPr>
          <a:xfrm>
            <a:off x="722948" y="868792"/>
            <a:ext cx="5326380" cy="3837432"/>
          </a:xfrm>
          <a:prstGeom prst="rect">
            <a:avLst/>
          </a:prstGeom>
        </p:spPr>
      </p:pic>
      <p:pic>
        <p:nvPicPr>
          <p:cNvPr id="10" name="Imagen 9">
            <a:extLst>
              <a:ext uri="{FF2B5EF4-FFF2-40B4-BE49-F238E27FC236}">
                <a16:creationId xmlns:a16="http://schemas.microsoft.com/office/drawing/2014/main" id="{E1784A49-27B2-FDDD-13A9-1B6356FF62FC}"/>
              </a:ext>
            </a:extLst>
          </p:cNvPr>
          <p:cNvPicPr>
            <a:picLocks noChangeAspect="1"/>
          </p:cNvPicPr>
          <p:nvPr/>
        </p:nvPicPr>
        <p:blipFill>
          <a:blip r:embed="rId3"/>
          <a:stretch>
            <a:fillRect/>
          </a:stretch>
        </p:blipFill>
        <p:spPr>
          <a:xfrm>
            <a:off x="6142674" y="693532"/>
            <a:ext cx="5230368" cy="4012692"/>
          </a:xfrm>
          <a:prstGeom prst="rect">
            <a:avLst/>
          </a:prstGeom>
        </p:spPr>
      </p:pic>
    </p:spTree>
    <p:extLst>
      <p:ext uri="{BB962C8B-B14F-4D97-AF65-F5344CB8AC3E}">
        <p14:creationId xmlns:p14="http://schemas.microsoft.com/office/powerpoint/2010/main" val="3953297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1744A078-E48A-E08A-04DA-3288236ABBF4}"/>
              </a:ext>
            </a:extLst>
          </p:cNvPr>
          <p:cNvSpPr>
            <a:spLocks noGrp="1"/>
          </p:cNvSpPr>
          <p:nvPr>
            <p:ph type="title"/>
          </p:nvPr>
        </p:nvSpPr>
        <p:spPr>
          <a:xfrm>
            <a:off x="2147582" y="693542"/>
            <a:ext cx="2766028" cy="289216"/>
          </a:xfrm>
        </p:spPr>
        <p:txBody>
          <a:bodyPr>
            <a:noAutofit/>
          </a:bodyPr>
          <a:lstStyle/>
          <a:p>
            <a:pPr algn="ctr"/>
            <a:r>
              <a:rPr lang="es-ES" sz="1100" b="1" dirty="0"/>
              <a:t>Productividad laboral </a:t>
            </a:r>
            <a:br>
              <a:rPr lang="es-ES" sz="1100" b="1" dirty="0"/>
            </a:br>
            <a:r>
              <a:rPr lang="es-ES" sz="1100" b="1" dirty="0"/>
              <a:t>(tasa de crecimiento porcentual)</a:t>
            </a:r>
            <a:endParaRPr lang="es-CL" sz="1100" b="1" dirty="0"/>
          </a:p>
        </p:txBody>
      </p:sp>
      <p:sp>
        <p:nvSpPr>
          <p:cNvPr id="9" name="Título 1">
            <a:extLst>
              <a:ext uri="{FF2B5EF4-FFF2-40B4-BE49-F238E27FC236}">
                <a16:creationId xmlns:a16="http://schemas.microsoft.com/office/drawing/2014/main" id="{4682E2AF-15C9-92A6-7276-7A02B93903F3}"/>
              </a:ext>
            </a:extLst>
          </p:cNvPr>
          <p:cNvSpPr txBox="1">
            <a:spLocks/>
          </p:cNvSpPr>
          <p:nvPr/>
        </p:nvSpPr>
        <p:spPr>
          <a:xfrm>
            <a:off x="7428671" y="693542"/>
            <a:ext cx="2723667"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(tasa de crecimiento porcentual)</a:t>
            </a:r>
            <a:endParaRPr lang="es-CL" sz="1100" b="1" dirty="0"/>
          </a:p>
        </p:txBody>
      </p:sp>
      <p:sp>
        <p:nvSpPr>
          <p:cNvPr id="11" name="CuadroTexto 10">
            <a:extLst>
              <a:ext uri="{FF2B5EF4-FFF2-40B4-BE49-F238E27FC236}">
                <a16:creationId xmlns:a16="http://schemas.microsoft.com/office/drawing/2014/main" id="{78F4030D-6446-76BC-7111-389ABA7F653F}"/>
              </a:ext>
            </a:extLst>
          </p:cNvPr>
          <p:cNvSpPr txBox="1"/>
          <p:nvPr/>
        </p:nvSpPr>
        <p:spPr>
          <a:xfrm>
            <a:off x="431543" y="5007513"/>
            <a:ext cx="10125512" cy="1754326"/>
          </a:xfrm>
          <a:prstGeom prst="rect">
            <a:avLst/>
          </a:prstGeom>
          <a:noFill/>
        </p:spPr>
        <p:txBody>
          <a:bodyPr wrap="square" rtlCol="0">
            <a:spAutoFit/>
          </a:bodyPr>
          <a:lstStyle/>
          <a:p>
            <a:pPr marL="171450" indent="-171450">
              <a:buFont typeface="Arial" panose="020B0604020202020204" pitchFamily="34" charset="0"/>
              <a:buChar char="•"/>
            </a:pPr>
            <a:r>
              <a:rPr lang="es-ES" sz="1200" b="1" dirty="0"/>
              <a:t>Chile:</a:t>
            </a:r>
            <a:r>
              <a:rPr lang="es-ES" sz="1200" dirty="0"/>
              <a:t> la productividad laboral muestra una alta volatilidad, con caídas profundas en 2019–2020 y fuertes repuntes en 2021. En paralelo, el costo de la mano de obra mantiene un crecimiento sostenido (con un salto marcado en 2021), lo que refleja un desajuste recurrente entre productividad y salarios.</a:t>
            </a:r>
          </a:p>
          <a:p>
            <a:endParaRPr lang="es-ES" sz="1200" dirty="0"/>
          </a:p>
          <a:p>
            <a:pPr marL="171450" indent="-171450">
              <a:buFont typeface="Arial" panose="020B0604020202020204" pitchFamily="34" charset="0"/>
              <a:buChar char="•"/>
            </a:pPr>
            <a:r>
              <a:rPr lang="es-ES" sz="1200" b="1" dirty="0"/>
              <a:t>México</a:t>
            </a:r>
            <a:r>
              <a:rPr lang="es-ES" sz="1200" dirty="0"/>
              <a:t>: tras 2021 se observa una divergencia más clara: la productividad se mantiene en terreno positivo, aunque con altibajos, mientras que el costo de la mano de obra crece de forma continua y acelerada en 2021–2023. Esto evidencia un desacople estructural, donde los salarios avanzan incluso en escenarios de productividad inestable.</a:t>
            </a:r>
          </a:p>
          <a:p>
            <a:endParaRPr lang="es-ES" sz="1200" dirty="0"/>
          </a:p>
          <a:p>
            <a:r>
              <a:rPr lang="es-ES" sz="1200" dirty="0"/>
              <a:t>El caso más evidente de brecha positiva se da en México, con salarios creciendo de manera sostenida por encima de la productividad, posiblemente reflejando procesos de tecnificación y concentración en puestos especializados.</a:t>
            </a:r>
          </a:p>
        </p:txBody>
      </p:sp>
      <p:graphicFrame>
        <p:nvGraphicFramePr>
          <p:cNvPr id="2" name="Gráfico 1">
            <a:extLst>
              <a:ext uri="{FF2B5EF4-FFF2-40B4-BE49-F238E27FC236}">
                <a16:creationId xmlns:a16="http://schemas.microsoft.com/office/drawing/2014/main" id="{B2E78F4E-5983-7002-024C-EF31DDCCC493}"/>
              </a:ext>
            </a:extLst>
          </p:cNvPr>
          <p:cNvGraphicFramePr>
            <a:graphicFrameLocks noGrp="1"/>
          </p:cNvGraphicFramePr>
          <p:nvPr>
            <p:extLst>
              <p:ext uri="{D42A27DB-BD31-4B8C-83A1-F6EECF244321}">
                <p14:modId xmlns:p14="http://schemas.microsoft.com/office/powerpoint/2010/main" val="1282182621"/>
              </p:ext>
            </p:extLst>
          </p:nvPr>
        </p:nvGraphicFramePr>
        <p:xfrm>
          <a:off x="593563" y="982758"/>
          <a:ext cx="5281089" cy="37079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Gráfico 2">
            <a:extLst>
              <a:ext uri="{FF2B5EF4-FFF2-40B4-BE49-F238E27FC236}">
                <a16:creationId xmlns:a16="http://schemas.microsoft.com/office/drawing/2014/main" id="{4105F101-A051-2DF6-FC0A-3DB8BF205CD2}"/>
              </a:ext>
            </a:extLst>
          </p:cNvPr>
          <p:cNvGraphicFramePr>
            <a:graphicFrameLocks noGrp="1"/>
          </p:cNvGraphicFramePr>
          <p:nvPr>
            <p:extLst>
              <p:ext uri="{D42A27DB-BD31-4B8C-83A1-F6EECF244321}">
                <p14:modId xmlns:p14="http://schemas.microsoft.com/office/powerpoint/2010/main" val="664361579"/>
              </p:ext>
            </p:extLst>
          </p:nvPr>
        </p:nvGraphicFramePr>
        <p:xfrm>
          <a:off x="6199465" y="1191431"/>
          <a:ext cx="5500817" cy="3499304"/>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96ECB9FE-E01B-E470-3016-8B892FF92C44}"/>
              </a:ext>
            </a:extLst>
          </p:cNvPr>
          <p:cNvSpPr txBox="1"/>
          <p:nvPr/>
        </p:nvSpPr>
        <p:spPr>
          <a:xfrm>
            <a:off x="151010" y="126675"/>
            <a:ext cx="2021739" cy="830997"/>
          </a:xfrm>
          <a:prstGeom prst="rect">
            <a:avLst/>
          </a:prstGeom>
          <a:noFill/>
        </p:spPr>
        <p:txBody>
          <a:bodyPr wrap="square" rtlCol="0">
            <a:spAutoFit/>
          </a:bodyPr>
          <a:lstStyle/>
          <a:p>
            <a:r>
              <a:rPr lang="es-ES" sz="1200" b="1" i="1" dirty="0"/>
              <a:t>Producción de películas, videos y programas de TV, grabación de sonido y edición musical</a:t>
            </a:r>
            <a:endParaRPr lang="es-CL" sz="1200" b="1" i="1" dirty="0"/>
          </a:p>
        </p:txBody>
      </p:sp>
    </p:spTree>
    <p:extLst>
      <p:ext uri="{BB962C8B-B14F-4D97-AF65-F5344CB8AC3E}">
        <p14:creationId xmlns:p14="http://schemas.microsoft.com/office/powerpoint/2010/main" val="3830991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A556923C-B9F0-3321-0DAA-B51042F9EA78}"/>
              </a:ext>
            </a:extLst>
          </p:cNvPr>
          <p:cNvSpPr txBox="1"/>
          <p:nvPr/>
        </p:nvSpPr>
        <p:spPr>
          <a:xfrm>
            <a:off x="1029478" y="270587"/>
            <a:ext cx="5066522" cy="461665"/>
          </a:xfrm>
          <a:prstGeom prst="rect">
            <a:avLst/>
          </a:prstGeom>
          <a:noFill/>
        </p:spPr>
        <p:txBody>
          <a:bodyPr wrap="square" rtlCol="0">
            <a:spAutoFit/>
          </a:bodyPr>
          <a:lstStyle/>
          <a:p>
            <a:r>
              <a:rPr lang="es-ES" sz="2400" b="1"/>
              <a:t>Variación acumulada: 2016-2023</a:t>
            </a:r>
            <a:endParaRPr lang="es-CL" sz="2400" b="1" dirty="0"/>
          </a:p>
        </p:txBody>
      </p:sp>
      <p:graphicFrame>
        <p:nvGraphicFramePr>
          <p:cNvPr id="14" name="CuadroTexto 9">
            <a:extLst>
              <a:ext uri="{FF2B5EF4-FFF2-40B4-BE49-F238E27FC236}">
                <a16:creationId xmlns:a16="http://schemas.microsoft.com/office/drawing/2014/main" id="{89AD51E3-330E-F303-B495-F599E39D469E}"/>
              </a:ext>
            </a:extLst>
          </p:cNvPr>
          <p:cNvGraphicFramePr/>
          <p:nvPr>
            <p:extLst>
              <p:ext uri="{D42A27DB-BD31-4B8C-83A1-F6EECF244321}">
                <p14:modId xmlns:p14="http://schemas.microsoft.com/office/powerpoint/2010/main" val="4175576058"/>
              </p:ext>
            </p:extLst>
          </p:nvPr>
        </p:nvGraphicFramePr>
        <p:xfrm>
          <a:off x="1078527" y="4292671"/>
          <a:ext cx="9713298" cy="2365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Imagen 1">
            <a:extLst>
              <a:ext uri="{FF2B5EF4-FFF2-40B4-BE49-F238E27FC236}">
                <a16:creationId xmlns:a16="http://schemas.microsoft.com/office/drawing/2014/main" id="{CFC40A9A-F41C-F08F-BE9B-C919E51BB005}"/>
              </a:ext>
            </a:extLst>
          </p:cNvPr>
          <p:cNvPicPr>
            <a:picLocks noChangeAspect="1"/>
          </p:cNvPicPr>
          <p:nvPr/>
        </p:nvPicPr>
        <p:blipFill>
          <a:blip r:embed="rId7"/>
          <a:stretch>
            <a:fillRect/>
          </a:stretch>
        </p:blipFill>
        <p:spPr>
          <a:xfrm>
            <a:off x="1029478" y="1007706"/>
            <a:ext cx="9504527" cy="3009511"/>
          </a:xfrm>
          <a:prstGeom prst="rect">
            <a:avLst/>
          </a:prstGeom>
        </p:spPr>
      </p:pic>
    </p:spTree>
    <p:extLst>
      <p:ext uri="{BB962C8B-B14F-4D97-AF65-F5344CB8AC3E}">
        <p14:creationId xmlns:p14="http://schemas.microsoft.com/office/powerpoint/2010/main" val="3160126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4">
            <a:extLst>
              <a:ext uri="{FF2B5EF4-FFF2-40B4-BE49-F238E27FC236}">
                <a16:creationId xmlns:a16="http://schemas.microsoft.com/office/drawing/2014/main" id="{A157EB07-3BB4-7D59-F30E-81E7F8C2AB27}"/>
              </a:ext>
            </a:extLst>
          </p:cNvPr>
          <p:cNvSpPr>
            <a:spLocks noGrp="1"/>
          </p:cNvSpPr>
          <p:nvPr>
            <p:ph type="title"/>
          </p:nvPr>
        </p:nvSpPr>
        <p:spPr>
          <a:xfrm>
            <a:off x="326472" y="83919"/>
            <a:ext cx="3406629" cy="480131"/>
          </a:xfrm>
          <a:noFill/>
        </p:spPr>
        <p:txBody>
          <a:bodyPr wrap="square" rtlCol="0">
            <a:spAutoFit/>
          </a:bodyPr>
          <a:lstStyle/>
          <a:p>
            <a:r>
              <a:rPr lang="en-US" sz="1400" b="1" i="1" dirty="0">
                <a:latin typeface="+mn-lt"/>
                <a:ea typeface="+mn-ea"/>
                <a:cs typeface="+mn-cs"/>
              </a:rPr>
              <a:t>Trade off </a:t>
            </a:r>
            <a:r>
              <a:rPr lang="en-US" sz="1400" b="1" i="1" dirty="0" err="1">
                <a:latin typeface="+mn-lt"/>
                <a:ea typeface="+mn-ea"/>
                <a:cs typeface="+mn-cs"/>
              </a:rPr>
              <a:t>productividad-empleo-crecimiento</a:t>
            </a:r>
            <a:endParaRPr lang="en-US" sz="1400" b="1" i="1" dirty="0">
              <a:latin typeface="+mn-lt"/>
              <a:ea typeface="+mn-ea"/>
              <a:cs typeface="+mn-cs"/>
            </a:endParaRPr>
          </a:p>
        </p:txBody>
      </p:sp>
      <p:pic>
        <p:nvPicPr>
          <p:cNvPr id="7" name="Imagen 6">
            <a:extLst>
              <a:ext uri="{FF2B5EF4-FFF2-40B4-BE49-F238E27FC236}">
                <a16:creationId xmlns:a16="http://schemas.microsoft.com/office/drawing/2014/main" id="{D0801487-E51A-81D9-0A78-07FD7E435CE5}"/>
              </a:ext>
            </a:extLst>
          </p:cNvPr>
          <p:cNvPicPr>
            <a:picLocks noChangeAspect="1"/>
          </p:cNvPicPr>
          <p:nvPr/>
        </p:nvPicPr>
        <p:blipFill>
          <a:blip r:embed="rId2"/>
          <a:stretch>
            <a:fillRect/>
          </a:stretch>
        </p:blipFill>
        <p:spPr>
          <a:xfrm>
            <a:off x="2260663" y="564050"/>
            <a:ext cx="7350061" cy="5594214"/>
          </a:xfrm>
          <a:prstGeom prst="rect">
            <a:avLst/>
          </a:prstGeom>
          <a:noFill/>
        </p:spPr>
      </p:pic>
      <p:sp>
        <p:nvSpPr>
          <p:cNvPr id="8" name="CuadroTexto 7">
            <a:extLst>
              <a:ext uri="{FF2B5EF4-FFF2-40B4-BE49-F238E27FC236}">
                <a16:creationId xmlns:a16="http://schemas.microsoft.com/office/drawing/2014/main" id="{1585C782-82A9-D6CB-288B-5665C299F412}"/>
              </a:ext>
            </a:extLst>
          </p:cNvPr>
          <p:cNvSpPr txBox="1"/>
          <p:nvPr/>
        </p:nvSpPr>
        <p:spPr>
          <a:xfrm>
            <a:off x="2184463" y="6124864"/>
            <a:ext cx="5353050" cy="246221"/>
          </a:xfrm>
          <a:prstGeom prst="rect">
            <a:avLst/>
          </a:prstGeom>
          <a:noFill/>
        </p:spPr>
        <p:txBody>
          <a:bodyPr wrap="square" rtlCol="0">
            <a:spAutoFit/>
          </a:bodyPr>
          <a:lstStyle>
            <a:defPPr>
              <a:defRPr lang="es-CL"/>
            </a:defPPr>
            <a:lvl1pPr>
              <a:defRPr sz="1000"/>
            </a:lvl1pPr>
          </a:lstStyle>
          <a:p>
            <a:r>
              <a:rPr lang="es-ES" dirty="0"/>
              <a:t>Fuente: BADECON CEPAL</a:t>
            </a:r>
          </a:p>
        </p:txBody>
      </p:sp>
    </p:spTree>
    <p:extLst>
      <p:ext uri="{BB962C8B-B14F-4D97-AF65-F5344CB8AC3E}">
        <p14:creationId xmlns:p14="http://schemas.microsoft.com/office/powerpoint/2010/main" val="48464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74EF188-ECF2-693D-F4F3-9E091BA7B6E9}"/>
              </a:ext>
            </a:extLst>
          </p:cNvPr>
          <p:cNvSpPr txBox="1"/>
          <p:nvPr/>
        </p:nvSpPr>
        <p:spPr>
          <a:xfrm>
            <a:off x="1912690" y="5902603"/>
            <a:ext cx="5096634" cy="553998"/>
          </a:xfrm>
          <a:prstGeom prst="rect">
            <a:avLst/>
          </a:prstGeom>
          <a:noFill/>
        </p:spPr>
        <p:txBody>
          <a:bodyPr wrap="square" rtlCol="0">
            <a:spAutoFit/>
          </a:bodyPr>
          <a:lstStyle/>
          <a:p>
            <a:r>
              <a:rPr lang="es-ES" sz="1000" dirty="0"/>
              <a:t>Fuente: BADECON CEPAL</a:t>
            </a:r>
          </a:p>
          <a:p>
            <a:r>
              <a:rPr lang="es-ES" sz="1000" dirty="0"/>
              <a:t>Información al último año disponible: Brasil(2021), Colombia (2022), Ecuador (2023), </a:t>
            </a:r>
          </a:p>
          <a:p>
            <a:r>
              <a:rPr lang="es-ES" sz="1000" dirty="0"/>
              <a:t>Uruguay (2019), Chile (2022), México (2023), Perú(2019)</a:t>
            </a:r>
            <a:endParaRPr lang="es-CL" sz="1000" dirty="0"/>
          </a:p>
        </p:txBody>
      </p:sp>
      <p:pic>
        <p:nvPicPr>
          <p:cNvPr id="10" name="Imagen 9">
            <a:extLst>
              <a:ext uri="{FF2B5EF4-FFF2-40B4-BE49-F238E27FC236}">
                <a16:creationId xmlns:a16="http://schemas.microsoft.com/office/drawing/2014/main" id="{93097355-F92E-61B2-8706-3F5E88856FEB}"/>
              </a:ext>
            </a:extLst>
          </p:cNvPr>
          <p:cNvPicPr>
            <a:picLocks noChangeAspect="1"/>
          </p:cNvPicPr>
          <p:nvPr/>
        </p:nvPicPr>
        <p:blipFill>
          <a:blip r:embed="rId2"/>
          <a:stretch>
            <a:fillRect/>
          </a:stretch>
        </p:blipFill>
        <p:spPr>
          <a:xfrm>
            <a:off x="1912690" y="433494"/>
            <a:ext cx="7477110" cy="5422021"/>
          </a:xfrm>
          <a:prstGeom prst="rect">
            <a:avLst/>
          </a:prstGeom>
        </p:spPr>
      </p:pic>
    </p:spTree>
    <p:extLst>
      <p:ext uri="{BB962C8B-B14F-4D97-AF65-F5344CB8AC3E}">
        <p14:creationId xmlns:p14="http://schemas.microsoft.com/office/powerpoint/2010/main" val="166210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Gráfico, Gráfico de líneas&#10;&#10;Descripción generada automáticamente">
            <a:extLst>
              <a:ext uri="{FF2B5EF4-FFF2-40B4-BE49-F238E27FC236}">
                <a16:creationId xmlns:a16="http://schemas.microsoft.com/office/drawing/2014/main" id="{EBF63E7C-3768-DA70-9A1B-C134EFA295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6070" y="347794"/>
            <a:ext cx="9546671" cy="5966669"/>
          </a:xfrm>
          <a:prstGeom prst="rect">
            <a:avLst/>
          </a:prstGeom>
        </p:spPr>
      </p:pic>
    </p:spTree>
    <p:extLst>
      <p:ext uri="{BB962C8B-B14F-4D97-AF65-F5344CB8AC3E}">
        <p14:creationId xmlns:p14="http://schemas.microsoft.com/office/powerpoint/2010/main" val="2783382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7650EC-B586-C7FF-3867-B1C1D6E57DDB}"/>
              </a:ext>
            </a:extLst>
          </p:cNvPr>
          <p:cNvSpPr>
            <a:spLocks noGrp="1"/>
          </p:cNvSpPr>
          <p:nvPr>
            <p:ph type="title"/>
          </p:nvPr>
        </p:nvSpPr>
        <p:spPr>
          <a:xfrm>
            <a:off x="838200" y="365125"/>
            <a:ext cx="10515600" cy="1325563"/>
          </a:xfrm>
        </p:spPr>
        <p:txBody>
          <a:bodyPr>
            <a:normAutofit/>
          </a:bodyPr>
          <a:lstStyle/>
          <a:p>
            <a:r>
              <a:rPr lang="es-ES" sz="5400" dirty="0"/>
              <a:t>En definitiva….</a:t>
            </a:r>
            <a:endParaRPr lang="es-CL"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363CB31-C96D-3E6C-13E3-0390C5EAAAB3}"/>
              </a:ext>
            </a:extLst>
          </p:cNvPr>
          <p:cNvSpPr>
            <a:spLocks noGrp="1"/>
          </p:cNvSpPr>
          <p:nvPr>
            <p:ph idx="1"/>
          </p:nvPr>
        </p:nvSpPr>
        <p:spPr>
          <a:xfrm>
            <a:off x="838200" y="1929384"/>
            <a:ext cx="10515600" cy="4251960"/>
          </a:xfrm>
        </p:spPr>
        <p:txBody>
          <a:bodyPr>
            <a:normAutofit/>
          </a:bodyPr>
          <a:lstStyle/>
          <a:p>
            <a:endParaRPr lang="es-CL" sz="2200" dirty="0"/>
          </a:p>
        </p:txBody>
      </p:sp>
    </p:spTree>
    <p:extLst>
      <p:ext uri="{BB962C8B-B14F-4D97-AF65-F5344CB8AC3E}">
        <p14:creationId xmlns:p14="http://schemas.microsoft.com/office/powerpoint/2010/main" val="6141527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5424</TotalTime>
  <Words>872</Words>
  <Application>Microsoft Office PowerPoint</Application>
  <PresentationFormat>Panorámica</PresentationFormat>
  <Paragraphs>52</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Calibri Light</vt:lpstr>
      <vt:lpstr>Wingdings</vt:lpstr>
      <vt:lpstr>Tema de Office</vt:lpstr>
      <vt:lpstr>Productividad laboral y salarios a nivel sectorial en Chile y México: 2016-2023  Evidencia en manufactura, comercio y comunicaciones</vt:lpstr>
      <vt:lpstr>Motivación</vt:lpstr>
      <vt:lpstr>Productividad laboral  (tasa de crecimiento porcentual)</vt:lpstr>
      <vt:lpstr>Productividad laboral  (tasa de crecimiento porcentual)</vt:lpstr>
      <vt:lpstr>Productividad laboral  (tasa de crecimiento porcentual)</vt:lpstr>
      <vt:lpstr>Presentación de PowerPoint</vt:lpstr>
      <vt:lpstr>Trade off productividad-empleo-crecimiento</vt:lpstr>
      <vt:lpstr>Presentación de PowerPoint</vt:lpstr>
      <vt:lpstr>Presentación de PowerPoint</vt:lpstr>
      <vt:lpstr>En definitiva….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Productividad laboral y salarios en Chile y México: 2016-2023 Evidencia en manufactura, comercio y comunicaciones</dc:title>
  <dc:creator>Daymler Del Jesus O´Farrill Rolando</dc:creator>
  <cp:lastModifiedBy>Daymler Del Jesus O´Farrill Rolando</cp:lastModifiedBy>
  <cp:revision>23</cp:revision>
  <dcterms:created xsi:type="dcterms:W3CDTF">2025-09-26T15:44:52Z</dcterms:created>
  <dcterms:modified xsi:type="dcterms:W3CDTF">2025-10-01T11:01:25Z</dcterms:modified>
</cp:coreProperties>
</file>